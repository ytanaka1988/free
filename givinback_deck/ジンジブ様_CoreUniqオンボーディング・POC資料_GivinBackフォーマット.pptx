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Givin' Back社内資料・受講前アンケート</a:t>
            </a:r>
          </a:p>
          <a:p/>
          <a:p>
            <a:r>
              <a:t>[Talk Track]</a:t>
            </a:r>
          </a:p>
          <a:p>
            <a:r>
              <a:t>本日は操作説明だけではなく、CoreUniqを導入する意図と、今回一緒に検証したいことを共有します。</a:t>
            </a:r>
          </a:p>
          <a:p>
            <a:r>
              <a:t>CoreUniqは日報確認ツールではなく、キャリア開発を仕事上の実践につなげる継続支援です。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Givin' Back社内資料・受講前アンケート</a:t>
            </a:r>
          </a:p>
          <a:p/>
          <a:p>
            <a:r>
              <a:t>[Talk Track]</a:t>
            </a:r>
          </a:p>
          <a:p>
            <a:r>
              <a:t>今日のゴールは、導入意図・利用設計・検証方針の3点を合わせることです。</a:t>
            </a:r>
          </a:p>
          <a:p>
            <a:r>
              <a:t>最後に、対象者、期間、振り返り方法、次回日程まで確認します。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Givin' Back社内資料・受講前アンケート</a:t>
            </a:r>
          </a:p>
          <a:p/>
          <a:p>
            <a:r>
              <a:t>[Talk Track]</a:t>
            </a:r>
          </a:p>
          <a:p>
            <a:r>
              <a:t>前半は導入意図と課題認識の共有、後半はデモとディスカッションに時間を配分しています。</a:t>
            </a:r>
          </a:p>
          <a:p>
            <a:r>
              <a:t>残り4分になったら、対象者・期間・着眼点・次回日程の4点の確認に必ず入ります。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Givin' Back社内資料・受講前アンケート</a:t>
            </a:r>
          </a:p>
          <a:p/>
          <a:p>
            <a:r>
              <a:t>[Talk Track]</a:t>
            </a:r>
          </a:p>
          <a:p>
            <a:r>
              <a:t>若手は意欲がないのではなく、強みや方向性を具体的な行動に翻訳する方法が見えていない可能性があります。</a:t>
            </a:r>
          </a:p>
          <a:p>
            <a:r>
              <a:t>協力は8.02に対して、率先した提案は5.38です。協働の土台はあっても、自分から動くところにギャップがあります。</a:t>
            </a:r>
          </a:p>
          <a:p>
            <a:r>
              <a:t>質問：ジンジブ様社内や支援先企業でも、似た傾向はありますか。</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Givin' Back社内資料・受講前アンケート</a:t>
            </a:r>
          </a:p>
          <a:p/>
          <a:p>
            <a:r>
              <a:t>[Talk Track]</a:t>
            </a:r>
          </a:p>
          <a:p>
            <a:r>
              <a:t>CoreUniqの価値は、研修、現場実践、管理職との対話を一つの支援プロセスとしてつなぐことです。</a:t>
            </a:r>
          </a:p>
          <a:p>
            <a:r>
              <a:t>研修部分を初期設定や付帯作業として扱わず、若手の自己理解と行動設計をつくる中核サービスとして位置づけています。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Givin' Back社内資料・受講前アンケート</a:t>
            </a:r>
          </a:p>
          <a:p/>
          <a:p>
            <a:r>
              <a:t>[Talk Track]</a:t>
            </a:r>
          </a:p>
          <a:p>
            <a:r>
              <a:t>自己理解だけで終わらず、仕事で試し、対話を通じて役割を広げる循環をつくります。</a:t>
            </a:r>
          </a:p>
          <a:p>
            <a:r>
              <a:t>システムだけで変化を生むのではなく、研修と人の支援を前提にした設計です。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Givin' Back社内資料・受講前アンケート</a:t>
            </a:r>
          </a:p>
          <a:p/>
          <a:p>
            <a:r>
              <a:t>[Talk Track]</a:t>
            </a:r>
          </a:p>
          <a:p>
            <a:r>
              <a:t>今回のPOCでは、利用率だけではなく、本人の行動、管理職との対話、継続できる運用条件を確認したいと考えています。</a:t>
            </a:r>
          </a:p>
          <a:p>
            <a:r>
              <a:t>成功事例を先に約束するのではなく、何が有効かを一緒に見つける検証です。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Givin' Back社内資料・受講前アンケート</a:t>
            </a:r>
          </a:p>
          <a:p/>
          <a:p>
            <a:r>
              <a:t>[Talk Track]</a:t>
            </a:r>
          </a:p>
          <a:p>
            <a:r>
              <a:t>現在、画面を閲覧できるのは若手本人と管理職の2者です。人事向け閲覧機能は現時点の提供範囲には含まれていません。</a:t>
            </a:r>
          </a:p>
          <a:p>
            <a:r>
              <a:t>本人の振り返りと管理職のフィードバックを蓄積し、次の1on1につなげます。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Givin' Back社内資料・受講前アンケート</a:t>
            </a:r>
          </a:p>
          <a:p/>
          <a:p>
            <a:r>
              <a:t>[Talk Track]</a:t>
            </a:r>
          </a:p>
          <a:p>
            <a:r>
              <a:t>ここから実際の画面に切り替えます。</a:t>
            </a:r>
          </a:p>
          <a:p>
            <a:r>
              <a:t>質問：管理職の負担を抑えながら運用するには、どの場面・頻度が現実的でしょうか。</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Givin' Back社内資料・受講前アンケート</a:t>
            </a:r>
          </a:p>
          <a:p/>
          <a:p>
            <a:r>
              <a:t>[Talk Track]</a:t>
            </a:r>
          </a:p>
          <a:p>
            <a:r>
              <a:t>POCでは、本人と管理職の変化、そして運用可能性を組み合わせて振り返ります。</a:t>
            </a:r>
          </a:p>
          <a:p>
            <a:r>
              <a:t>人事が画面上で過程を追う機能を前提にはしていません。必要な共有方法はPOCを通じて検討します。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Givin' Back社内資料・受講前アンケート</a:t>
            </a:r>
          </a:p>
          <a:p/>
          <a:p>
            <a:r>
              <a:t>[Talk Track]</a:t>
            </a:r>
          </a:p>
          <a:p>
            <a:r>
              <a:t>最後に、対象となるメンバーと管理職、開始日、検証期間、中間確認または次回振り返りの日程を確認します。</a:t>
            </a:r>
          </a:p>
          <a:p>
            <a:r>
              <a:t>顧客企業への展開については、社内POCの学びを整理したうえで、可能性を改めて協議します。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a:t>
            </a:r>
          </a:p>
          <a:p>
            <a:r>
              <a:t>- Givin' Back社内資料・受講前アンケート</a:t>
            </a:r>
          </a:p>
          <a:p/>
          <a:p>
            <a:r>
              <a:t>[Talk Track]</a:t>
            </a:r>
          </a:p>
          <a:p>
            <a:r>
              <a:t>本日はありがとうございました。POCの進行中も、随時ご相談いただけます。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E355C"/>
              </a:gs>
              <a:gs pos="100000">
                <a:srgbClr val="F96167"/>
              </a:gs>
            </a:gsLst>
            <a:lin scaled="0" ang="201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ckw.png"/>
          <p:cNvPicPr>
            <a:picLocks noChangeAspect="1"/>
          </p:cNvPicPr>
          <p:nvPr/>
        </p:nvPicPr>
        <p:blipFill>
          <a:blip r:embed="rId2"/>
          <a:stretch>
            <a:fillRect/>
          </a:stretch>
        </p:blipFill>
        <p:spPr>
          <a:xfrm>
            <a:off x="566928" y="566928"/>
            <a:ext cx="1814627" cy="384048"/>
          </a:xfrm>
          <a:prstGeom prst="rect">
            <a:avLst/>
          </a:prstGeom>
        </p:spPr>
      </p:pic>
      <p:sp>
        <p:nvSpPr>
          <p:cNvPr id="4" name="TextBox 3"/>
          <p:cNvSpPr txBox="1"/>
          <p:nvPr/>
        </p:nvSpPr>
        <p:spPr>
          <a:xfrm>
            <a:off x="566928" y="1691640"/>
            <a:ext cx="8778240" cy="310896"/>
          </a:xfrm>
          <a:prstGeom prst="rect">
            <a:avLst/>
          </a:prstGeom>
          <a:noFill/>
        </p:spPr>
        <p:txBody>
          <a:bodyPr wrap="square" anchor="t" lIns="0" rIns="0" tIns="0" bIns="0">
            <a:spAutoFit/>
          </a:bodyPr>
          <a:lstStyle/>
          <a:p>
            <a:pPr algn="l">
              <a:lnSpc>
                <a:spcPct val="125000"/>
              </a:lnSpc>
            </a:pPr>
            <a:r>
              <a:rPr sz="1300" b="1">
                <a:solidFill>
                  <a:srgbClr val="FFD9DB"/>
                </a:solidFill>
                <a:latin typeface="Meiryo"/>
                <a:ea typeface="Meiryo"/>
                <a:cs typeface="Meiryo"/>
              </a:rPr>
              <a:t>ジンジブ様｜CoreUniq オンボーディング・POC</a:t>
            </a:r>
          </a:p>
        </p:txBody>
      </p:sp>
      <p:sp>
        <p:nvSpPr>
          <p:cNvPr id="5" name="TextBox 4"/>
          <p:cNvSpPr txBox="1"/>
          <p:nvPr/>
        </p:nvSpPr>
        <p:spPr>
          <a:xfrm>
            <a:off x="566928" y="2212848"/>
            <a:ext cx="9692640" cy="1920240"/>
          </a:xfrm>
          <a:prstGeom prst="rect">
            <a:avLst/>
          </a:prstGeom>
          <a:noFill/>
        </p:spPr>
        <p:txBody>
          <a:bodyPr wrap="square" anchor="t" lIns="0" rIns="0" tIns="0" bIns="0">
            <a:spAutoFit/>
          </a:bodyPr>
          <a:lstStyle/>
          <a:p>
            <a:pPr algn="l">
              <a:lnSpc>
                <a:spcPct val="122000"/>
              </a:lnSpc>
            </a:pPr>
            <a:r>
              <a:rPr sz="4000" b="1">
                <a:solidFill>
                  <a:srgbClr val="FFFFFF"/>
                </a:solidFill>
                <a:latin typeface="Meiryo"/>
                <a:ea typeface="Meiryo"/>
                <a:cs typeface="Meiryo"/>
              </a:rPr>
              <a:t>若手育成を、研修だけで終わらせない。</a:t>
            </a:r>
          </a:p>
          <a:p>
            <a:pPr algn="l">
              <a:lnSpc>
                <a:spcPct val="122000"/>
              </a:lnSpc>
            </a:pPr>
            <a:r>
              <a:rPr sz="2600" b="1">
                <a:solidFill>
                  <a:srgbClr val="FFFFFF"/>
                </a:solidFill>
                <a:latin typeface="Meiryo"/>
                <a:ea typeface="Meiryo"/>
                <a:cs typeface="Meiryo"/>
              </a:rPr>
              <a:t>若手が、自分の強みを仕事の成果につなげる組織へ。</a:t>
            </a:r>
          </a:p>
        </p:txBody>
      </p:sp>
      <p:sp>
        <p:nvSpPr>
          <p:cNvPr id="6" name="Rectangle 5"/>
          <p:cNvSpPr/>
          <p:nvPr/>
        </p:nvSpPr>
        <p:spPr>
          <a:xfrm>
            <a:off x="566928" y="4315968"/>
            <a:ext cx="1371600" cy="457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566928" y="4590288"/>
            <a:ext cx="9326880" cy="822960"/>
          </a:xfrm>
          <a:prstGeom prst="rect">
            <a:avLst/>
          </a:prstGeom>
          <a:noFill/>
        </p:spPr>
        <p:txBody>
          <a:bodyPr wrap="square" anchor="t" lIns="0" rIns="0" tIns="0" bIns="0">
            <a:spAutoFit/>
          </a:bodyPr>
          <a:lstStyle/>
          <a:p>
            <a:pPr algn="l">
              <a:lnSpc>
                <a:spcPct val="150000"/>
              </a:lnSpc>
            </a:pPr>
            <a:r>
              <a:rPr sz="1500" b="1">
                <a:solidFill>
                  <a:srgbClr val="EFF4FA"/>
                </a:solidFill>
                <a:latin typeface="Meiryo"/>
                <a:ea typeface="Meiryo"/>
                <a:cs typeface="Meiryo"/>
              </a:rPr>
              <a:t>キャリア開発から、現場での挑戦・役割形成までを一体で支援</a:t>
            </a:r>
          </a:p>
          <a:p>
            <a:pPr algn="l">
              <a:lnSpc>
                <a:spcPct val="150000"/>
              </a:lnSpc>
            </a:pPr>
            <a:r>
              <a:rPr sz="1300" b="0">
                <a:solidFill>
                  <a:srgbClr val="EFF4FA"/>
                </a:solidFill>
                <a:latin typeface="Meiryo"/>
                <a:ea typeface="Meiryo"/>
                <a:cs typeface="Meiryo"/>
              </a:rPr>
              <a:t>自分を知る。仕事で試す。挑戦と貢献を、継続的に広げる。</a:t>
            </a:r>
          </a:p>
        </p:txBody>
      </p:sp>
      <p:sp>
        <p:nvSpPr>
          <p:cNvPr id="8" name="TextBox 7"/>
          <p:cNvSpPr txBox="1"/>
          <p:nvPr/>
        </p:nvSpPr>
        <p:spPr>
          <a:xfrm>
            <a:off x="566928" y="6053328"/>
            <a:ext cx="5486400" cy="274320"/>
          </a:xfrm>
          <a:prstGeom prst="rect">
            <a:avLst/>
          </a:prstGeom>
          <a:noFill/>
        </p:spPr>
        <p:txBody>
          <a:bodyPr wrap="square" anchor="t" lIns="0" rIns="0" tIns="0" bIns="0">
            <a:spAutoFit/>
          </a:bodyPr>
          <a:lstStyle/>
          <a:p>
            <a:pPr algn="l">
              <a:lnSpc>
                <a:spcPct val="125000"/>
              </a:lnSpc>
            </a:pPr>
            <a:r>
              <a:rPr sz="1100" b="0">
                <a:solidFill>
                  <a:srgbClr val="E6EEF7"/>
                </a:solidFill>
                <a:latin typeface="Meiryo"/>
                <a:ea typeface="Meiryo"/>
                <a:cs typeface="Meiryo"/>
              </a:rPr>
              <a:t>導入意図・検証方針の目線合わせ</a:t>
            </a:r>
          </a:p>
        </p:txBody>
      </p:sp>
      <p:sp>
        <p:nvSpPr>
          <p:cNvPr id="9" name="TextBox 8"/>
          <p:cNvSpPr txBox="1"/>
          <p:nvPr/>
        </p:nvSpPr>
        <p:spPr>
          <a:xfrm>
            <a:off x="6949440" y="6053328"/>
            <a:ext cx="4663440" cy="274320"/>
          </a:xfrm>
          <a:prstGeom prst="rect">
            <a:avLst/>
          </a:prstGeom>
          <a:noFill/>
        </p:spPr>
        <p:txBody>
          <a:bodyPr wrap="square" anchor="t" lIns="0" rIns="0" tIns="0" bIns="0">
            <a:spAutoFit/>
          </a:bodyPr>
          <a:lstStyle/>
          <a:p>
            <a:pPr algn="r">
              <a:lnSpc>
                <a:spcPct val="125000"/>
              </a:lnSpc>
            </a:pPr>
            <a:r>
              <a:rPr sz="1000" b="0">
                <a:solidFill>
                  <a:srgbClr val="E6EEF7"/>
                </a:solidFill>
                <a:latin typeface="Meiryo"/>
                <a:ea typeface="Meiryo"/>
                <a:cs typeface="Meiryo"/>
              </a:rPr>
              <a:t>Givin' Back株式会社　|　ONBOARDING GUIDE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9683496" cy="384048"/>
          </a:xfrm>
          <a:prstGeom prst="rect">
            <a:avLst/>
          </a:prstGeom>
          <a:noFill/>
        </p:spPr>
        <p:txBody>
          <a:bodyPr wrap="square" anchor="t" lIns="0" rIns="0" tIns="0" bIns="0">
            <a:spAutoFit/>
          </a:bodyPr>
          <a:lstStyle/>
          <a:p>
            <a:pPr algn="l">
              <a:lnSpc>
                <a:spcPct val="125000"/>
              </a:lnSpc>
            </a:pPr>
            <a:r>
              <a:rPr sz="2100" b="1">
                <a:solidFill>
                  <a:srgbClr val="144B7F"/>
                </a:solidFill>
                <a:latin typeface="Meiryo"/>
                <a:ea typeface="Meiryo"/>
                <a:cs typeface="Meiryo"/>
              </a:rPr>
              <a:t>TODAY｜本日の目的とゴール</a:t>
            </a:r>
          </a:p>
        </p:txBody>
      </p:sp>
      <p:pic>
        <p:nvPicPr>
          <p:cNvPr id="3" name="Picture 2" descr="lock.png"/>
          <p:cNvPicPr>
            <a:picLocks noChangeAspect="1"/>
          </p:cNvPicPr>
          <p:nvPr/>
        </p:nvPicPr>
        <p:blipFill>
          <a:blip r:embed="rId2"/>
          <a:stretch>
            <a:fillRect/>
          </a:stretch>
        </p:blipFill>
        <p:spPr>
          <a:xfrm>
            <a:off x="10488168" y="365760"/>
            <a:ext cx="1123340" cy="237744"/>
          </a:xfrm>
          <a:prstGeom prst="rect">
            <a:avLst/>
          </a:prstGeom>
        </p:spPr>
      </p:pic>
      <p:sp>
        <p:nvSpPr>
          <p:cNvPr id="4" name="Rectangle 3"/>
          <p:cNvSpPr/>
          <p:nvPr/>
        </p:nvSpPr>
        <p:spPr>
          <a:xfrm>
            <a:off x="566928" y="868680"/>
            <a:ext cx="11055096" cy="12801"/>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1060704"/>
            <a:ext cx="50292" cy="2743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749808" y="1042415"/>
            <a:ext cx="10872216" cy="310896"/>
          </a:xfrm>
          <a:prstGeom prst="rect">
            <a:avLst/>
          </a:prstGeom>
          <a:noFill/>
        </p:spPr>
        <p:txBody>
          <a:bodyPr wrap="square" anchor="t" lIns="0" rIns="0" tIns="0" bIns="0">
            <a:spAutoFit/>
          </a:bodyPr>
          <a:lstStyle/>
          <a:p>
            <a:pPr algn="l">
              <a:lnSpc>
                <a:spcPct val="125000"/>
              </a:lnSpc>
            </a:pPr>
            <a:r>
              <a:rPr sz="1450" b="1">
                <a:solidFill>
                  <a:srgbClr val="144B7F"/>
                </a:solidFill>
                <a:latin typeface="Meiryo"/>
                <a:ea typeface="Meiryo"/>
                <a:cs typeface="Meiryo"/>
              </a:rPr>
              <a:t>操作説明だけで終わらず、導入意図と検証方針を合わせる</a:t>
            </a:r>
          </a:p>
        </p:txBody>
      </p:sp>
      <p:sp>
        <p:nvSpPr>
          <p:cNvPr id="7" name="Rectangle 6"/>
          <p:cNvSpPr/>
          <p:nvPr/>
        </p:nvSpPr>
        <p:spPr>
          <a:xfrm>
            <a:off x="566928" y="6419088"/>
            <a:ext cx="11055096" cy="10972"/>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566928" y="6519672"/>
            <a:ext cx="10735056" cy="182880"/>
          </a:xfrm>
          <a:prstGeom prst="rect">
            <a:avLst/>
          </a:prstGeom>
          <a:noFill/>
        </p:spPr>
        <p:txBody>
          <a:bodyPr wrap="square" anchor="t" lIns="0" rIns="0" tIns="0" bIns="0">
            <a:spAutoFit/>
          </a:bodyPr>
          <a:lstStyle/>
          <a:p>
            <a:pPr algn="r">
              <a:lnSpc>
                <a:spcPct val="125000"/>
              </a:lnSpc>
            </a:pPr>
            <a:r>
              <a:rPr sz="750" b="0">
                <a:solidFill>
                  <a:srgbClr val="939EAC"/>
                </a:solidFill>
                <a:latin typeface="Meiryo"/>
                <a:ea typeface="Meiryo"/>
                <a:cs typeface="Meiryo"/>
              </a:rPr>
              <a:t>© Givin' Back Inc. All Rights Reserved.  |  Confidential</a:t>
            </a:r>
          </a:p>
        </p:txBody>
      </p:sp>
      <p:sp>
        <p:nvSpPr>
          <p:cNvPr id="9" name="TextBox 8"/>
          <p:cNvSpPr txBox="1"/>
          <p:nvPr/>
        </p:nvSpPr>
        <p:spPr>
          <a:xfrm>
            <a:off x="11329416" y="6501384"/>
            <a:ext cx="292608" cy="201168"/>
          </a:xfrm>
          <a:prstGeom prst="rect">
            <a:avLst/>
          </a:prstGeom>
          <a:noFill/>
        </p:spPr>
        <p:txBody>
          <a:bodyPr wrap="square" anchor="t" lIns="0" rIns="0" tIns="0" bIns="0">
            <a:spAutoFit/>
          </a:bodyPr>
          <a:lstStyle/>
          <a:p>
            <a:pPr algn="r">
              <a:lnSpc>
                <a:spcPct val="125000"/>
              </a:lnSpc>
            </a:pPr>
            <a:r>
              <a:rPr sz="900" b="1">
                <a:solidFill>
                  <a:srgbClr val="144B7F"/>
                </a:solidFill>
                <a:latin typeface="Meiryo"/>
                <a:ea typeface="Meiryo"/>
                <a:cs typeface="Meiryo"/>
              </a:rPr>
              <a:t>2</a:t>
            </a:r>
          </a:p>
        </p:txBody>
      </p:sp>
      <p:sp>
        <p:nvSpPr>
          <p:cNvPr id="10" name="Rounded Rectangle 9"/>
          <p:cNvSpPr/>
          <p:nvPr/>
        </p:nvSpPr>
        <p:spPr>
          <a:xfrm>
            <a:off x="566928" y="1627632"/>
            <a:ext cx="4892040" cy="3703320"/>
          </a:xfrm>
          <a:prstGeom prst="roundRect">
            <a:avLst>
              <a:gd name="adj" fmla="val 3500"/>
            </a:avLst>
          </a:prstGeom>
          <a:solidFill>
            <a:srgbClr val="EEF3F8"/>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822960" y="1865376"/>
            <a:ext cx="4379976" cy="365760"/>
          </a:xfrm>
          <a:prstGeom prst="roundRect">
            <a:avLst>
              <a:gd name="adj" fmla="val 25000"/>
            </a:avLst>
          </a:prstGeom>
          <a:solidFill>
            <a:srgbClr val="144B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24128" y="1933956"/>
            <a:ext cx="3977639" cy="237744"/>
          </a:xfrm>
          <a:prstGeom prst="rect">
            <a:avLst/>
          </a:prstGeom>
          <a:noFill/>
        </p:spPr>
        <p:txBody>
          <a:bodyPr wrap="square" anchor="t" lIns="0" rIns="0" tIns="0" bIns="0">
            <a:spAutoFit/>
          </a:bodyPr>
          <a:lstStyle/>
          <a:p>
            <a:pPr algn="l">
              <a:lnSpc>
                <a:spcPct val="125000"/>
              </a:lnSpc>
            </a:pPr>
            <a:r>
              <a:rPr sz="1200" b="1">
                <a:solidFill>
                  <a:srgbClr val="FFFFFF"/>
                </a:solidFill>
                <a:latin typeface="Meiryo"/>
                <a:ea typeface="Meiryo"/>
                <a:cs typeface="Meiryo"/>
              </a:rPr>
              <a:t>本日のゴール</a:t>
            </a:r>
          </a:p>
        </p:txBody>
      </p:sp>
      <p:sp>
        <p:nvSpPr>
          <p:cNvPr id="13" name="Oval 12"/>
          <p:cNvSpPr/>
          <p:nvPr/>
        </p:nvSpPr>
        <p:spPr>
          <a:xfrm>
            <a:off x="841247" y="2542032"/>
            <a:ext cx="402336" cy="402336"/>
          </a:xfrm>
          <a:prstGeom prst="ellipse">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41247" y="2606405"/>
            <a:ext cx="402336" cy="281635"/>
          </a:xfrm>
          <a:prstGeom prst="rect">
            <a:avLst/>
          </a:prstGeom>
          <a:noFill/>
        </p:spPr>
        <p:txBody>
          <a:bodyPr wrap="square" anchor="t" lIns="0" rIns="0" tIns="0" bIns="0">
            <a:spAutoFit/>
          </a:bodyPr>
          <a:lstStyle/>
          <a:p>
            <a:pPr algn="ctr">
              <a:lnSpc>
                <a:spcPct val="125000"/>
              </a:lnSpc>
            </a:pPr>
            <a:r>
              <a:rPr sz="1300" b="1">
                <a:solidFill>
                  <a:srgbClr val="FFFFFF"/>
                </a:solidFill>
                <a:latin typeface="Meiryo"/>
                <a:ea typeface="Meiryo"/>
                <a:cs typeface="Meiryo"/>
              </a:rPr>
              <a:t>1</a:t>
            </a:r>
          </a:p>
        </p:txBody>
      </p:sp>
      <p:sp>
        <p:nvSpPr>
          <p:cNvPr id="15" name="TextBox 14"/>
          <p:cNvSpPr txBox="1"/>
          <p:nvPr/>
        </p:nvSpPr>
        <p:spPr>
          <a:xfrm>
            <a:off x="1426464" y="2523744"/>
            <a:ext cx="3749039" cy="786384"/>
          </a:xfrm>
          <a:prstGeom prst="rect">
            <a:avLst/>
          </a:prstGeom>
          <a:noFill/>
        </p:spPr>
        <p:txBody>
          <a:bodyPr wrap="square" anchor="t" lIns="0" rIns="0" tIns="0" bIns="0">
            <a:spAutoFit/>
          </a:bodyPr>
          <a:lstStyle/>
          <a:p>
            <a:pPr algn="l">
              <a:lnSpc>
                <a:spcPct val="135000"/>
              </a:lnSpc>
            </a:pPr>
            <a:r>
              <a:rPr sz="1250" b="1">
                <a:solidFill>
                  <a:srgbClr val="1E293B"/>
                </a:solidFill>
                <a:latin typeface="Meiryo"/>
                <a:ea typeface="Meiryo"/>
                <a:cs typeface="Meiryo"/>
              </a:rPr>
              <a:t>CoreUniqが生まれた背景と</a:t>
            </a:r>
          </a:p>
          <a:p>
            <a:pPr algn="l">
              <a:lnSpc>
                <a:spcPct val="135000"/>
              </a:lnSpc>
            </a:pPr>
            <a:r>
              <a:rPr sz="1250" b="1">
                <a:solidFill>
                  <a:srgbClr val="1E293B"/>
                </a:solidFill>
                <a:latin typeface="Meiryo"/>
                <a:ea typeface="Meiryo"/>
                <a:cs typeface="Meiryo"/>
              </a:rPr>
              <a:t>支援したい課題を共有する</a:t>
            </a:r>
          </a:p>
        </p:txBody>
      </p:sp>
      <p:sp>
        <p:nvSpPr>
          <p:cNvPr id="16" name="Oval 15"/>
          <p:cNvSpPr/>
          <p:nvPr/>
        </p:nvSpPr>
        <p:spPr>
          <a:xfrm>
            <a:off x="841247" y="3749039"/>
            <a:ext cx="402336" cy="402336"/>
          </a:xfrm>
          <a:prstGeom prst="ellipse">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41247" y="3813413"/>
            <a:ext cx="402336" cy="281635"/>
          </a:xfrm>
          <a:prstGeom prst="rect">
            <a:avLst/>
          </a:prstGeom>
          <a:noFill/>
        </p:spPr>
        <p:txBody>
          <a:bodyPr wrap="square" anchor="t" lIns="0" rIns="0" tIns="0" bIns="0">
            <a:spAutoFit/>
          </a:bodyPr>
          <a:lstStyle/>
          <a:p>
            <a:pPr algn="ctr">
              <a:lnSpc>
                <a:spcPct val="125000"/>
              </a:lnSpc>
            </a:pPr>
            <a:r>
              <a:rPr sz="1300" b="1">
                <a:solidFill>
                  <a:srgbClr val="FFFFFF"/>
                </a:solidFill>
                <a:latin typeface="Meiryo"/>
                <a:ea typeface="Meiryo"/>
                <a:cs typeface="Meiryo"/>
              </a:rPr>
              <a:t>2</a:t>
            </a:r>
          </a:p>
        </p:txBody>
      </p:sp>
      <p:sp>
        <p:nvSpPr>
          <p:cNvPr id="18" name="TextBox 17"/>
          <p:cNvSpPr txBox="1"/>
          <p:nvPr/>
        </p:nvSpPr>
        <p:spPr>
          <a:xfrm>
            <a:off x="1426464" y="3730752"/>
            <a:ext cx="3749039" cy="786384"/>
          </a:xfrm>
          <a:prstGeom prst="rect">
            <a:avLst/>
          </a:prstGeom>
          <a:noFill/>
        </p:spPr>
        <p:txBody>
          <a:bodyPr wrap="square" anchor="t" lIns="0" rIns="0" tIns="0" bIns="0">
            <a:spAutoFit/>
          </a:bodyPr>
          <a:lstStyle/>
          <a:p>
            <a:pPr algn="l">
              <a:lnSpc>
                <a:spcPct val="135000"/>
              </a:lnSpc>
            </a:pPr>
            <a:r>
              <a:rPr sz="1250" b="1">
                <a:solidFill>
                  <a:srgbClr val="1E293B"/>
                </a:solidFill>
                <a:latin typeface="Meiryo"/>
                <a:ea typeface="Meiryo"/>
                <a:cs typeface="Meiryo"/>
              </a:rPr>
              <a:t>ジンジブ様社内のPOCで</a:t>
            </a:r>
          </a:p>
          <a:p>
            <a:pPr algn="l">
              <a:lnSpc>
                <a:spcPct val="135000"/>
              </a:lnSpc>
            </a:pPr>
            <a:r>
              <a:rPr sz="1250" b="1">
                <a:solidFill>
                  <a:srgbClr val="1E293B"/>
                </a:solidFill>
                <a:latin typeface="Meiryo"/>
                <a:ea typeface="Meiryo"/>
                <a:cs typeface="Meiryo"/>
              </a:rPr>
              <a:t>検証する内容を合意する</a:t>
            </a:r>
          </a:p>
        </p:txBody>
      </p:sp>
      <p:sp>
        <p:nvSpPr>
          <p:cNvPr id="19" name="Rounded Rectangle 18"/>
          <p:cNvSpPr/>
          <p:nvPr/>
        </p:nvSpPr>
        <p:spPr>
          <a:xfrm>
            <a:off x="5705856" y="1627632"/>
            <a:ext cx="5916168" cy="3703320"/>
          </a:xfrm>
          <a:prstGeom prst="roundRect">
            <a:avLst>
              <a:gd name="adj" fmla="val 3500"/>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5980176" y="1865376"/>
            <a:ext cx="5367528" cy="365760"/>
          </a:xfrm>
          <a:prstGeom prst="roundRect">
            <a:avLst>
              <a:gd name="adj" fmla="val 25000"/>
            </a:avLst>
          </a:prstGeom>
          <a:solidFill>
            <a:srgbClr val="144B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6181344" y="1933956"/>
            <a:ext cx="4965192" cy="237744"/>
          </a:xfrm>
          <a:prstGeom prst="rect">
            <a:avLst/>
          </a:prstGeom>
          <a:noFill/>
        </p:spPr>
        <p:txBody>
          <a:bodyPr wrap="square" anchor="t" lIns="0" rIns="0" tIns="0" bIns="0">
            <a:spAutoFit/>
          </a:bodyPr>
          <a:lstStyle/>
          <a:p>
            <a:pPr algn="l">
              <a:lnSpc>
                <a:spcPct val="125000"/>
              </a:lnSpc>
            </a:pPr>
            <a:r>
              <a:rPr sz="1200" b="1">
                <a:solidFill>
                  <a:srgbClr val="FFFFFF"/>
                </a:solidFill>
                <a:latin typeface="Meiryo"/>
                <a:ea typeface="Meiryo"/>
                <a:cs typeface="Meiryo"/>
              </a:rPr>
              <a:t>本日の3つの論点</a:t>
            </a:r>
          </a:p>
        </p:txBody>
      </p:sp>
      <p:sp>
        <p:nvSpPr>
          <p:cNvPr id="22" name="Rounded Rectangle 21"/>
          <p:cNvSpPr/>
          <p:nvPr/>
        </p:nvSpPr>
        <p:spPr>
          <a:xfrm>
            <a:off x="5980176" y="2578608"/>
            <a:ext cx="1572768" cy="384048"/>
          </a:xfrm>
          <a:prstGeom prst="roundRect">
            <a:avLst>
              <a:gd name="adj" fmla="val 28000"/>
            </a:avLst>
          </a:prstGeom>
          <a:solidFill>
            <a:srgbClr val="FDECED"/>
          </a:solidFill>
          <a:ln w="9525">
            <a:solidFill>
              <a:srgbClr val="F9616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5980176" y="2660903"/>
            <a:ext cx="1572768" cy="237744"/>
          </a:xfrm>
          <a:prstGeom prst="rect">
            <a:avLst/>
          </a:prstGeom>
          <a:noFill/>
        </p:spPr>
        <p:txBody>
          <a:bodyPr wrap="square" anchor="t" lIns="0" rIns="0" tIns="0" bIns="0">
            <a:spAutoFit/>
          </a:bodyPr>
          <a:lstStyle/>
          <a:p>
            <a:pPr algn="ctr">
              <a:lnSpc>
                <a:spcPct val="125000"/>
              </a:lnSpc>
            </a:pPr>
            <a:r>
              <a:rPr sz="1150" b="1">
                <a:solidFill>
                  <a:srgbClr val="E0454B"/>
                </a:solidFill>
                <a:latin typeface="Meiryo"/>
                <a:ea typeface="Meiryo"/>
                <a:cs typeface="Meiryo"/>
              </a:rPr>
              <a:t>導入意図</a:t>
            </a:r>
          </a:p>
        </p:txBody>
      </p:sp>
      <p:sp>
        <p:nvSpPr>
          <p:cNvPr id="24" name="TextBox 23"/>
          <p:cNvSpPr txBox="1"/>
          <p:nvPr/>
        </p:nvSpPr>
        <p:spPr>
          <a:xfrm>
            <a:off x="7662672" y="2596896"/>
            <a:ext cx="310896" cy="274320"/>
          </a:xfrm>
          <a:prstGeom prst="rect">
            <a:avLst/>
          </a:prstGeom>
          <a:noFill/>
        </p:spPr>
        <p:txBody>
          <a:bodyPr wrap="square" anchor="t" lIns="0" rIns="0" tIns="0" bIns="0">
            <a:spAutoFit/>
          </a:bodyPr>
          <a:lstStyle/>
          <a:p>
            <a:pPr algn="l">
              <a:lnSpc>
                <a:spcPct val="125000"/>
              </a:lnSpc>
            </a:pPr>
            <a:r>
              <a:rPr sz="1300" b="1">
                <a:solidFill>
                  <a:srgbClr val="939EAC"/>
                </a:solidFill>
                <a:latin typeface="Meiryo"/>
                <a:ea typeface="Meiryo"/>
                <a:cs typeface="Meiryo"/>
              </a:rPr>
              <a:t>→</a:t>
            </a:r>
          </a:p>
        </p:txBody>
      </p:sp>
      <p:sp>
        <p:nvSpPr>
          <p:cNvPr id="25" name="TextBox 24"/>
          <p:cNvSpPr txBox="1"/>
          <p:nvPr/>
        </p:nvSpPr>
        <p:spPr>
          <a:xfrm>
            <a:off x="8065008" y="2651760"/>
            <a:ext cx="3264408" cy="274320"/>
          </a:xfrm>
          <a:prstGeom prst="rect">
            <a:avLst/>
          </a:prstGeom>
          <a:noFill/>
        </p:spPr>
        <p:txBody>
          <a:bodyPr wrap="square" anchor="t" lIns="0" rIns="0" tIns="0" bIns="0">
            <a:spAutoFit/>
          </a:bodyPr>
          <a:lstStyle/>
          <a:p>
            <a:pPr algn="l">
              <a:lnSpc>
                <a:spcPct val="125000"/>
              </a:lnSpc>
            </a:pPr>
            <a:r>
              <a:rPr sz="1250" b="0">
                <a:solidFill>
                  <a:srgbClr val="1E293B"/>
                </a:solidFill>
                <a:latin typeface="Meiryo"/>
                <a:ea typeface="Meiryo"/>
                <a:cs typeface="Meiryo"/>
              </a:rPr>
              <a:t>何を解決するサービスか</a:t>
            </a:r>
          </a:p>
        </p:txBody>
      </p:sp>
      <p:sp>
        <p:nvSpPr>
          <p:cNvPr id="26" name="Rounded Rectangle 25"/>
          <p:cNvSpPr/>
          <p:nvPr/>
        </p:nvSpPr>
        <p:spPr>
          <a:xfrm>
            <a:off x="5980176" y="3438144"/>
            <a:ext cx="1572768" cy="384048"/>
          </a:xfrm>
          <a:prstGeom prst="roundRect">
            <a:avLst>
              <a:gd name="adj" fmla="val 28000"/>
            </a:avLst>
          </a:prstGeom>
          <a:solidFill>
            <a:srgbClr val="FDECED"/>
          </a:solidFill>
          <a:ln w="9525">
            <a:solidFill>
              <a:srgbClr val="F9616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5980176" y="3520439"/>
            <a:ext cx="1572768" cy="237744"/>
          </a:xfrm>
          <a:prstGeom prst="rect">
            <a:avLst/>
          </a:prstGeom>
          <a:noFill/>
        </p:spPr>
        <p:txBody>
          <a:bodyPr wrap="square" anchor="t" lIns="0" rIns="0" tIns="0" bIns="0">
            <a:spAutoFit/>
          </a:bodyPr>
          <a:lstStyle/>
          <a:p>
            <a:pPr algn="ctr">
              <a:lnSpc>
                <a:spcPct val="125000"/>
              </a:lnSpc>
            </a:pPr>
            <a:r>
              <a:rPr sz="1150" b="1">
                <a:solidFill>
                  <a:srgbClr val="E0454B"/>
                </a:solidFill>
                <a:latin typeface="Meiryo"/>
                <a:ea typeface="Meiryo"/>
                <a:cs typeface="Meiryo"/>
              </a:rPr>
              <a:t>利用設計</a:t>
            </a:r>
          </a:p>
        </p:txBody>
      </p:sp>
      <p:sp>
        <p:nvSpPr>
          <p:cNvPr id="28" name="TextBox 27"/>
          <p:cNvSpPr txBox="1"/>
          <p:nvPr/>
        </p:nvSpPr>
        <p:spPr>
          <a:xfrm>
            <a:off x="7662672" y="3456432"/>
            <a:ext cx="310896" cy="274320"/>
          </a:xfrm>
          <a:prstGeom prst="rect">
            <a:avLst/>
          </a:prstGeom>
          <a:noFill/>
        </p:spPr>
        <p:txBody>
          <a:bodyPr wrap="square" anchor="t" lIns="0" rIns="0" tIns="0" bIns="0">
            <a:spAutoFit/>
          </a:bodyPr>
          <a:lstStyle/>
          <a:p>
            <a:pPr algn="l">
              <a:lnSpc>
                <a:spcPct val="125000"/>
              </a:lnSpc>
            </a:pPr>
            <a:r>
              <a:rPr sz="1300" b="1">
                <a:solidFill>
                  <a:srgbClr val="939EAC"/>
                </a:solidFill>
                <a:latin typeface="Meiryo"/>
                <a:ea typeface="Meiryo"/>
                <a:cs typeface="Meiryo"/>
              </a:rPr>
              <a:t>→</a:t>
            </a:r>
          </a:p>
        </p:txBody>
      </p:sp>
      <p:sp>
        <p:nvSpPr>
          <p:cNvPr id="29" name="TextBox 28"/>
          <p:cNvSpPr txBox="1"/>
          <p:nvPr/>
        </p:nvSpPr>
        <p:spPr>
          <a:xfrm>
            <a:off x="8065008" y="3511296"/>
            <a:ext cx="3264408" cy="274320"/>
          </a:xfrm>
          <a:prstGeom prst="rect">
            <a:avLst/>
          </a:prstGeom>
          <a:noFill/>
        </p:spPr>
        <p:txBody>
          <a:bodyPr wrap="square" anchor="t" lIns="0" rIns="0" tIns="0" bIns="0">
            <a:spAutoFit/>
          </a:bodyPr>
          <a:lstStyle/>
          <a:p>
            <a:pPr algn="l">
              <a:lnSpc>
                <a:spcPct val="125000"/>
              </a:lnSpc>
            </a:pPr>
            <a:r>
              <a:rPr sz="1250" b="0">
                <a:solidFill>
                  <a:srgbClr val="1E293B"/>
                </a:solidFill>
                <a:latin typeface="Meiryo"/>
                <a:ea typeface="Meiryo"/>
                <a:cs typeface="Meiryo"/>
              </a:rPr>
              <a:t>本人と管理職がどう使うか</a:t>
            </a:r>
          </a:p>
        </p:txBody>
      </p:sp>
      <p:sp>
        <p:nvSpPr>
          <p:cNvPr id="30" name="Rounded Rectangle 29"/>
          <p:cNvSpPr/>
          <p:nvPr/>
        </p:nvSpPr>
        <p:spPr>
          <a:xfrm>
            <a:off x="5980176" y="4297679"/>
            <a:ext cx="1572768" cy="384048"/>
          </a:xfrm>
          <a:prstGeom prst="roundRect">
            <a:avLst>
              <a:gd name="adj" fmla="val 28000"/>
            </a:avLst>
          </a:prstGeom>
          <a:solidFill>
            <a:srgbClr val="FDECED"/>
          </a:solidFill>
          <a:ln w="9525">
            <a:solidFill>
              <a:srgbClr val="F9616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5980176" y="4379975"/>
            <a:ext cx="1572768" cy="237744"/>
          </a:xfrm>
          <a:prstGeom prst="rect">
            <a:avLst/>
          </a:prstGeom>
          <a:noFill/>
        </p:spPr>
        <p:txBody>
          <a:bodyPr wrap="square" anchor="t" lIns="0" rIns="0" tIns="0" bIns="0">
            <a:spAutoFit/>
          </a:bodyPr>
          <a:lstStyle/>
          <a:p>
            <a:pPr algn="ctr">
              <a:lnSpc>
                <a:spcPct val="125000"/>
              </a:lnSpc>
            </a:pPr>
            <a:r>
              <a:rPr sz="1150" b="1">
                <a:solidFill>
                  <a:srgbClr val="E0454B"/>
                </a:solidFill>
                <a:latin typeface="Meiryo"/>
                <a:ea typeface="Meiryo"/>
                <a:cs typeface="Meiryo"/>
              </a:rPr>
              <a:t>検証方針</a:t>
            </a:r>
          </a:p>
        </p:txBody>
      </p:sp>
      <p:sp>
        <p:nvSpPr>
          <p:cNvPr id="32" name="TextBox 31"/>
          <p:cNvSpPr txBox="1"/>
          <p:nvPr/>
        </p:nvSpPr>
        <p:spPr>
          <a:xfrm>
            <a:off x="7662672" y="4315967"/>
            <a:ext cx="310896" cy="274320"/>
          </a:xfrm>
          <a:prstGeom prst="rect">
            <a:avLst/>
          </a:prstGeom>
          <a:noFill/>
        </p:spPr>
        <p:txBody>
          <a:bodyPr wrap="square" anchor="t" lIns="0" rIns="0" tIns="0" bIns="0">
            <a:spAutoFit/>
          </a:bodyPr>
          <a:lstStyle/>
          <a:p>
            <a:pPr algn="l">
              <a:lnSpc>
                <a:spcPct val="125000"/>
              </a:lnSpc>
            </a:pPr>
            <a:r>
              <a:rPr sz="1300" b="1">
                <a:solidFill>
                  <a:srgbClr val="939EAC"/>
                </a:solidFill>
                <a:latin typeface="Meiryo"/>
                <a:ea typeface="Meiryo"/>
                <a:cs typeface="Meiryo"/>
              </a:rPr>
              <a:t>→</a:t>
            </a:r>
          </a:p>
        </p:txBody>
      </p:sp>
      <p:sp>
        <p:nvSpPr>
          <p:cNvPr id="33" name="TextBox 32"/>
          <p:cNvSpPr txBox="1"/>
          <p:nvPr/>
        </p:nvSpPr>
        <p:spPr>
          <a:xfrm>
            <a:off x="8065008" y="4370831"/>
            <a:ext cx="3264408" cy="274320"/>
          </a:xfrm>
          <a:prstGeom prst="rect">
            <a:avLst/>
          </a:prstGeom>
          <a:noFill/>
        </p:spPr>
        <p:txBody>
          <a:bodyPr wrap="square" anchor="t" lIns="0" rIns="0" tIns="0" bIns="0">
            <a:spAutoFit/>
          </a:bodyPr>
          <a:lstStyle/>
          <a:p>
            <a:pPr algn="l">
              <a:lnSpc>
                <a:spcPct val="125000"/>
              </a:lnSpc>
            </a:pPr>
            <a:r>
              <a:rPr sz="1250" b="0">
                <a:solidFill>
                  <a:srgbClr val="1E293B"/>
                </a:solidFill>
                <a:latin typeface="Meiryo"/>
                <a:ea typeface="Meiryo"/>
                <a:cs typeface="Meiryo"/>
              </a:rPr>
              <a:t>何を学び、次に活かすか</a:t>
            </a:r>
          </a:p>
        </p:txBody>
      </p:sp>
      <p:sp>
        <p:nvSpPr>
          <p:cNvPr id="34" name="TextBox 33"/>
          <p:cNvSpPr txBox="1"/>
          <p:nvPr/>
        </p:nvSpPr>
        <p:spPr>
          <a:xfrm>
            <a:off x="566928" y="5577840"/>
            <a:ext cx="11055096" cy="310896"/>
          </a:xfrm>
          <a:prstGeom prst="rect">
            <a:avLst/>
          </a:prstGeom>
          <a:noFill/>
        </p:spPr>
        <p:txBody>
          <a:bodyPr wrap="square" anchor="t" lIns="0" rIns="0" tIns="0" bIns="0">
            <a:spAutoFit/>
          </a:bodyPr>
          <a:lstStyle/>
          <a:p>
            <a:pPr algn="l">
              <a:lnSpc>
                <a:spcPct val="125000"/>
              </a:lnSpc>
            </a:pPr>
            <a:r>
              <a:rPr sz="1150" b="1">
                <a:solidFill>
                  <a:srgbClr val="144B7F"/>
                </a:solidFill>
                <a:latin typeface="Meiryo"/>
                <a:ea typeface="Meiryo"/>
                <a:cs typeface="Meiryo"/>
              </a:rPr>
              <a:t>最後に、対象者・期間・振り返り方法・次回日程まで確認します。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9683496" cy="384048"/>
          </a:xfrm>
          <a:prstGeom prst="rect">
            <a:avLst/>
          </a:prstGeom>
          <a:noFill/>
        </p:spPr>
        <p:txBody>
          <a:bodyPr wrap="square" anchor="t" lIns="0" rIns="0" tIns="0" bIns="0">
            <a:spAutoFit/>
          </a:bodyPr>
          <a:lstStyle/>
          <a:p>
            <a:pPr algn="l">
              <a:lnSpc>
                <a:spcPct val="125000"/>
              </a:lnSpc>
            </a:pPr>
            <a:r>
              <a:rPr sz="2100" b="1">
                <a:solidFill>
                  <a:srgbClr val="144B7F"/>
                </a:solidFill>
                <a:latin typeface="Meiryo"/>
                <a:ea typeface="Meiryo"/>
                <a:cs typeface="Meiryo"/>
              </a:rPr>
              <a:t>AGENDA｜本日の進め方（60分）</a:t>
            </a:r>
          </a:p>
        </p:txBody>
      </p:sp>
      <p:pic>
        <p:nvPicPr>
          <p:cNvPr id="3" name="Picture 2" descr="lock.png"/>
          <p:cNvPicPr>
            <a:picLocks noChangeAspect="1"/>
          </p:cNvPicPr>
          <p:nvPr/>
        </p:nvPicPr>
        <p:blipFill>
          <a:blip r:embed="rId2"/>
          <a:stretch>
            <a:fillRect/>
          </a:stretch>
        </p:blipFill>
        <p:spPr>
          <a:xfrm>
            <a:off x="10488168" y="365760"/>
            <a:ext cx="1123340" cy="237744"/>
          </a:xfrm>
          <a:prstGeom prst="rect">
            <a:avLst/>
          </a:prstGeom>
        </p:spPr>
      </p:pic>
      <p:sp>
        <p:nvSpPr>
          <p:cNvPr id="4" name="Rectangle 3"/>
          <p:cNvSpPr/>
          <p:nvPr/>
        </p:nvSpPr>
        <p:spPr>
          <a:xfrm>
            <a:off x="566928" y="868680"/>
            <a:ext cx="11055096" cy="12801"/>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1060704"/>
            <a:ext cx="50292" cy="2743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749808" y="1042415"/>
            <a:ext cx="10872216" cy="310896"/>
          </a:xfrm>
          <a:prstGeom prst="rect">
            <a:avLst/>
          </a:prstGeom>
          <a:noFill/>
        </p:spPr>
        <p:txBody>
          <a:bodyPr wrap="square" anchor="t" lIns="0" rIns="0" tIns="0" bIns="0">
            <a:spAutoFit/>
          </a:bodyPr>
          <a:lstStyle/>
          <a:p>
            <a:pPr algn="l">
              <a:lnSpc>
                <a:spcPct val="125000"/>
              </a:lnSpc>
            </a:pPr>
            <a:r>
              <a:rPr sz="1450" b="1">
                <a:solidFill>
                  <a:srgbClr val="144B7F"/>
                </a:solidFill>
                <a:latin typeface="Meiryo"/>
                <a:ea typeface="Meiryo"/>
                <a:cs typeface="Meiryo"/>
              </a:rPr>
              <a:t>説明は前半に集約し、後半はデモと議論に時間を使う</a:t>
            </a:r>
          </a:p>
        </p:txBody>
      </p:sp>
      <p:sp>
        <p:nvSpPr>
          <p:cNvPr id="7" name="Rectangle 6"/>
          <p:cNvSpPr/>
          <p:nvPr/>
        </p:nvSpPr>
        <p:spPr>
          <a:xfrm>
            <a:off x="566928" y="6419088"/>
            <a:ext cx="11055096" cy="10972"/>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566928" y="6519672"/>
            <a:ext cx="10735056" cy="182880"/>
          </a:xfrm>
          <a:prstGeom prst="rect">
            <a:avLst/>
          </a:prstGeom>
          <a:noFill/>
        </p:spPr>
        <p:txBody>
          <a:bodyPr wrap="square" anchor="t" lIns="0" rIns="0" tIns="0" bIns="0">
            <a:spAutoFit/>
          </a:bodyPr>
          <a:lstStyle/>
          <a:p>
            <a:pPr algn="r">
              <a:lnSpc>
                <a:spcPct val="125000"/>
              </a:lnSpc>
            </a:pPr>
            <a:r>
              <a:rPr sz="750" b="0">
                <a:solidFill>
                  <a:srgbClr val="939EAC"/>
                </a:solidFill>
                <a:latin typeface="Meiryo"/>
                <a:ea typeface="Meiryo"/>
                <a:cs typeface="Meiryo"/>
              </a:rPr>
              <a:t>© Givin' Back Inc. All Rights Reserved.  |  Confidential</a:t>
            </a:r>
          </a:p>
        </p:txBody>
      </p:sp>
      <p:sp>
        <p:nvSpPr>
          <p:cNvPr id="9" name="TextBox 8"/>
          <p:cNvSpPr txBox="1"/>
          <p:nvPr/>
        </p:nvSpPr>
        <p:spPr>
          <a:xfrm>
            <a:off x="11329416" y="6501384"/>
            <a:ext cx="292608" cy="201168"/>
          </a:xfrm>
          <a:prstGeom prst="rect">
            <a:avLst/>
          </a:prstGeom>
          <a:noFill/>
        </p:spPr>
        <p:txBody>
          <a:bodyPr wrap="square" anchor="t" lIns="0" rIns="0" tIns="0" bIns="0">
            <a:spAutoFit/>
          </a:bodyPr>
          <a:lstStyle/>
          <a:p>
            <a:pPr algn="r">
              <a:lnSpc>
                <a:spcPct val="125000"/>
              </a:lnSpc>
            </a:pPr>
            <a:r>
              <a:rPr sz="900" b="1">
                <a:solidFill>
                  <a:srgbClr val="144B7F"/>
                </a:solidFill>
                <a:latin typeface="Meiryo"/>
                <a:ea typeface="Meiryo"/>
                <a:cs typeface="Meiryo"/>
              </a:rPr>
              <a:t>3</a:t>
            </a:r>
          </a:p>
        </p:txBody>
      </p:sp>
      <p:sp>
        <p:nvSpPr>
          <p:cNvPr id="10" name="Rectangle 9"/>
          <p:cNvSpPr/>
          <p:nvPr/>
        </p:nvSpPr>
        <p:spPr>
          <a:xfrm>
            <a:off x="566928" y="1627632"/>
            <a:ext cx="11055096" cy="365760"/>
          </a:xfrm>
          <a:prstGeom prst="rect">
            <a:avLst/>
          </a:prstGeom>
          <a:solidFill>
            <a:srgbClr val="144B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49808" y="1709928"/>
            <a:ext cx="960120" cy="237744"/>
          </a:xfrm>
          <a:prstGeom prst="rect">
            <a:avLst/>
          </a:prstGeom>
          <a:noFill/>
        </p:spPr>
        <p:txBody>
          <a:bodyPr wrap="square" anchor="t" lIns="0" rIns="0" tIns="0" bIns="0">
            <a:spAutoFit/>
          </a:bodyPr>
          <a:lstStyle/>
          <a:p>
            <a:pPr algn="l">
              <a:lnSpc>
                <a:spcPct val="125000"/>
              </a:lnSpc>
            </a:pPr>
            <a:r>
              <a:rPr sz="1100" b="1">
                <a:solidFill>
                  <a:srgbClr val="FFFFFF"/>
                </a:solidFill>
                <a:latin typeface="Meiryo"/>
                <a:ea typeface="Meiryo"/>
                <a:cs typeface="Meiryo"/>
              </a:rPr>
              <a:t>時間</a:t>
            </a:r>
          </a:p>
        </p:txBody>
      </p:sp>
      <p:sp>
        <p:nvSpPr>
          <p:cNvPr id="12" name="TextBox 11"/>
          <p:cNvSpPr txBox="1"/>
          <p:nvPr/>
        </p:nvSpPr>
        <p:spPr>
          <a:xfrm>
            <a:off x="1865376" y="1709928"/>
            <a:ext cx="3017520" cy="237744"/>
          </a:xfrm>
          <a:prstGeom prst="rect">
            <a:avLst/>
          </a:prstGeom>
          <a:noFill/>
        </p:spPr>
        <p:txBody>
          <a:bodyPr wrap="square" anchor="t" lIns="0" rIns="0" tIns="0" bIns="0">
            <a:spAutoFit/>
          </a:bodyPr>
          <a:lstStyle/>
          <a:p>
            <a:pPr algn="l">
              <a:lnSpc>
                <a:spcPct val="125000"/>
              </a:lnSpc>
            </a:pPr>
            <a:r>
              <a:rPr sz="1100" b="1">
                <a:solidFill>
                  <a:srgbClr val="FFFFFF"/>
                </a:solidFill>
                <a:latin typeface="Meiryo"/>
                <a:ea typeface="Meiryo"/>
                <a:cs typeface="Meiryo"/>
              </a:rPr>
              <a:t>アジェンダ</a:t>
            </a:r>
          </a:p>
        </p:txBody>
      </p:sp>
      <p:sp>
        <p:nvSpPr>
          <p:cNvPr id="13" name="TextBox 12"/>
          <p:cNvSpPr txBox="1"/>
          <p:nvPr/>
        </p:nvSpPr>
        <p:spPr>
          <a:xfrm>
            <a:off x="5065776" y="1709928"/>
            <a:ext cx="6373368" cy="237744"/>
          </a:xfrm>
          <a:prstGeom prst="rect">
            <a:avLst/>
          </a:prstGeom>
          <a:noFill/>
        </p:spPr>
        <p:txBody>
          <a:bodyPr wrap="square" anchor="t" lIns="0" rIns="0" tIns="0" bIns="0">
            <a:spAutoFit/>
          </a:bodyPr>
          <a:lstStyle/>
          <a:p>
            <a:pPr algn="l">
              <a:lnSpc>
                <a:spcPct val="125000"/>
              </a:lnSpc>
            </a:pPr>
            <a:r>
              <a:rPr sz="1100" b="1">
                <a:solidFill>
                  <a:srgbClr val="FFFFFF"/>
                </a:solidFill>
                <a:latin typeface="Meiryo"/>
                <a:ea typeface="Meiryo"/>
                <a:cs typeface="Meiryo"/>
              </a:rPr>
              <a:t>目的・進行のポイント</a:t>
            </a:r>
          </a:p>
        </p:txBody>
      </p:sp>
      <p:sp>
        <p:nvSpPr>
          <p:cNvPr id="14" name="Rectangle 13"/>
          <p:cNvSpPr/>
          <p:nvPr/>
        </p:nvSpPr>
        <p:spPr>
          <a:xfrm>
            <a:off x="566928" y="1993392"/>
            <a:ext cx="11055096" cy="54864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566928" y="2537460"/>
            <a:ext cx="11055096" cy="7315"/>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749808" y="2148840"/>
            <a:ext cx="1051560" cy="256032"/>
          </a:xfrm>
          <a:prstGeom prst="rect">
            <a:avLst/>
          </a:prstGeom>
          <a:noFill/>
        </p:spPr>
        <p:txBody>
          <a:bodyPr wrap="square" anchor="t" lIns="0" rIns="0" tIns="0" bIns="0">
            <a:spAutoFit/>
          </a:bodyPr>
          <a:lstStyle/>
          <a:p>
            <a:pPr algn="l">
              <a:lnSpc>
                <a:spcPct val="125000"/>
              </a:lnSpc>
            </a:pPr>
            <a:r>
              <a:rPr sz="1100" b="1">
                <a:solidFill>
                  <a:srgbClr val="E0454B"/>
                </a:solidFill>
                <a:latin typeface="Meiryo"/>
                <a:ea typeface="Meiryo"/>
                <a:cs typeface="Meiryo"/>
              </a:rPr>
              <a:t>00-05</a:t>
            </a:r>
          </a:p>
        </p:txBody>
      </p:sp>
      <p:sp>
        <p:nvSpPr>
          <p:cNvPr id="17" name="TextBox 16"/>
          <p:cNvSpPr txBox="1"/>
          <p:nvPr/>
        </p:nvSpPr>
        <p:spPr>
          <a:xfrm>
            <a:off x="1865376" y="2148840"/>
            <a:ext cx="3063240" cy="274320"/>
          </a:xfrm>
          <a:prstGeom prst="rect">
            <a:avLst/>
          </a:prstGeom>
          <a:noFill/>
        </p:spPr>
        <p:txBody>
          <a:bodyPr wrap="square" anchor="t" lIns="0" rIns="0" tIns="0" bIns="0">
            <a:spAutoFit/>
          </a:bodyPr>
          <a:lstStyle/>
          <a:p>
            <a:pPr algn="l">
              <a:lnSpc>
                <a:spcPct val="125000"/>
              </a:lnSpc>
            </a:pPr>
            <a:r>
              <a:rPr sz="1150" b="1">
                <a:solidFill>
                  <a:srgbClr val="144B7F"/>
                </a:solidFill>
                <a:latin typeface="Meiryo"/>
                <a:ea typeface="Meiryo"/>
                <a:cs typeface="Meiryo"/>
              </a:rPr>
              <a:t>本日の目的・前提合わせ</a:t>
            </a:r>
          </a:p>
        </p:txBody>
      </p:sp>
      <p:sp>
        <p:nvSpPr>
          <p:cNvPr id="18" name="TextBox 17"/>
          <p:cNvSpPr txBox="1"/>
          <p:nvPr/>
        </p:nvSpPr>
        <p:spPr>
          <a:xfrm>
            <a:off x="5065776" y="2157984"/>
            <a:ext cx="6373368" cy="274320"/>
          </a:xfrm>
          <a:prstGeom prst="rect">
            <a:avLst/>
          </a:prstGeom>
          <a:noFill/>
        </p:spPr>
        <p:txBody>
          <a:bodyPr wrap="square" anchor="t" lIns="0" rIns="0" tIns="0" bIns="0">
            <a:spAutoFit/>
          </a:bodyPr>
          <a:lstStyle/>
          <a:p>
            <a:pPr algn="l">
              <a:lnSpc>
                <a:spcPct val="125000"/>
              </a:lnSpc>
            </a:pPr>
            <a:r>
              <a:rPr sz="1050" b="0">
                <a:solidFill>
                  <a:srgbClr val="1E293B"/>
                </a:solidFill>
                <a:latin typeface="Meiryo"/>
                <a:ea typeface="Meiryo"/>
                <a:cs typeface="Meiryo"/>
              </a:rPr>
              <a:t>操作説明ではなく、導入意図と検証方針の共有であると目線を合わせる</a:t>
            </a:r>
          </a:p>
        </p:txBody>
      </p:sp>
      <p:sp>
        <p:nvSpPr>
          <p:cNvPr id="19" name="Rectangle 18"/>
          <p:cNvSpPr/>
          <p:nvPr/>
        </p:nvSpPr>
        <p:spPr>
          <a:xfrm>
            <a:off x="566928" y="3086100"/>
            <a:ext cx="11055096" cy="7315"/>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49808" y="2697480"/>
            <a:ext cx="1051560" cy="256032"/>
          </a:xfrm>
          <a:prstGeom prst="rect">
            <a:avLst/>
          </a:prstGeom>
          <a:noFill/>
        </p:spPr>
        <p:txBody>
          <a:bodyPr wrap="square" anchor="t" lIns="0" rIns="0" tIns="0" bIns="0">
            <a:spAutoFit/>
          </a:bodyPr>
          <a:lstStyle/>
          <a:p>
            <a:pPr algn="l">
              <a:lnSpc>
                <a:spcPct val="125000"/>
              </a:lnSpc>
            </a:pPr>
            <a:r>
              <a:rPr sz="1100" b="1">
                <a:solidFill>
                  <a:srgbClr val="E0454B"/>
                </a:solidFill>
                <a:latin typeface="Meiryo"/>
                <a:ea typeface="Meiryo"/>
                <a:cs typeface="Meiryo"/>
              </a:rPr>
              <a:t>05-15</a:t>
            </a:r>
          </a:p>
        </p:txBody>
      </p:sp>
      <p:sp>
        <p:nvSpPr>
          <p:cNvPr id="21" name="TextBox 20"/>
          <p:cNvSpPr txBox="1"/>
          <p:nvPr/>
        </p:nvSpPr>
        <p:spPr>
          <a:xfrm>
            <a:off x="1865376" y="2697480"/>
            <a:ext cx="3063240" cy="274320"/>
          </a:xfrm>
          <a:prstGeom prst="rect">
            <a:avLst/>
          </a:prstGeom>
          <a:noFill/>
        </p:spPr>
        <p:txBody>
          <a:bodyPr wrap="square" anchor="t" lIns="0" rIns="0" tIns="0" bIns="0">
            <a:spAutoFit/>
          </a:bodyPr>
          <a:lstStyle/>
          <a:p>
            <a:pPr algn="l">
              <a:lnSpc>
                <a:spcPct val="125000"/>
              </a:lnSpc>
            </a:pPr>
            <a:r>
              <a:rPr sz="1150" b="1">
                <a:solidFill>
                  <a:srgbClr val="144B7F"/>
                </a:solidFill>
                <a:latin typeface="Meiryo"/>
                <a:ea typeface="Meiryo"/>
                <a:cs typeface="Meiryo"/>
              </a:rPr>
              <a:t>CoreUniqが生まれた背景</a:t>
            </a:r>
          </a:p>
        </p:txBody>
      </p:sp>
      <p:sp>
        <p:nvSpPr>
          <p:cNvPr id="22" name="TextBox 21"/>
          <p:cNvSpPr txBox="1"/>
          <p:nvPr/>
        </p:nvSpPr>
        <p:spPr>
          <a:xfrm>
            <a:off x="5065776" y="2706624"/>
            <a:ext cx="6373368" cy="274320"/>
          </a:xfrm>
          <a:prstGeom prst="rect">
            <a:avLst/>
          </a:prstGeom>
          <a:noFill/>
        </p:spPr>
        <p:txBody>
          <a:bodyPr wrap="square" anchor="t" lIns="0" rIns="0" tIns="0" bIns="0">
            <a:spAutoFit/>
          </a:bodyPr>
          <a:lstStyle/>
          <a:p>
            <a:pPr algn="l">
              <a:lnSpc>
                <a:spcPct val="125000"/>
              </a:lnSpc>
            </a:pPr>
            <a:r>
              <a:rPr sz="1050" b="0">
                <a:solidFill>
                  <a:srgbClr val="1E293B"/>
                </a:solidFill>
                <a:latin typeface="Meiryo"/>
                <a:ea typeface="Meiryo"/>
                <a:cs typeface="Meiryo"/>
              </a:rPr>
              <a:t>日報ツールではなく、キャリア開発研修＋実践伴走であることを明確に伝える</a:t>
            </a:r>
          </a:p>
        </p:txBody>
      </p:sp>
      <p:sp>
        <p:nvSpPr>
          <p:cNvPr id="23" name="Rectangle 22"/>
          <p:cNvSpPr/>
          <p:nvPr/>
        </p:nvSpPr>
        <p:spPr>
          <a:xfrm>
            <a:off x="566928" y="3090672"/>
            <a:ext cx="11055096" cy="54864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566928" y="3634739"/>
            <a:ext cx="11055096" cy="7315"/>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749808" y="3246120"/>
            <a:ext cx="1051560" cy="256032"/>
          </a:xfrm>
          <a:prstGeom prst="rect">
            <a:avLst/>
          </a:prstGeom>
          <a:noFill/>
        </p:spPr>
        <p:txBody>
          <a:bodyPr wrap="square" anchor="t" lIns="0" rIns="0" tIns="0" bIns="0">
            <a:spAutoFit/>
          </a:bodyPr>
          <a:lstStyle/>
          <a:p>
            <a:pPr algn="l">
              <a:lnSpc>
                <a:spcPct val="125000"/>
              </a:lnSpc>
            </a:pPr>
            <a:r>
              <a:rPr sz="1100" b="1">
                <a:solidFill>
                  <a:srgbClr val="E0454B"/>
                </a:solidFill>
                <a:latin typeface="Meiryo"/>
                <a:ea typeface="Meiryo"/>
                <a:cs typeface="Meiryo"/>
              </a:rPr>
              <a:t>15-25</a:t>
            </a:r>
          </a:p>
        </p:txBody>
      </p:sp>
      <p:sp>
        <p:nvSpPr>
          <p:cNvPr id="26" name="TextBox 25"/>
          <p:cNvSpPr txBox="1"/>
          <p:nvPr/>
        </p:nvSpPr>
        <p:spPr>
          <a:xfrm>
            <a:off x="1865376" y="3246120"/>
            <a:ext cx="3063240" cy="274320"/>
          </a:xfrm>
          <a:prstGeom prst="rect">
            <a:avLst/>
          </a:prstGeom>
          <a:noFill/>
        </p:spPr>
        <p:txBody>
          <a:bodyPr wrap="square" anchor="t" lIns="0" rIns="0" tIns="0" bIns="0">
            <a:spAutoFit/>
          </a:bodyPr>
          <a:lstStyle/>
          <a:p>
            <a:pPr algn="l">
              <a:lnSpc>
                <a:spcPct val="125000"/>
              </a:lnSpc>
            </a:pPr>
            <a:r>
              <a:rPr sz="1150" b="1">
                <a:solidFill>
                  <a:srgbClr val="144B7F"/>
                </a:solidFill>
                <a:latin typeface="Meiryo"/>
                <a:ea typeface="Meiryo"/>
                <a:cs typeface="Meiryo"/>
              </a:rPr>
              <a:t>若手の課題とアンケートデータ</a:t>
            </a:r>
          </a:p>
        </p:txBody>
      </p:sp>
      <p:sp>
        <p:nvSpPr>
          <p:cNvPr id="27" name="TextBox 26"/>
          <p:cNvSpPr txBox="1"/>
          <p:nvPr/>
        </p:nvSpPr>
        <p:spPr>
          <a:xfrm>
            <a:off x="5065776" y="3255264"/>
            <a:ext cx="6373368" cy="274320"/>
          </a:xfrm>
          <a:prstGeom prst="rect">
            <a:avLst/>
          </a:prstGeom>
          <a:noFill/>
        </p:spPr>
        <p:txBody>
          <a:bodyPr wrap="square" anchor="t" lIns="0" rIns="0" tIns="0" bIns="0">
            <a:spAutoFit/>
          </a:bodyPr>
          <a:lstStyle/>
          <a:p>
            <a:pPr algn="l">
              <a:lnSpc>
                <a:spcPct val="125000"/>
              </a:lnSpc>
            </a:pPr>
            <a:r>
              <a:rPr sz="1050" b="0">
                <a:solidFill>
                  <a:srgbClr val="1E293B"/>
                </a:solidFill>
                <a:latin typeface="Meiryo"/>
                <a:ea typeface="Meiryo"/>
                <a:cs typeface="Meiryo"/>
              </a:rPr>
              <a:t>目標から行動への翻訳が途切れる構造を提示し、課題感をすり合わせる</a:t>
            </a:r>
          </a:p>
        </p:txBody>
      </p:sp>
      <p:sp>
        <p:nvSpPr>
          <p:cNvPr id="28" name="Rectangle 27"/>
          <p:cNvSpPr/>
          <p:nvPr/>
        </p:nvSpPr>
        <p:spPr>
          <a:xfrm>
            <a:off x="566928" y="4183380"/>
            <a:ext cx="11055096" cy="7315"/>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749808" y="3794760"/>
            <a:ext cx="1051560" cy="256032"/>
          </a:xfrm>
          <a:prstGeom prst="rect">
            <a:avLst/>
          </a:prstGeom>
          <a:noFill/>
        </p:spPr>
        <p:txBody>
          <a:bodyPr wrap="square" anchor="t" lIns="0" rIns="0" tIns="0" bIns="0">
            <a:spAutoFit/>
          </a:bodyPr>
          <a:lstStyle/>
          <a:p>
            <a:pPr algn="l">
              <a:lnSpc>
                <a:spcPct val="125000"/>
              </a:lnSpc>
            </a:pPr>
            <a:r>
              <a:rPr sz="1100" b="1">
                <a:solidFill>
                  <a:srgbClr val="E0454B"/>
                </a:solidFill>
                <a:latin typeface="Meiryo"/>
                <a:ea typeface="Meiryo"/>
                <a:cs typeface="Meiryo"/>
              </a:rPr>
              <a:t>25-35</a:t>
            </a:r>
          </a:p>
        </p:txBody>
      </p:sp>
      <p:sp>
        <p:nvSpPr>
          <p:cNvPr id="30" name="TextBox 29"/>
          <p:cNvSpPr txBox="1"/>
          <p:nvPr/>
        </p:nvSpPr>
        <p:spPr>
          <a:xfrm>
            <a:off x="1865376" y="3794760"/>
            <a:ext cx="3063240" cy="274320"/>
          </a:xfrm>
          <a:prstGeom prst="rect">
            <a:avLst/>
          </a:prstGeom>
          <a:noFill/>
        </p:spPr>
        <p:txBody>
          <a:bodyPr wrap="square" anchor="t" lIns="0" rIns="0" tIns="0" bIns="0">
            <a:spAutoFit/>
          </a:bodyPr>
          <a:lstStyle/>
          <a:p>
            <a:pPr algn="l">
              <a:lnSpc>
                <a:spcPct val="125000"/>
              </a:lnSpc>
            </a:pPr>
            <a:r>
              <a:rPr sz="1150" b="1">
                <a:solidFill>
                  <a:srgbClr val="144B7F"/>
                </a:solidFill>
                <a:latin typeface="Meiryo"/>
                <a:ea typeface="Meiryo"/>
                <a:cs typeface="Meiryo"/>
              </a:rPr>
              <a:t>POCの目的・検証したいこと</a:t>
            </a:r>
          </a:p>
        </p:txBody>
      </p:sp>
      <p:sp>
        <p:nvSpPr>
          <p:cNvPr id="31" name="TextBox 30"/>
          <p:cNvSpPr txBox="1"/>
          <p:nvPr/>
        </p:nvSpPr>
        <p:spPr>
          <a:xfrm>
            <a:off x="5065776" y="3803904"/>
            <a:ext cx="6373368" cy="274320"/>
          </a:xfrm>
          <a:prstGeom prst="rect">
            <a:avLst/>
          </a:prstGeom>
          <a:noFill/>
        </p:spPr>
        <p:txBody>
          <a:bodyPr wrap="square" anchor="t" lIns="0" rIns="0" tIns="0" bIns="0">
            <a:spAutoFit/>
          </a:bodyPr>
          <a:lstStyle/>
          <a:p>
            <a:pPr algn="l">
              <a:lnSpc>
                <a:spcPct val="125000"/>
              </a:lnSpc>
            </a:pPr>
            <a:r>
              <a:rPr sz="1050" b="0">
                <a:solidFill>
                  <a:srgbClr val="1E293B"/>
                </a:solidFill>
                <a:latin typeface="Meiryo"/>
                <a:ea typeface="Meiryo"/>
                <a:cs typeface="Meiryo"/>
              </a:rPr>
              <a:t>検証テーマを明示し、将来の展開判断に向けた材料づくりを共有する</a:t>
            </a:r>
          </a:p>
        </p:txBody>
      </p:sp>
      <p:sp>
        <p:nvSpPr>
          <p:cNvPr id="32" name="Rectangle 31"/>
          <p:cNvSpPr/>
          <p:nvPr/>
        </p:nvSpPr>
        <p:spPr>
          <a:xfrm>
            <a:off x="566928" y="4187952"/>
            <a:ext cx="11055096" cy="54864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ectangle 32"/>
          <p:cNvSpPr/>
          <p:nvPr/>
        </p:nvSpPr>
        <p:spPr>
          <a:xfrm>
            <a:off x="566928" y="4732020"/>
            <a:ext cx="11055096" cy="7315"/>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749808" y="4343400"/>
            <a:ext cx="1051560" cy="256032"/>
          </a:xfrm>
          <a:prstGeom prst="rect">
            <a:avLst/>
          </a:prstGeom>
          <a:noFill/>
        </p:spPr>
        <p:txBody>
          <a:bodyPr wrap="square" anchor="t" lIns="0" rIns="0" tIns="0" bIns="0">
            <a:spAutoFit/>
          </a:bodyPr>
          <a:lstStyle/>
          <a:p>
            <a:pPr algn="l">
              <a:lnSpc>
                <a:spcPct val="125000"/>
              </a:lnSpc>
            </a:pPr>
            <a:r>
              <a:rPr sz="1100" b="1">
                <a:solidFill>
                  <a:srgbClr val="E0454B"/>
                </a:solidFill>
                <a:latin typeface="Meiryo"/>
                <a:ea typeface="Meiryo"/>
                <a:cs typeface="Meiryo"/>
              </a:rPr>
              <a:t>35-48</a:t>
            </a:r>
          </a:p>
        </p:txBody>
      </p:sp>
      <p:sp>
        <p:nvSpPr>
          <p:cNvPr id="35" name="TextBox 34"/>
          <p:cNvSpPr txBox="1"/>
          <p:nvPr/>
        </p:nvSpPr>
        <p:spPr>
          <a:xfrm>
            <a:off x="1865376" y="4343400"/>
            <a:ext cx="3063240" cy="274320"/>
          </a:xfrm>
          <a:prstGeom prst="rect">
            <a:avLst/>
          </a:prstGeom>
          <a:noFill/>
        </p:spPr>
        <p:txBody>
          <a:bodyPr wrap="square" anchor="t" lIns="0" rIns="0" tIns="0" bIns="0">
            <a:spAutoFit/>
          </a:bodyPr>
          <a:lstStyle/>
          <a:p>
            <a:pPr algn="l">
              <a:lnSpc>
                <a:spcPct val="125000"/>
              </a:lnSpc>
            </a:pPr>
            <a:r>
              <a:rPr sz="1150" b="1">
                <a:solidFill>
                  <a:srgbClr val="144B7F"/>
                </a:solidFill>
                <a:latin typeface="Meiryo"/>
                <a:ea typeface="Meiryo"/>
                <a:cs typeface="Meiryo"/>
              </a:rPr>
              <a:t>メンバー・管理職画面のデモ</a:t>
            </a:r>
          </a:p>
        </p:txBody>
      </p:sp>
      <p:sp>
        <p:nvSpPr>
          <p:cNvPr id="36" name="TextBox 35"/>
          <p:cNvSpPr txBox="1"/>
          <p:nvPr/>
        </p:nvSpPr>
        <p:spPr>
          <a:xfrm>
            <a:off x="5065776" y="4352544"/>
            <a:ext cx="6373368" cy="274320"/>
          </a:xfrm>
          <a:prstGeom prst="rect">
            <a:avLst/>
          </a:prstGeom>
          <a:noFill/>
        </p:spPr>
        <p:txBody>
          <a:bodyPr wrap="square" anchor="t" lIns="0" rIns="0" tIns="0" bIns="0">
            <a:spAutoFit/>
          </a:bodyPr>
          <a:lstStyle/>
          <a:p>
            <a:pPr algn="l">
              <a:lnSpc>
                <a:spcPct val="125000"/>
              </a:lnSpc>
            </a:pPr>
            <a:r>
              <a:rPr sz="1050" b="0">
                <a:solidFill>
                  <a:srgbClr val="1E293B"/>
                </a:solidFill>
                <a:latin typeface="Meiryo"/>
                <a:ea typeface="Meiryo"/>
                <a:cs typeface="Meiryo"/>
              </a:rPr>
              <a:t>機能一覧ではなく、行動設定→実践→振り返り→FBの一連の流れを見せる</a:t>
            </a:r>
          </a:p>
        </p:txBody>
      </p:sp>
      <p:sp>
        <p:nvSpPr>
          <p:cNvPr id="37" name="Rectangle 36"/>
          <p:cNvSpPr/>
          <p:nvPr/>
        </p:nvSpPr>
        <p:spPr>
          <a:xfrm>
            <a:off x="566928" y="5280659"/>
            <a:ext cx="11055096" cy="7315"/>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749808" y="4892040"/>
            <a:ext cx="1051560" cy="256032"/>
          </a:xfrm>
          <a:prstGeom prst="rect">
            <a:avLst/>
          </a:prstGeom>
          <a:noFill/>
        </p:spPr>
        <p:txBody>
          <a:bodyPr wrap="square" anchor="t" lIns="0" rIns="0" tIns="0" bIns="0">
            <a:spAutoFit/>
          </a:bodyPr>
          <a:lstStyle/>
          <a:p>
            <a:pPr algn="l">
              <a:lnSpc>
                <a:spcPct val="125000"/>
              </a:lnSpc>
            </a:pPr>
            <a:r>
              <a:rPr sz="1100" b="1">
                <a:solidFill>
                  <a:srgbClr val="E0454B"/>
                </a:solidFill>
                <a:latin typeface="Meiryo"/>
                <a:ea typeface="Meiryo"/>
                <a:cs typeface="Meiryo"/>
              </a:rPr>
              <a:t>48-56</a:t>
            </a:r>
          </a:p>
        </p:txBody>
      </p:sp>
      <p:sp>
        <p:nvSpPr>
          <p:cNvPr id="39" name="TextBox 38"/>
          <p:cNvSpPr txBox="1"/>
          <p:nvPr/>
        </p:nvSpPr>
        <p:spPr>
          <a:xfrm>
            <a:off x="1865376" y="4892040"/>
            <a:ext cx="3063240" cy="274320"/>
          </a:xfrm>
          <a:prstGeom prst="rect">
            <a:avLst/>
          </a:prstGeom>
          <a:noFill/>
        </p:spPr>
        <p:txBody>
          <a:bodyPr wrap="square" anchor="t" lIns="0" rIns="0" tIns="0" bIns="0">
            <a:spAutoFit/>
          </a:bodyPr>
          <a:lstStyle/>
          <a:p>
            <a:pPr algn="l">
              <a:lnSpc>
                <a:spcPct val="125000"/>
              </a:lnSpc>
            </a:pPr>
            <a:r>
              <a:rPr sz="1150" b="1">
                <a:solidFill>
                  <a:srgbClr val="144B7F"/>
                </a:solidFill>
                <a:latin typeface="Meiryo"/>
                <a:ea typeface="Meiryo"/>
                <a:cs typeface="Meiryo"/>
              </a:rPr>
              <a:t>ディスカッション</a:t>
            </a:r>
          </a:p>
        </p:txBody>
      </p:sp>
      <p:sp>
        <p:nvSpPr>
          <p:cNvPr id="40" name="TextBox 39"/>
          <p:cNvSpPr txBox="1"/>
          <p:nvPr/>
        </p:nvSpPr>
        <p:spPr>
          <a:xfrm>
            <a:off x="5065776" y="4901183"/>
            <a:ext cx="6373368" cy="274320"/>
          </a:xfrm>
          <a:prstGeom prst="rect">
            <a:avLst/>
          </a:prstGeom>
          <a:noFill/>
        </p:spPr>
        <p:txBody>
          <a:bodyPr wrap="square" anchor="t" lIns="0" rIns="0" tIns="0" bIns="0">
            <a:spAutoFit/>
          </a:bodyPr>
          <a:lstStyle/>
          <a:p>
            <a:pPr algn="l">
              <a:lnSpc>
                <a:spcPct val="125000"/>
              </a:lnSpc>
            </a:pPr>
            <a:r>
              <a:rPr sz="1050" b="0">
                <a:solidFill>
                  <a:srgbClr val="1E293B"/>
                </a:solidFill>
                <a:latin typeface="Meiryo"/>
                <a:ea typeface="Meiryo"/>
                <a:cs typeface="Meiryo"/>
              </a:rPr>
              <a:t>検証項目の追加や画面UIについてフィードバックをいただく</a:t>
            </a:r>
          </a:p>
        </p:txBody>
      </p:sp>
      <p:sp>
        <p:nvSpPr>
          <p:cNvPr id="41" name="Rectangle 40"/>
          <p:cNvSpPr/>
          <p:nvPr/>
        </p:nvSpPr>
        <p:spPr>
          <a:xfrm>
            <a:off x="566928" y="5285231"/>
            <a:ext cx="11055096" cy="548640"/>
          </a:xfrm>
          <a:prstGeom prst="rect">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Rectangle 41"/>
          <p:cNvSpPr/>
          <p:nvPr/>
        </p:nvSpPr>
        <p:spPr>
          <a:xfrm>
            <a:off x="566928" y="5829299"/>
            <a:ext cx="11055096" cy="7315"/>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749808" y="5440679"/>
            <a:ext cx="1051560" cy="256032"/>
          </a:xfrm>
          <a:prstGeom prst="rect">
            <a:avLst/>
          </a:prstGeom>
          <a:noFill/>
        </p:spPr>
        <p:txBody>
          <a:bodyPr wrap="square" anchor="t" lIns="0" rIns="0" tIns="0" bIns="0">
            <a:spAutoFit/>
          </a:bodyPr>
          <a:lstStyle/>
          <a:p>
            <a:pPr algn="l">
              <a:lnSpc>
                <a:spcPct val="125000"/>
              </a:lnSpc>
            </a:pPr>
            <a:r>
              <a:rPr sz="1100" b="1">
                <a:solidFill>
                  <a:srgbClr val="E0454B"/>
                </a:solidFill>
                <a:latin typeface="Meiryo"/>
                <a:ea typeface="Meiryo"/>
                <a:cs typeface="Meiryo"/>
              </a:rPr>
              <a:t>56-60</a:t>
            </a:r>
          </a:p>
        </p:txBody>
      </p:sp>
      <p:sp>
        <p:nvSpPr>
          <p:cNvPr id="44" name="TextBox 43"/>
          <p:cNvSpPr txBox="1"/>
          <p:nvPr/>
        </p:nvSpPr>
        <p:spPr>
          <a:xfrm>
            <a:off x="1865376" y="5440679"/>
            <a:ext cx="3063240" cy="274320"/>
          </a:xfrm>
          <a:prstGeom prst="rect">
            <a:avLst/>
          </a:prstGeom>
          <a:noFill/>
        </p:spPr>
        <p:txBody>
          <a:bodyPr wrap="square" anchor="t" lIns="0" rIns="0" tIns="0" bIns="0">
            <a:spAutoFit/>
          </a:bodyPr>
          <a:lstStyle/>
          <a:p>
            <a:pPr algn="l">
              <a:lnSpc>
                <a:spcPct val="125000"/>
              </a:lnSpc>
            </a:pPr>
            <a:r>
              <a:rPr sz="1150" b="1">
                <a:solidFill>
                  <a:srgbClr val="144B7F"/>
                </a:solidFill>
                <a:latin typeface="Meiryo"/>
                <a:ea typeface="Meiryo"/>
                <a:cs typeface="Meiryo"/>
              </a:rPr>
              <a:t>次回アクションの合意</a:t>
            </a:r>
          </a:p>
        </p:txBody>
      </p:sp>
      <p:sp>
        <p:nvSpPr>
          <p:cNvPr id="45" name="TextBox 44"/>
          <p:cNvSpPr txBox="1"/>
          <p:nvPr/>
        </p:nvSpPr>
        <p:spPr>
          <a:xfrm>
            <a:off x="5065776" y="5449823"/>
            <a:ext cx="6373368" cy="274320"/>
          </a:xfrm>
          <a:prstGeom prst="rect">
            <a:avLst/>
          </a:prstGeom>
          <a:noFill/>
        </p:spPr>
        <p:txBody>
          <a:bodyPr wrap="square" anchor="t" lIns="0" rIns="0" tIns="0" bIns="0">
            <a:spAutoFit/>
          </a:bodyPr>
          <a:lstStyle/>
          <a:p>
            <a:pPr algn="l">
              <a:lnSpc>
                <a:spcPct val="125000"/>
              </a:lnSpc>
            </a:pPr>
            <a:r>
              <a:rPr sz="1050" b="0">
                <a:solidFill>
                  <a:srgbClr val="1E293B"/>
                </a:solidFill>
                <a:latin typeface="Meiryo"/>
                <a:ea typeface="Meiryo"/>
                <a:cs typeface="Meiryo"/>
              </a:rPr>
              <a:t>対象者・期間・着眼点・次回日程の4点を確定させる</a:t>
            </a:r>
          </a:p>
        </p:txBody>
      </p:sp>
      <p:sp>
        <p:nvSpPr>
          <p:cNvPr id="46" name="TextBox 45"/>
          <p:cNvSpPr txBox="1"/>
          <p:nvPr/>
        </p:nvSpPr>
        <p:spPr>
          <a:xfrm>
            <a:off x="566928" y="5998464"/>
            <a:ext cx="11055096" cy="274320"/>
          </a:xfrm>
          <a:prstGeom prst="rect">
            <a:avLst/>
          </a:prstGeom>
          <a:noFill/>
        </p:spPr>
        <p:txBody>
          <a:bodyPr wrap="square" anchor="t" lIns="0" rIns="0" tIns="0" bIns="0">
            <a:spAutoFit/>
          </a:bodyPr>
          <a:lstStyle/>
          <a:p>
            <a:pPr algn="l">
              <a:lnSpc>
                <a:spcPct val="125000"/>
              </a:lnSpc>
            </a:pPr>
            <a:r>
              <a:rPr sz="1150" b="1">
                <a:solidFill>
                  <a:srgbClr val="144B7F"/>
                </a:solidFill>
                <a:latin typeface="Meiryo"/>
                <a:ea typeface="Meiryo"/>
                <a:cs typeface="Meiryo"/>
              </a:rPr>
              <a:t>デモと議論に25分を確保し、その場で検証項目を追加できる進行にします。</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9683496" cy="384048"/>
          </a:xfrm>
          <a:prstGeom prst="rect">
            <a:avLst/>
          </a:prstGeom>
          <a:noFill/>
        </p:spPr>
        <p:txBody>
          <a:bodyPr wrap="square" anchor="t" lIns="0" rIns="0" tIns="0" bIns="0">
            <a:spAutoFit/>
          </a:bodyPr>
          <a:lstStyle/>
          <a:p>
            <a:pPr algn="l">
              <a:lnSpc>
                <a:spcPct val="125000"/>
              </a:lnSpc>
            </a:pPr>
            <a:r>
              <a:rPr sz="2100" b="1">
                <a:solidFill>
                  <a:srgbClr val="144B7F"/>
                </a:solidFill>
                <a:latin typeface="Meiryo"/>
                <a:ea typeface="Meiryo"/>
                <a:cs typeface="Meiryo"/>
              </a:rPr>
              <a:t>DATA｜若手が行動に移れない背景</a:t>
            </a:r>
          </a:p>
        </p:txBody>
      </p:sp>
      <p:pic>
        <p:nvPicPr>
          <p:cNvPr id="3" name="Picture 2" descr="lock.png"/>
          <p:cNvPicPr>
            <a:picLocks noChangeAspect="1"/>
          </p:cNvPicPr>
          <p:nvPr/>
        </p:nvPicPr>
        <p:blipFill>
          <a:blip r:embed="rId2"/>
          <a:stretch>
            <a:fillRect/>
          </a:stretch>
        </p:blipFill>
        <p:spPr>
          <a:xfrm>
            <a:off x="10488168" y="365760"/>
            <a:ext cx="1123340" cy="237744"/>
          </a:xfrm>
          <a:prstGeom prst="rect">
            <a:avLst/>
          </a:prstGeom>
        </p:spPr>
      </p:pic>
      <p:sp>
        <p:nvSpPr>
          <p:cNvPr id="4" name="Rectangle 3"/>
          <p:cNvSpPr/>
          <p:nvPr/>
        </p:nvSpPr>
        <p:spPr>
          <a:xfrm>
            <a:off x="566928" y="868680"/>
            <a:ext cx="11055096" cy="12801"/>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1060704"/>
            <a:ext cx="50292" cy="2743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749808" y="1042415"/>
            <a:ext cx="10872216" cy="310896"/>
          </a:xfrm>
          <a:prstGeom prst="rect">
            <a:avLst/>
          </a:prstGeom>
          <a:noFill/>
        </p:spPr>
        <p:txBody>
          <a:bodyPr wrap="square" anchor="t" lIns="0" rIns="0" tIns="0" bIns="0">
            <a:spAutoFit/>
          </a:bodyPr>
          <a:lstStyle/>
          <a:p>
            <a:pPr algn="l">
              <a:lnSpc>
                <a:spcPct val="125000"/>
              </a:lnSpc>
            </a:pPr>
            <a:r>
              <a:rPr sz="1450" b="1">
                <a:solidFill>
                  <a:srgbClr val="144B7F"/>
                </a:solidFill>
                <a:latin typeface="Meiryo"/>
                <a:ea typeface="Meiryo"/>
                <a:cs typeface="Meiryo"/>
              </a:rPr>
              <a:t>悩みは『社内での方向性』と『強みの活かし方』に集中している</a:t>
            </a:r>
          </a:p>
        </p:txBody>
      </p:sp>
      <p:sp>
        <p:nvSpPr>
          <p:cNvPr id="7" name="Rectangle 6"/>
          <p:cNvSpPr/>
          <p:nvPr/>
        </p:nvSpPr>
        <p:spPr>
          <a:xfrm>
            <a:off x="566928" y="6419088"/>
            <a:ext cx="11055096" cy="10972"/>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566928" y="6519672"/>
            <a:ext cx="10735056" cy="182880"/>
          </a:xfrm>
          <a:prstGeom prst="rect">
            <a:avLst/>
          </a:prstGeom>
          <a:noFill/>
        </p:spPr>
        <p:txBody>
          <a:bodyPr wrap="square" anchor="t" lIns="0" rIns="0" tIns="0" bIns="0">
            <a:spAutoFit/>
          </a:bodyPr>
          <a:lstStyle/>
          <a:p>
            <a:pPr algn="r">
              <a:lnSpc>
                <a:spcPct val="125000"/>
              </a:lnSpc>
            </a:pPr>
            <a:r>
              <a:rPr sz="750" b="0">
                <a:solidFill>
                  <a:srgbClr val="939EAC"/>
                </a:solidFill>
                <a:latin typeface="Meiryo"/>
                <a:ea typeface="Meiryo"/>
                <a:cs typeface="Meiryo"/>
              </a:rPr>
              <a:t>© Givin' Back Inc. All Rights Reserved.  |  Confidential</a:t>
            </a:r>
          </a:p>
        </p:txBody>
      </p:sp>
      <p:sp>
        <p:nvSpPr>
          <p:cNvPr id="9" name="TextBox 8"/>
          <p:cNvSpPr txBox="1"/>
          <p:nvPr/>
        </p:nvSpPr>
        <p:spPr>
          <a:xfrm>
            <a:off x="11329416" y="6501384"/>
            <a:ext cx="292608" cy="201168"/>
          </a:xfrm>
          <a:prstGeom prst="rect">
            <a:avLst/>
          </a:prstGeom>
          <a:noFill/>
        </p:spPr>
        <p:txBody>
          <a:bodyPr wrap="square" anchor="t" lIns="0" rIns="0" tIns="0" bIns="0">
            <a:spAutoFit/>
          </a:bodyPr>
          <a:lstStyle/>
          <a:p>
            <a:pPr algn="r">
              <a:lnSpc>
                <a:spcPct val="125000"/>
              </a:lnSpc>
            </a:pPr>
            <a:r>
              <a:rPr sz="900" b="1">
                <a:solidFill>
                  <a:srgbClr val="144B7F"/>
                </a:solidFill>
                <a:latin typeface="Meiryo"/>
                <a:ea typeface="Meiryo"/>
                <a:cs typeface="Meiryo"/>
              </a:rPr>
              <a:t>4</a:t>
            </a:r>
          </a:p>
        </p:txBody>
      </p:sp>
      <p:sp>
        <p:nvSpPr>
          <p:cNvPr id="10" name="Rounded Rectangle 9"/>
          <p:cNvSpPr/>
          <p:nvPr/>
        </p:nvSpPr>
        <p:spPr>
          <a:xfrm>
            <a:off x="566928" y="1627632"/>
            <a:ext cx="6144768" cy="3794760"/>
          </a:xfrm>
          <a:prstGeom prst="roundRect">
            <a:avLst>
              <a:gd name="adj" fmla="val 3500"/>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841247" y="1865376"/>
            <a:ext cx="5596128" cy="365760"/>
          </a:xfrm>
          <a:prstGeom prst="roundRect">
            <a:avLst>
              <a:gd name="adj" fmla="val 25000"/>
            </a:avLst>
          </a:prstGeom>
          <a:solidFill>
            <a:srgbClr val="144B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42415" y="1933956"/>
            <a:ext cx="5193792" cy="237744"/>
          </a:xfrm>
          <a:prstGeom prst="rect">
            <a:avLst/>
          </a:prstGeom>
          <a:noFill/>
        </p:spPr>
        <p:txBody>
          <a:bodyPr wrap="square" anchor="t" lIns="0" rIns="0" tIns="0" bIns="0">
            <a:spAutoFit/>
          </a:bodyPr>
          <a:lstStyle/>
          <a:p>
            <a:pPr algn="l">
              <a:lnSpc>
                <a:spcPct val="125000"/>
              </a:lnSpc>
            </a:pPr>
            <a:r>
              <a:rPr sz="1200" b="1">
                <a:solidFill>
                  <a:srgbClr val="FFFFFF"/>
                </a:solidFill>
                <a:latin typeface="Meiryo"/>
                <a:ea typeface="Meiryo"/>
                <a:cs typeface="Meiryo"/>
              </a:rPr>
              <a:t>受講前の悩み上位（複数回答）</a:t>
            </a:r>
          </a:p>
        </p:txBody>
      </p:sp>
      <p:sp>
        <p:nvSpPr>
          <p:cNvPr id="13" name="TextBox 12"/>
          <p:cNvSpPr txBox="1"/>
          <p:nvPr/>
        </p:nvSpPr>
        <p:spPr>
          <a:xfrm>
            <a:off x="841247" y="2468880"/>
            <a:ext cx="2331720" cy="256032"/>
          </a:xfrm>
          <a:prstGeom prst="rect">
            <a:avLst/>
          </a:prstGeom>
          <a:noFill/>
        </p:spPr>
        <p:txBody>
          <a:bodyPr wrap="square" anchor="t" lIns="0" rIns="0" tIns="0" bIns="0">
            <a:spAutoFit/>
          </a:bodyPr>
          <a:lstStyle/>
          <a:p>
            <a:pPr algn="l">
              <a:lnSpc>
                <a:spcPct val="125000"/>
              </a:lnSpc>
            </a:pPr>
            <a:r>
              <a:rPr sz="1100" b="0">
                <a:solidFill>
                  <a:srgbClr val="1E293B"/>
                </a:solidFill>
                <a:latin typeface="Meiryo"/>
                <a:ea typeface="Meiryo"/>
                <a:cs typeface="Meiryo"/>
              </a:rPr>
              <a:t>やりたいことが見えない</a:t>
            </a:r>
          </a:p>
        </p:txBody>
      </p:sp>
      <p:sp>
        <p:nvSpPr>
          <p:cNvPr id="14" name="Rectangle 13"/>
          <p:cNvSpPr/>
          <p:nvPr/>
        </p:nvSpPr>
        <p:spPr>
          <a:xfrm>
            <a:off x="3236976" y="2496312"/>
            <a:ext cx="2788920" cy="219456"/>
          </a:xfrm>
          <a:prstGeom prst="rect">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3236976" y="2496312"/>
            <a:ext cx="2558834" cy="219456"/>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117336" y="2478024"/>
            <a:ext cx="658368" cy="237744"/>
          </a:xfrm>
          <a:prstGeom prst="rect">
            <a:avLst/>
          </a:prstGeom>
          <a:noFill/>
        </p:spPr>
        <p:txBody>
          <a:bodyPr wrap="square" anchor="t" lIns="0" rIns="0" tIns="0" bIns="0">
            <a:spAutoFit/>
          </a:bodyPr>
          <a:lstStyle/>
          <a:p>
            <a:pPr algn="l">
              <a:lnSpc>
                <a:spcPct val="125000"/>
              </a:lnSpc>
            </a:pPr>
            <a:r>
              <a:rPr sz="1100" b="1">
                <a:solidFill>
                  <a:srgbClr val="144B7F"/>
                </a:solidFill>
                <a:latin typeface="Meiryo"/>
                <a:ea typeface="Meiryo"/>
                <a:cs typeface="Meiryo"/>
              </a:rPr>
              <a:t>36.7%</a:t>
            </a:r>
          </a:p>
        </p:txBody>
      </p:sp>
      <p:sp>
        <p:nvSpPr>
          <p:cNvPr id="17" name="TextBox 16"/>
          <p:cNvSpPr txBox="1"/>
          <p:nvPr/>
        </p:nvSpPr>
        <p:spPr>
          <a:xfrm>
            <a:off x="841247" y="3017520"/>
            <a:ext cx="2331720" cy="256032"/>
          </a:xfrm>
          <a:prstGeom prst="rect">
            <a:avLst/>
          </a:prstGeom>
          <a:noFill/>
        </p:spPr>
        <p:txBody>
          <a:bodyPr wrap="square" anchor="t" lIns="0" rIns="0" tIns="0" bIns="0">
            <a:spAutoFit/>
          </a:bodyPr>
          <a:lstStyle/>
          <a:p>
            <a:pPr algn="l">
              <a:lnSpc>
                <a:spcPct val="125000"/>
              </a:lnSpc>
            </a:pPr>
            <a:r>
              <a:rPr sz="1100" b="0">
                <a:solidFill>
                  <a:srgbClr val="1E293B"/>
                </a:solidFill>
                <a:latin typeface="Meiryo"/>
                <a:ea typeface="Meiryo"/>
                <a:cs typeface="Meiryo"/>
              </a:rPr>
              <a:t>強みの活かし方が不明</a:t>
            </a:r>
          </a:p>
        </p:txBody>
      </p:sp>
      <p:sp>
        <p:nvSpPr>
          <p:cNvPr id="18" name="Rectangle 17"/>
          <p:cNvSpPr/>
          <p:nvPr/>
        </p:nvSpPr>
        <p:spPr>
          <a:xfrm>
            <a:off x="3236976" y="3044952"/>
            <a:ext cx="2788920" cy="219456"/>
          </a:xfrm>
          <a:prstGeom prst="rect">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3236976" y="3044952"/>
            <a:ext cx="2419388" cy="219456"/>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117336" y="3026664"/>
            <a:ext cx="658368" cy="237744"/>
          </a:xfrm>
          <a:prstGeom prst="rect">
            <a:avLst/>
          </a:prstGeom>
          <a:noFill/>
        </p:spPr>
        <p:txBody>
          <a:bodyPr wrap="square" anchor="t" lIns="0" rIns="0" tIns="0" bIns="0">
            <a:spAutoFit/>
          </a:bodyPr>
          <a:lstStyle/>
          <a:p>
            <a:pPr algn="l">
              <a:lnSpc>
                <a:spcPct val="125000"/>
              </a:lnSpc>
            </a:pPr>
            <a:r>
              <a:rPr sz="1100" b="1">
                <a:solidFill>
                  <a:srgbClr val="144B7F"/>
                </a:solidFill>
                <a:latin typeface="Meiryo"/>
                <a:ea typeface="Meiryo"/>
                <a:cs typeface="Meiryo"/>
              </a:rPr>
              <a:t>34.7%</a:t>
            </a:r>
          </a:p>
        </p:txBody>
      </p:sp>
      <p:sp>
        <p:nvSpPr>
          <p:cNvPr id="21" name="TextBox 20"/>
          <p:cNvSpPr txBox="1"/>
          <p:nvPr/>
        </p:nvSpPr>
        <p:spPr>
          <a:xfrm>
            <a:off x="841247" y="3566160"/>
            <a:ext cx="2331720" cy="256032"/>
          </a:xfrm>
          <a:prstGeom prst="rect">
            <a:avLst/>
          </a:prstGeom>
          <a:noFill/>
        </p:spPr>
        <p:txBody>
          <a:bodyPr wrap="square" anchor="t" lIns="0" rIns="0" tIns="0" bIns="0">
            <a:spAutoFit/>
          </a:bodyPr>
          <a:lstStyle/>
          <a:p>
            <a:pPr algn="l">
              <a:lnSpc>
                <a:spcPct val="125000"/>
              </a:lnSpc>
            </a:pPr>
            <a:r>
              <a:rPr sz="1100" b="0">
                <a:solidFill>
                  <a:srgbClr val="1E293B"/>
                </a:solidFill>
                <a:latin typeface="Meiryo"/>
                <a:ea typeface="Meiryo"/>
                <a:cs typeface="Meiryo"/>
              </a:rPr>
              <a:t>自分の軸が分からない</a:t>
            </a:r>
          </a:p>
        </p:txBody>
      </p:sp>
      <p:sp>
        <p:nvSpPr>
          <p:cNvPr id="22" name="Rectangle 21"/>
          <p:cNvSpPr/>
          <p:nvPr/>
        </p:nvSpPr>
        <p:spPr>
          <a:xfrm>
            <a:off x="3236976" y="3593591"/>
            <a:ext cx="2788920" cy="219456"/>
          </a:xfrm>
          <a:prstGeom prst="rect">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3236976" y="3593591"/>
            <a:ext cx="1994077" cy="219456"/>
          </a:xfrm>
          <a:prstGeom prst="rect">
            <a:avLst/>
          </a:prstGeom>
          <a:solidFill>
            <a:srgbClr val="6F9A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117336" y="3575303"/>
            <a:ext cx="658368" cy="237744"/>
          </a:xfrm>
          <a:prstGeom prst="rect">
            <a:avLst/>
          </a:prstGeom>
          <a:noFill/>
        </p:spPr>
        <p:txBody>
          <a:bodyPr wrap="square" anchor="t" lIns="0" rIns="0" tIns="0" bIns="0">
            <a:spAutoFit/>
          </a:bodyPr>
          <a:lstStyle/>
          <a:p>
            <a:pPr algn="l">
              <a:lnSpc>
                <a:spcPct val="125000"/>
              </a:lnSpc>
            </a:pPr>
            <a:r>
              <a:rPr sz="1100" b="1">
                <a:solidFill>
                  <a:srgbClr val="144B7F"/>
                </a:solidFill>
                <a:latin typeface="Meiryo"/>
                <a:ea typeface="Meiryo"/>
                <a:cs typeface="Meiryo"/>
              </a:rPr>
              <a:t>28.6%</a:t>
            </a:r>
          </a:p>
        </p:txBody>
      </p:sp>
      <p:sp>
        <p:nvSpPr>
          <p:cNvPr id="25" name="TextBox 24"/>
          <p:cNvSpPr txBox="1"/>
          <p:nvPr/>
        </p:nvSpPr>
        <p:spPr>
          <a:xfrm>
            <a:off x="841247" y="4114800"/>
            <a:ext cx="2331720" cy="256032"/>
          </a:xfrm>
          <a:prstGeom prst="rect">
            <a:avLst/>
          </a:prstGeom>
          <a:noFill/>
        </p:spPr>
        <p:txBody>
          <a:bodyPr wrap="square" anchor="t" lIns="0" rIns="0" tIns="0" bIns="0">
            <a:spAutoFit/>
          </a:bodyPr>
          <a:lstStyle/>
          <a:p>
            <a:pPr algn="l">
              <a:lnSpc>
                <a:spcPct val="125000"/>
              </a:lnSpc>
            </a:pPr>
            <a:r>
              <a:rPr sz="1100" b="0">
                <a:solidFill>
                  <a:srgbClr val="1E293B"/>
                </a:solidFill>
                <a:latin typeface="Meiryo"/>
                <a:ea typeface="Meiryo"/>
                <a:cs typeface="Meiryo"/>
              </a:rPr>
              <a:t>見つけ方が分からない</a:t>
            </a:r>
          </a:p>
        </p:txBody>
      </p:sp>
      <p:sp>
        <p:nvSpPr>
          <p:cNvPr id="26" name="Rectangle 25"/>
          <p:cNvSpPr/>
          <p:nvPr/>
        </p:nvSpPr>
        <p:spPr>
          <a:xfrm>
            <a:off x="3236976" y="4142232"/>
            <a:ext cx="2788920" cy="219456"/>
          </a:xfrm>
          <a:prstGeom prst="rect">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3236976" y="4142232"/>
            <a:ext cx="1708213" cy="219456"/>
          </a:xfrm>
          <a:prstGeom prst="rect">
            <a:avLst/>
          </a:prstGeom>
          <a:solidFill>
            <a:srgbClr val="6F9A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117336" y="4123944"/>
            <a:ext cx="658368" cy="237744"/>
          </a:xfrm>
          <a:prstGeom prst="rect">
            <a:avLst/>
          </a:prstGeom>
          <a:noFill/>
        </p:spPr>
        <p:txBody>
          <a:bodyPr wrap="square" anchor="t" lIns="0" rIns="0" tIns="0" bIns="0">
            <a:spAutoFit/>
          </a:bodyPr>
          <a:lstStyle/>
          <a:p>
            <a:pPr algn="l">
              <a:lnSpc>
                <a:spcPct val="125000"/>
              </a:lnSpc>
            </a:pPr>
            <a:r>
              <a:rPr sz="1100" b="1">
                <a:solidFill>
                  <a:srgbClr val="144B7F"/>
                </a:solidFill>
                <a:latin typeface="Meiryo"/>
                <a:ea typeface="Meiryo"/>
                <a:cs typeface="Meiryo"/>
              </a:rPr>
              <a:t>24.5%</a:t>
            </a:r>
          </a:p>
        </p:txBody>
      </p:sp>
      <p:sp>
        <p:nvSpPr>
          <p:cNvPr id="29" name="TextBox 28"/>
          <p:cNvSpPr txBox="1"/>
          <p:nvPr/>
        </p:nvSpPr>
        <p:spPr>
          <a:xfrm>
            <a:off x="841247" y="4663440"/>
            <a:ext cx="2331720" cy="256032"/>
          </a:xfrm>
          <a:prstGeom prst="rect">
            <a:avLst/>
          </a:prstGeom>
          <a:noFill/>
        </p:spPr>
        <p:txBody>
          <a:bodyPr wrap="square" anchor="t" lIns="0" rIns="0" tIns="0" bIns="0">
            <a:spAutoFit/>
          </a:bodyPr>
          <a:lstStyle/>
          <a:p>
            <a:pPr algn="l">
              <a:lnSpc>
                <a:spcPct val="125000"/>
              </a:lnSpc>
            </a:pPr>
            <a:r>
              <a:rPr sz="1100" b="0">
                <a:solidFill>
                  <a:srgbClr val="1E293B"/>
                </a:solidFill>
                <a:latin typeface="Meiryo"/>
                <a:ea typeface="Meiryo"/>
                <a:cs typeface="Meiryo"/>
              </a:rPr>
              <a:t>始め方が分からない</a:t>
            </a:r>
          </a:p>
        </p:txBody>
      </p:sp>
      <p:sp>
        <p:nvSpPr>
          <p:cNvPr id="30" name="Rectangle 29"/>
          <p:cNvSpPr/>
          <p:nvPr/>
        </p:nvSpPr>
        <p:spPr>
          <a:xfrm>
            <a:off x="3236976" y="4690872"/>
            <a:ext cx="2788920" cy="219456"/>
          </a:xfrm>
          <a:prstGeom prst="rect">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3236976" y="4690872"/>
            <a:ext cx="1422349" cy="219456"/>
          </a:xfrm>
          <a:prstGeom prst="rect">
            <a:avLst/>
          </a:prstGeom>
          <a:solidFill>
            <a:srgbClr val="6F9AC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6117336" y="4672584"/>
            <a:ext cx="658368" cy="237744"/>
          </a:xfrm>
          <a:prstGeom prst="rect">
            <a:avLst/>
          </a:prstGeom>
          <a:noFill/>
        </p:spPr>
        <p:txBody>
          <a:bodyPr wrap="square" anchor="t" lIns="0" rIns="0" tIns="0" bIns="0">
            <a:spAutoFit/>
          </a:bodyPr>
          <a:lstStyle/>
          <a:p>
            <a:pPr algn="l">
              <a:lnSpc>
                <a:spcPct val="125000"/>
              </a:lnSpc>
            </a:pPr>
            <a:r>
              <a:rPr sz="1100" b="1">
                <a:solidFill>
                  <a:srgbClr val="144B7F"/>
                </a:solidFill>
                <a:latin typeface="Meiryo"/>
                <a:ea typeface="Meiryo"/>
                <a:cs typeface="Meiryo"/>
              </a:rPr>
              <a:t>20.4%</a:t>
            </a:r>
          </a:p>
        </p:txBody>
      </p:sp>
      <p:sp>
        <p:nvSpPr>
          <p:cNvPr id="33" name="Rounded Rectangle 32"/>
          <p:cNvSpPr/>
          <p:nvPr/>
        </p:nvSpPr>
        <p:spPr>
          <a:xfrm>
            <a:off x="6949440" y="1627632"/>
            <a:ext cx="4672584" cy="3794760"/>
          </a:xfrm>
          <a:prstGeom prst="roundRect">
            <a:avLst>
              <a:gd name="adj" fmla="val 3500"/>
            </a:avLst>
          </a:prstGeom>
          <a:solidFill>
            <a:srgbClr val="FDECED"/>
          </a:solidFill>
          <a:ln w="12700">
            <a:solidFill>
              <a:srgbClr val="F6C8C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ounded Rectangle 33"/>
          <p:cNvSpPr/>
          <p:nvPr/>
        </p:nvSpPr>
        <p:spPr>
          <a:xfrm>
            <a:off x="7223760" y="1865376"/>
            <a:ext cx="4123944" cy="365760"/>
          </a:xfrm>
          <a:prstGeom prst="roundRect">
            <a:avLst>
              <a:gd name="adj" fmla="val 25000"/>
            </a:avLst>
          </a:prstGeom>
          <a:solidFill>
            <a:srgbClr val="144B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7424928" y="1933956"/>
            <a:ext cx="3721608" cy="237744"/>
          </a:xfrm>
          <a:prstGeom prst="rect">
            <a:avLst/>
          </a:prstGeom>
          <a:noFill/>
        </p:spPr>
        <p:txBody>
          <a:bodyPr wrap="square" anchor="t" lIns="0" rIns="0" tIns="0" bIns="0">
            <a:spAutoFit/>
          </a:bodyPr>
          <a:lstStyle/>
          <a:p>
            <a:pPr algn="l">
              <a:lnSpc>
                <a:spcPct val="125000"/>
              </a:lnSpc>
            </a:pPr>
            <a:r>
              <a:rPr sz="1200" b="1">
                <a:solidFill>
                  <a:srgbClr val="FFFFFF"/>
                </a:solidFill>
                <a:latin typeface="Meiryo"/>
                <a:ea typeface="Meiryo"/>
                <a:cs typeface="Meiryo"/>
              </a:rPr>
              <a:t>『協働』と『提案』のギャップ</a:t>
            </a:r>
          </a:p>
        </p:txBody>
      </p:sp>
      <p:sp>
        <p:nvSpPr>
          <p:cNvPr id="36" name="Rounded Rectangle 35"/>
          <p:cNvSpPr/>
          <p:nvPr/>
        </p:nvSpPr>
        <p:spPr>
          <a:xfrm>
            <a:off x="7223760" y="2432304"/>
            <a:ext cx="4123944" cy="694944"/>
          </a:xfrm>
          <a:prstGeom prst="roundRect">
            <a:avLst>
              <a:gd name="adj" fmla="val 12000"/>
            </a:avLst>
          </a:prstGeom>
          <a:solidFill>
            <a:srgbClr val="FFFFFF"/>
          </a:solidFill>
          <a:ln w="12700">
            <a:solidFill>
              <a:srgbClr val="F2D3D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7424928" y="2651760"/>
            <a:ext cx="1828800" cy="274320"/>
          </a:xfrm>
          <a:prstGeom prst="rect">
            <a:avLst/>
          </a:prstGeom>
          <a:noFill/>
        </p:spPr>
        <p:txBody>
          <a:bodyPr wrap="square" anchor="t" lIns="0" rIns="0" tIns="0" bIns="0">
            <a:spAutoFit/>
          </a:bodyPr>
          <a:lstStyle/>
          <a:p>
            <a:pPr algn="l">
              <a:lnSpc>
                <a:spcPct val="125000"/>
              </a:lnSpc>
            </a:pPr>
            <a:r>
              <a:rPr sz="1150" b="0">
                <a:solidFill>
                  <a:srgbClr val="1E293B"/>
                </a:solidFill>
                <a:latin typeface="Meiryo"/>
                <a:ea typeface="Meiryo"/>
                <a:cs typeface="Meiryo"/>
              </a:rPr>
              <a:t>周囲との協力</a:t>
            </a:r>
          </a:p>
        </p:txBody>
      </p:sp>
      <p:sp>
        <p:nvSpPr>
          <p:cNvPr id="38" name="TextBox 37"/>
          <p:cNvSpPr txBox="1"/>
          <p:nvPr/>
        </p:nvSpPr>
        <p:spPr>
          <a:xfrm>
            <a:off x="9144000" y="2532888"/>
            <a:ext cx="1280160" cy="420624"/>
          </a:xfrm>
          <a:prstGeom prst="rect">
            <a:avLst/>
          </a:prstGeom>
          <a:noFill/>
        </p:spPr>
        <p:txBody>
          <a:bodyPr wrap="square" anchor="t" lIns="0" rIns="0" tIns="0" bIns="0">
            <a:spAutoFit/>
          </a:bodyPr>
          <a:lstStyle/>
          <a:p>
            <a:pPr algn="r">
              <a:lnSpc>
                <a:spcPct val="125000"/>
              </a:lnSpc>
            </a:pPr>
            <a:r>
              <a:rPr sz="2200" b="1">
                <a:solidFill>
                  <a:srgbClr val="144B7F"/>
                </a:solidFill>
                <a:latin typeface="Meiryo"/>
                <a:ea typeface="Meiryo"/>
                <a:cs typeface="Meiryo"/>
              </a:rPr>
              <a:t>8.02</a:t>
            </a:r>
          </a:p>
        </p:txBody>
      </p:sp>
      <p:sp>
        <p:nvSpPr>
          <p:cNvPr id="39" name="TextBox 38"/>
          <p:cNvSpPr txBox="1"/>
          <p:nvPr/>
        </p:nvSpPr>
        <p:spPr>
          <a:xfrm>
            <a:off x="10442448" y="2688336"/>
            <a:ext cx="548640" cy="237744"/>
          </a:xfrm>
          <a:prstGeom prst="rect">
            <a:avLst/>
          </a:prstGeom>
          <a:noFill/>
        </p:spPr>
        <p:txBody>
          <a:bodyPr wrap="square" anchor="t" lIns="0" rIns="0" tIns="0" bIns="0">
            <a:spAutoFit/>
          </a:bodyPr>
          <a:lstStyle/>
          <a:p>
            <a:pPr algn="l">
              <a:lnSpc>
                <a:spcPct val="125000"/>
              </a:lnSpc>
            </a:pPr>
            <a:r>
              <a:rPr sz="1000" b="0">
                <a:solidFill>
                  <a:srgbClr val="6B7787"/>
                </a:solidFill>
                <a:latin typeface="Meiryo"/>
                <a:ea typeface="Meiryo"/>
                <a:cs typeface="Meiryo"/>
              </a:rPr>
              <a:t>／10</a:t>
            </a:r>
          </a:p>
        </p:txBody>
      </p:sp>
      <p:sp>
        <p:nvSpPr>
          <p:cNvPr id="40" name="Rounded Rectangle 39"/>
          <p:cNvSpPr/>
          <p:nvPr/>
        </p:nvSpPr>
        <p:spPr>
          <a:xfrm>
            <a:off x="7223760" y="3273552"/>
            <a:ext cx="4123944" cy="694944"/>
          </a:xfrm>
          <a:prstGeom prst="roundRect">
            <a:avLst>
              <a:gd name="adj" fmla="val 12000"/>
            </a:avLst>
          </a:prstGeom>
          <a:solidFill>
            <a:srgbClr val="FFFFFF"/>
          </a:solidFill>
          <a:ln w="12700">
            <a:solidFill>
              <a:srgbClr val="F2D3D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7424928" y="3493008"/>
            <a:ext cx="1828800" cy="274320"/>
          </a:xfrm>
          <a:prstGeom prst="rect">
            <a:avLst/>
          </a:prstGeom>
          <a:noFill/>
        </p:spPr>
        <p:txBody>
          <a:bodyPr wrap="square" anchor="t" lIns="0" rIns="0" tIns="0" bIns="0">
            <a:spAutoFit/>
          </a:bodyPr>
          <a:lstStyle/>
          <a:p>
            <a:pPr algn="l">
              <a:lnSpc>
                <a:spcPct val="125000"/>
              </a:lnSpc>
            </a:pPr>
            <a:r>
              <a:rPr sz="1150" b="0">
                <a:solidFill>
                  <a:srgbClr val="1E293B"/>
                </a:solidFill>
                <a:latin typeface="Meiryo"/>
                <a:ea typeface="Meiryo"/>
                <a:cs typeface="Meiryo"/>
              </a:rPr>
              <a:t>率先した提案</a:t>
            </a:r>
          </a:p>
        </p:txBody>
      </p:sp>
      <p:sp>
        <p:nvSpPr>
          <p:cNvPr id="42" name="TextBox 41"/>
          <p:cNvSpPr txBox="1"/>
          <p:nvPr/>
        </p:nvSpPr>
        <p:spPr>
          <a:xfrm>
            <a:off x="9144000" y="3374136"/>
            <a:ext cx="1280160" cy="420624"/>
          </a:xfrm>
          <a:prstGeom prst="rect">
            <a:avLst/>
          </a:prstGeom>
          <a:noFill/>
        </p:spPr>
        <p:txBody>
          <a:bodyPr wrap="square" anchor="t" lIns="0" rIns="0" tIns="0" bIns="0">
            <a:spAutoFit/>
          </a:bodyPr>
          <a:lstStyle/>
          <a:p>
            <a:pPr algn="r">
              <a:lnSpc>
                <a:spcPct val="125000"/>
              </a:lnSpc>
            </a:pPr>
            <a:r>
              <a:rPr sz="2200" b="1">
                <a:solidFill>
                  <a:srgbClr val="E0454B"/>
                </a:solidFill>
                <a:latin typeface="Meiryo"/>
                <a:ea typeface="Meiryo"/>
                <a:cs typeface="Meiryo"/>
              </a:rPr>
              <a:t>5.38</a:t>
            </a:r>
          </a:p>
        </p:txBody>
      </p:sp>
      <p:sp>
        <p:nvSpPr>
          <p:cNvPr id="43" name="TextBox 42"/>
          <p:cNvSpPr txBox="1"/>
          <p:nvPr/>
        </p:nvSpPr>
        <p:spPr>
          <a:xfrm>
            <a:off x="10442448" y="3529584"/>
            <a:ext cx="548640" cy="237744"/>
          </a:xfrm>
          <a:prstGeom prst="rect">
            <a:avLst/>
          </a:prstGeom>
          <a:noFill/>
        </p:spPr>
        <p:txBody>
          <a:bodyPr wrap="square" anchor="t" lIns="0" rIns="0" tIns="0" bIns="0">
            <a:spAutoFit/>
          </a:bodyPr>
          <a:lstStyle/>
          <a:p>
            <a:pPr algn="l">
              <a:lnSpc>
                <a:spcPct val="125000"/>
              </a:lnSpc>
            </a:pPr>
            <a:r>
              <a:rPr sz="1000" b="0">
                <a:solidFill>
                  <a:srgbClr val="6B7787"/>
                </a:solidFill>
                <a:latin typeface="Meiryo"/>
                <a:ea typeface="Meiryo"/>
                <a:cs typeface="Meiryo"/>
              </a:rPr>
              <a:t>／10</a:t>
            </a:r>
          </a:p>
        </p:txBody>
      </p:sp>
      <p:sp>
        <p:nvSpPr>
          <p:cNvPr id="44" name="TextBox 43"/>
          <p:cNvSpPr txBox="1"/>
          <p:nvPr/>
        </p:nvSpPr>
        <p:spPr>
          <a:xfrm>
            <a:off x="7242048" y="4224528"/>
            <a:ext cx="201168" cy="237744"/>
          </a:xfrm>
          <a:prstGeom prst="rect">
            <a:avLst/>
          </a:prstGeom>
          <a:noFill/>
        </p:spPr>
        <p:txBody>
          <a:bodyPr wrap="square" anchor="t" lIns="0" rIns="0" tIns="0" bIns="0">
            <a:spAutoFit/>
          </a:bodyPr>
          <a:lstStyle/>
          <a:p>
            <a:pPr algn="l">
              <a:lnSpc>
                <a:spcPct val="125000"/>
              </a:lnSpc>
            </a:pPr>
            <a:r>
              <a:rPr sz="1150" b="1">
                <a:solidFill>
                  <a:srgbClr val="F96167"/>
                </a:solidFill>
                <a:latin typeface="Meiryo"/>
                <a:ea typeface="Meiryo"/>
                <a:cs typeface="Meiryo"/>
              </a:rPr>
              <a:t>✓</a:t>
            </a:r>
          </a:p>
        </p:txBody>
      </p:sp>
      <p:sp>
        <p:nvSpPr>
          <p:cNvPr id="45" name="TextBox 44"/>
          <p:cNvSpPr txBox="1"/>
          <p:nvPr/>
        </p:nvSpPr>
        <p:spPr>
          <a:xfrm>
            <a:off x="7479792" y="4224528"/>
            <a:ext cx="3849624" cy="237744"/>
          </a:xfrm>
          <a:prstGeom prst="rect">
            <a:avLst/>
          </a:prstGeom>
          <a:noFill/>
        </p:spPr>
        <p:txBody>
          <a:bodyPr wrap="square" anchor="t" lIns="0" rIns="0" tIns="0" bIns="0">
            <a:spAutoFit/>
          </a:bodyPr>
          <a:lstStyle/>
          <a:p>
            <a:pPr algn="l">
              <a:lnSpc>
                <a:spcPct val="125000"/>
              </a:lnSpc>
            </a:pPr>
            <a:r>
              <a:rPr sz="1150" b="0">
                <a:solidFill>
                  <a:srgbClr val="1E293B"/>
                </a:solidFill>
                <a:latin typeface="Meiryo"/>
                <a:ea typeface="Meiryo"/>
                <a:cs typeface="Meiryo"/>
              </a:rPr>
              <a:t>協力8点以上・提案5点以下が 38.8%</a:t>
            </a:r>
          </a:p>
        </p:txBody>
      </p:sp>
      <p:sp>
        <p:nvSpPr>
          <p:cNvPr id="46" name="TextBox 45"/>
          <p:cNvSpPr txBox="1"/>
          <p:nvPr/>
        </p:nvSpPr>
        <p:spPr>
          <a:xfrm>
            <a:off x="7242048" y="4626864"/>
            <a:ext cx="201168" cy="237744"/>
          </a:xfrm>
          <a:prstGeom prst="rect">
            <a:avLst/>
          </a:prstGeom>
          <a:noFill/>
        </p:spPr>
        <p:txBody>
          <a:bodyPr wrap="square" anchor="t" lIns="0" rIns="0" tIns="0" bIns="0">
            <a:spAutoFit/>
          </a:bodyPr>
          <a:lstStyle/>
          <a:p>
            <a:pPr algn="l">
              <a:lnSpc>
                <a:spcPct val="125000"/>
              </a:lnSpc>
            </a:pPr>
            <a:r>
              <a:rPr sz="1150" b="1">
                <a:solidFill>
                  <a:srgbClr val="F96167"/>
                </a:solidFill>
                <a:latin typeface="Meiryo"/>
                <a:ea typeface="Meiryo"/>
                <a:cs typeface="Meiryo"/>
              </a:rPr>
              <a:t>✓</a:t>
            </a:r>
          </a:p>
        </p:txBody>
      </p:sp>
      <p:sp>
        <p:nvSpPr>
          <p:cNvPr id="47" name="TextBox 46"/>
          <p:cNvSpPr txBox="1"/>
          <p:nvPr/>
        </p:nvSpPr>
        <p:spPr>
          <a:xfrm>
            <a:off x="7479792" y="4626864"/>
            <a:ext cx="3849624" cy="237744"/>
          </a:xfrm>
          <a:prstGeom prst="rect">
            <a:avLst/>
          </a:prstGeom>
          <a:noFill/>
        </p:spPr>
        <p:txBody>
          <a:bodyPr wrap="square" anchor="t" lIns="0" rIns="0" tIns="0" bIns="0">
            <a:spAutoFit/>
          </a:bodyPr>
          <a:lstStyle/>
          <a:p>
            <a:pPr algn="l">
              <a:lnSpc>
                <a:spcPct val="125000"/>
              </a:lnSpc>
            </a:pPr>
            <a:r>
              <a:rPr sz="1150" b="0">
                <a:solidFill>
                  <a:srgbClr val="1E293B"/>
                </a:solidFill>
                <a:latin typeface="Meiryo"/>
                <a:ea typeface="Meiryo"/>
                <a:cs typeface="Meiryo"/>
              </a:rPr>
              <a:t>協働の土台はあるが、意思を行動に変えにくい</a:t>
            </a:r>
          </a:p>
        </p:txBody>
      </p:sp>
      <p:sp>
        <p:nvSpPr>
          <p:cNvPr id="48" name="Rounded Rectangle 47"/>
          <p:cNvSpPr/>
          <p:nvPr/>
        </p:nvSpPr>
        <p:spPr>
          <a:xfrm>
            <a:off x="566928" y="5596128"/>
            <a:ext cx="11055096" cy="566928"/>
          </a:xfrm>
          <a:prstGeom prst="roundRect">
            <a:avLst>
              <a:gd name="adj" fmla="val 16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804672" y="5760720"/>
            <a:ext cx="10579608" cy="274320"/>
          </a:xfrm>
          <a:prstGeom prst="rect">
            <a:avLst/>
          </a:prstGeom>
          <a:noFill/>
        </p:spPr>
        <p:txBody>
          <a:bodyPr wrap="square" anchor="t" lIns="0" rIns="0" tIns="0" bIns="0">
            <a:spAutoFit/>
          </a:bodyPr>
          <a:lstStyle/>
          <a:p>
            <a:pPr algn="l">
              <a:lnSpc>
                <a:spcPct val="125000"/>
              </a:lnSpc>
            </a:pPr>
            <a:r>
              <a:rPr sz="1200" b="1">
                <a:solidFill>
                  <a:srgbClr val="144B7F"/>
                </a:solidFill>
                <a:latin typeface="Meiryo"/>
                <a:ea typeface="Meiryo"/>
                <a:cs typeface="Meiryo"/>
              </a:rPr>
              <a:t>主体性がないのではなく、方向性を言語化し、仕事で試す方法が見えていない可能性があります。</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9683496" cy="384048"/>
          </a:xfrm>
          <a:prstGeom prst="rect">
            <a:avLst/>
          </a:prstGeom>
          <a:noFill/>
        </p:spPr>
        <p:txBody>
          <a:bodyPr wrap="square" anchor="t" lIns="0" rIns="0" tIns="0" bIns="0">
            <a:spAutoFit/>
          </a:bodyPr>
          <a:lstStyle/>
          <a:p>
            <a:pPr algn="l">
              <a:lnSpc>
                <a:spcPct val="125000"/>
              </a:lnSpc>
            </a:pPr>
            <a:r>
              <a:rPr sz="2100" b="1">
                <a:solidFill>
                  <a:srgbClr val="144B7F"/>
                </a:solidFill>
                <a:latin typeface="Meiryo"/>
                <a:ea typeface="Meiryo"/>
                <a:cs typeface="Meiryo"/>
              </a:rPr>
              <a:t>WHAT｜CoreUniqが支援すること</a:t>
            </a:r>
          </a:p>
        </p:txBody>
      </p:sp>
      <p:pic>
        <p:nvPicPr>
          <p:cNvPr id="3" name="Picture 2" descr="lock.png"/>
          <p:cNvPicPr>
            <a:picLocks noChangeAspect="1"/>
          </p:cNvPicPr>
          <p:nvPr/>
        </p:nvPicPr>
        <p:blipFill>
          <a:blip r:embed="rId2"/>
          <a:stretch>
            <a:fillRect/>
          </a:stretch>
        </p:blipFill>
        <p:spPr>
          <a:xfrm>
            <a:off x="10488168" y="365760"/>
            <a:ext cx="1123340" cy="237744"/>
          </a:xfrm>
          <a:prstGeom prst="rect">
            <a:avLst/>
          </a:prstGeom>
        </p:spPr>
      </p:pic>
      <p:sp>
        <p:nvSpPr>
          <p:cNvPr id="4" name="Rectangle 3"/>
          <p:cNvSpPr/>
          <p:nvPr/>
        </p:nvSpPr>
        <p:spPr>
          <a:xfrm>
            <a:off x="566928" y="868680"/>
            <a:ext cx="11055096" cy="12801"/>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1060704"/>
            <a:ext cx="50292" cy="2743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749808" y="1042415"/>
            <a:ext cx="10872216" cy="310896"/>
          </a:xfrm>
          <a:prstGeom prst="rect">
            <a:avLst/>
          </a:prstGeom>
          <a:noFill/>
        </p:spPr>
        <p:txBody>
          <a:bodyPr wrap="square" anchor="t" lIns="0" rIns="0" tIns="0" bIns="0">
            <a:spAutoFit/>
          </a:bodyPr>
          <a:lstStyle/>
          <a:p>
            <a:pPr algn="l">
              <a:lnSpc>
                <a:spcPct val="125000"/>
              </a:lnSpc>
            </a:pPr>
            <a:r>
              <a:rPr sz="1450" b="1">
                <a:solidFill>
                  <a:srgbClr val="144B7F"/>
                </a:solidFill>
                <a:latin typeface="Meiryo"/>
                <a:ea typeface="Meiryo"/>
                <a:cs typeface="Meiryo"/>
              </a:rPr>
              <a:t>研修で終わらず、若手の行動変容と役割形成まで伴走する</a:t>
            </a:r>
          </a:p>
        </p:txBody>
      </p:sp>
      <p:sp>
        <p:nvSpPr>
          <p:cNvPr id="7" name="Rectangle 6"/>
          <p:cNvSpPr/>
          <p:nvPr/>
        </p:nvSpPr>
        <p:spPr>
          <a:xfrm>
            <a:off x="566928" y="6419088"/>
            <a:ext cx="11055096" cy="10972"/>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566928" y="6519672"/>
            <a:ext cx="10735056" cy="182880"/>
          </a:xfrm>
          <a:prstGeom prst="rect">
            <a:avLst/>
          </a:prstGeom>
          <a:noFill/>
        </p:spPr>
        <p:txBody>
          <a:bodyPr wrap="square" anchor="t" lIns="0" rIns="0" tIns="0" bIns="0">
            <a:spAutoFit/>
          </a:bodyPr>
          <a:lstStyle/>
          <a:p>
            <a:pPr algn="r">
              <a:lnSpc>
                <a:spcPct val="125000"/>
              </a:lnSpc>
            </a:pPr>
            <a:r>
              <a:rPr sz="750" b="0">
                <a:solidFill>
                  <a:srgbClr val="939EAC"/>
                </a:solidFill>
                <a:latin typeface="Meiryo"/>
                <a:ea typeface="Meiryo"/>
                <a:cs typeface="Meiryo"/>
              </a:rPr>
              <a:t>© Givin' Back Inc. All Rights Reserved.  |  Confidential</a:t>
            </a:r>
          </a:p>
        </p:txBody>
      </p:sp>
      <p:sp>
        <p:nvSpPr>
          <p:cNvPr id="9" name="TextBox 8"/>
          <p:cNvSpPr txBox="1"/>
          <p:nvPr/>
        </p:nvSpPr>
        <p:spPr>
          <a:xfrm>
            <a:off x="11329416" y="6501384"/>
            <a:ext cx="292608" cy="201168"/>
          </a:xfrm>
          <a:prstGeom prst="rect">
            <a:avLst/>
          </a:prstGeom>
          <a:noFill/>
        </p:spPr>
        <p:txBody>
          <a:bodyPr wrap="square" anchor="t" lIns="0" rIns="0" tIns="0" bIns="0">
            <a:spAutoFit/>
          </a:bodyPr>
          <a:lstStyle/>
          <a:p>
            <a:pPr algn="r">
              <a:lnSpc>
                <a:spcPct val="125000"/>
              </a:lnSpc>
            </a:pPr>
            <a:r>
              <a:rPr sz="900" b="1">
                <a:solidFill>
                  <a:srgbClr val="144B7F"/>
                </a:solidFill>
                <a:latin typeface="Meiryo"/>
                <a:ea typeface="Meiryo"/>
                <a:cs typeface="Meiryo"/>
              </a:rPr>
              <a:t>5</a:t>
            </a:r>
          </a:p>
        </p:txBody>
      </p:sp>
      <p:sp>
        <p:nvSpPr>
          <p:cNvPr id="10" name="Rounded Rectangle 9"/>
          <p:cNvSpPr/>
          <p:nvPr/>
        </p:nvSpPr>
        <p:spPr>
          <a:xfrm>
            <a:off x="566928" y="1664208"/>
            <a:ext cx="11055096" cy="1572768"/>
          </a:xfrm>
          <a:prstGeom prst="roundRect">
            <a:avLst>
              <a:gd name="adj" fmla="val 10000"/>
            </a:avLst>
          </a:prstGeom>
          <a:solidFill>
            <a:srgbClr val="144B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24128" y="1938528"/>
            <a:ext cx="2926080" cy="548640"/>
          </a:xfrm>
          <a:prstGeom prst="rect">
            <a:avLst/>
          </a:prstGeom>
          <a:noFill/>
        </p:spPr>
        <p:txBody>
          <a:bodyPr wrap="square" anchor="t" lIns="0" rIns="0" tIns="0" bIns="0">
            <a:spAutoFit/>
          </a:bodyPr>
          <a:lstStyle/>
          <a:p>
            <a:pPr algn="l">
              <a:lnSpc>
                <a:spcPct val="125000"/>
              </a:lnSpc>
            </a:pPr>
            <a:r>
              <a:rPr sz="3000" b="1">
                <a:solidFill>
                  <a:srgbClr val="FFFFFF"/>
                </a:solidFill>
                <a:latin typeface="Meiryo"/>
                <a:ea typeface="Meiryo"/>
                <a:cs typeface="Meiryo"/>
              </a:rPr>
              <a:t>CoreUniq</a:t>
            </a:r>
          </a:p>
        </p:txBody>
      </p:sp>
      <p:sp>
        <p:nvSpPr>
          <p:cNvPr id="12" name="TextBox 11"/>
          <p:cNvSpPr txBox="1"/>
          <p:nvPr/>
        </p:nvSpPr>
        <p:spPr>
          <a:xfrm>
            <a:off x="4315968" y="1920240"/>
            <a:ext cx="6848856" cy="1005840"/>
          </a:xfrm>
          <a:prstGeom prst="rect">
            <a:avLst/>
          </a:prstGeom>
          <a:noFill/>
        </p:spPr>
        <p:txBody>
          <a:bodyPr wrap="square" anchor="t" lIns="0" rIns="0" tIns="0" bIns="0">
            <a:spAutoFit/>
          </a:bodyPr>
          <a:lstStyle/>
          <a:p>
            <a:pPr algn="l">
              <a:lnSpc>
                <a:spcPct val="140000"/>
              </a:lnSpc>
            </a:pPr>
            <a:r>
              <a:rPr sz="1400" b="1">
                <a:solidFill>
                  <a:srgbClr val="E9F0F8"/>
                </a:solidFill>
                <a:latin typeface="Meiryo"/>
                <a:ea typeface="Meiryo"/>
                <a:cs typeface="Meiryo"/>
              </a:rPr>
              <a:t>キャリア開発を起点に、現場での実践・対話・役割形成を</a:t>
            </a:r>
          </a:p>
          <a:p>
            <a:pPr algn="l">
              <a:lnSpc>
                <a:spcPct val="140000"/>
              </a:lnSpc>
            </a:pPr>
            <a:r>
              <a:rPr sz="1400" b="1">
                <a:solidFill>
                  <a:srgbClr val="E9F0F8"/>
                </a:solidFill>
                <a:latin typeface="Meiryo"/>
                <a:ea typeface="Meiryo"/>
                <a:cs typeface="Meiryo"/>
              </a:rPr>
              <a:t>半年〜年間で支える若手活躍支援プログラムです。</a:t>
            </a:r>
          </a:p>
        </p:txBody>
      </p:sp>
      <p:sp>
        <p:nvSpPr>
          <p:cNvPr id="13" name="Rounded Rectangle 12"/>
          <p:cNvSpPr/>
          <p:nvPr/>
        </p:nvSpPr>
        <p:spPr>
          <a:xfrm>
            <a:off x="566928" y="3566160"/>
            <a:ext cx="3288792" cy="1874519"/>
          </a:xfrm>
          <a:prstGeom prst="roundRect">
            <a:avLst>
              <a:gd name="adj" fmla="val 3500"/>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566928" y="3566160"/>
            <a:ext cx="3288792" cy="91440"/>
          </a:xfrm>
          <a:prstGeom prst="rect">
            <a:avLst/>
          </a:prstGeom>
          <a:solidFill>
            <a:srgbClr val="144B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04672" y="3858768"/>
            <a:ext cx="2813304" cy="310896"/>
          </a:xfrm>
          <a:prstGeom prst="rect">
            <a:avLst/>
          </a:prstGeom>
          <a:noFill/>
        </p:spPr>
        <p:txBody>
          <a:bodyPr wrap="square" anchor="t" lIns="0" rIns="0" tIns="0" bIns="0">
            <a:spAutoFit/>
          </a:bodyPr>
          <a:lstStyle/>
          <a:p>
            <a:pPr algn="l">
              <a:lnSpc>
                <a:spcPct val="125000"/>
              </a:lnSpc>
            </a:pPr>
            <a:r>
              <a:rPr sz="1400" b="1">
                <a:solidFill>
                  <a:srgbClr val="144B7F"/>
                </a:solidFill>
                <a:latin typeface="Meiryo"/>
                <a:ea typeface="Meiryo"/>
                <a:cs typeface="Meiryo"/>
              </a:rPr>
              <a:t>キャリア開発</a:t>
            </a:r>
          </a:p>
        </p:txBody>
      </p:sp>
      <p:sp>
        <p:nvSpPr>
          <p:cNvPr id="16" name="TextBox 15"/>
          <p:cNvSpPr txBox="1"/>
          <p:nvPr/>
        </p:nvSpPr>
        <p:spPr>
          <a:xfrm>
            <a:off x="804672" y="4334256"/>
            <a:ext cx="2813304" cy="914400"/>
          </a:xfrm>
          <a:prstGeom prst="rect">
            <a:avLst/>
          </a:prstGeom>
          <a:noFill/>
        </p:spPr>
        <p:txBody>
          <a:bodyPr wrap="square" anchor="t" lIns="0" rIns="0" tIns="0" bIns="0">
            <a:spAutoFit/>
          </a:bodyPr>
          <a:lstStyle/>
          <a:p>
            <a:pPr algn="l">
              <a:lnSpc>
                <a:spcPct val="135000"/>
              </a:lnSpc>
            </a:pPr>
            <a:r>
              <a:rPr sz="1150" b="0">
                <a:solidFill>
                  <a:srgbClr val="1E293B"/>
                </a:solidFill>
                <a:latin typeface="Meiryo"/>
                <a:ea typeface="Meiryo"/>
                <a:cs typeface="Meiryo"/>
              </a:rPr>
              <a:t>強み・価値観・目指す姿を</a:t>
            </a:r>
          </a:p>
          <a:p>
            <a:pPr algn="l">
              <a:lnSpc>
                <a:spcPct val="135000"/>
              </a:lnSpc>
            </a:pPr>
            <a:r>
              <a:rPr sz="1150" b="0">
                <a:solidFill>
                  <a:srgbClr val="1E293B"/>
                </a:solidFill>
                <a:latin typeface="Meiryo"/>
                <a:ea typeface="Meiryo"/>
                <a:cs typeface="Meiryo"/>
              </a:rPr>
              <a:t>自分の言葉で整理する</a:t>
            </a:r>
          </a:p>
        </p:txBody>
      </p:sp>
      <p:sp>
        <p:nvSpPr>
          <p:cNvPr id="17" name="TextBox 16"/>
          <p:cNvSpPr txBox="1"/>
          <p:nvPr/>
        </p:nvSpPr>
        <p:spPr>
          <a:xfrm>
            <a:off x="3947160" y="4224528"/>
            <a:ext cx="411480" cy="365760"/>
          </a:xfrm>
          <a:prstGeom prst="rect">
            <a:avLst/>
          </a:prstGeom>
          <a:noFill/>
        </p:spPr>
        <p:txBody>
          <a:bodyPr wrap="square" anchor="t" lIns="0" rIns="0" tIns="0" bIns="0">
            <a:spAutoFit/>
          </a:bodyPr>
          <a:lstStyle/>
          <a:p>
            <a:pPr algn="ctr">
              <a:lnSpc>
                <a:spcPct val="125000"/>
              </a:lnSpc>
            </a:pPr>
            <a:r>
              <a:rPr sz="1800" b="1">
                <a:solidFill>
                  <a:srgbClr val="939EAC"/>
                </a:solidFill>
                <a:latin typeface="Meiryo"/>
                <a:ea typeface="Meiryo"/>
                <a:cs typeface="Meiryo"/>
              </a:rPr>
              <a:t>×</a:t>
            </a:r>
          </a:p>
        </p:txBody>
      </p:sp>
      <p:sp>
        <p:nvSpPr>
          <p:cNvPr id="18" name="Rounded Rectangle 17"/>
          <p:cNvSpPr/>
          <p:nvPr/>
        </p:nvSpPr>
        <p:spPr>
          <a:xfrm>
            <a:off x="4450080" y="3566160"/>
            <a:ext cx="3288792" cy="1874519"/>
          </a:xfrm>
          <a:prstGeom prst="roundRect">
            <a:avLst>
              <a:gd name="adj" fmla="val 3500"/>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4450080" y="3566160"/>
            <a:ext cx="3288792" cy="914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4687824" y="3858768"/>
            <a:ext cx="2813304" cy="310896"/>
          </a:xfrm>
          <a:prstGeom prst="rect">
            <a:avLst/>
          </a:prstGeom>
          <a:noFill/>
        </p:spPr>
        <p:txBody>
          <a:bodyPr wrap="square" anchor="t" lIns="0" rIns="0" tIns="0" bIns="0">
            <a:spAutoFit/>
          </a:bodyPr>
          <a:lstStyle/>
          <a:p>
            <a:pPr algn="l">
              <a:lnSpc>
                <a:spcPct val="125000"/>
              </a:lnSpc>
            </a:pPr>
            <a:r>
              <a:rPr sz="1400" b="1">
                <a:solidFill>
                  <a:srgbClr val="F96167"/>
                </a:solidFill>
                <a:latin typeface="Meiryo"/>
                <a:ea typeface="Meiryo"/>
                <a:cs typeface="Meiryo"/>
              </a:rPr>
              <a:t>現場実践</a:t>
            </a:r>
          </a:p>
        </p:txBody>
      </p:sp>
      <p:sp>
        <p:nvSpPr>
          <p:cNvPr id="21" name="TextBox 20"/>
          <p:cNvSpPr txBox="1"/>
          <p:nvPr/>
        </p:nvSpPr>
        <p:spPr>
          <a:xfrm>
            <a:off x="4687824" y="4334256"/>
            <a:ext cx="2813304" cy="914400"/>
          </a:xfrm>
          <a:prstGeom prst="rect">
            <a:avLst/>
          </a:prstGeom>
          <a:noFill/>
        </p:spPr>
        <p:txBody>
          <a:bodyPr wrap="square" anchor="t" lIns="0" rIns="0" tIns="0" bIns="0">
            <a:spAutoFit/>
          </a:bodyPr>
          <a:lstStyle/>
          <a:p>
            <a:pPr algn="l">
              <a:lnSpc>
                <a:spcPct val="135000"/>
              </a:lnSpc>
            </a:pPr>
            <a:r>
              <a:rPr sz="1150" b="0">
                <a:solidFill>
                  <a:srgbClr val="1E293B"/>
                </a:solidFill>
                <a:latin typeface="Meiryo"/>
                <a:ea typeface="Meiryo"/>
                <a:cs typeface="Meiryo"/>
              </a:rPr>
              <a:t>強みを活かす小さな行動を</a:t>
            </a:r>
          </a:p>
          <a:p>
            <a:pPr algn="l">
              <a:lnSpc>
                <a:spcPct val="135000"/>
              </a:lnSpc>
            </a:pPr>
            <a:r>
              <a:rPr sz="1150" b="0">
                <a:solidFill>
                  <a:srgbClr val="1E293B"/>
                </a:solidFill>
                <a:latin typeface="Meiryo"/>
                <a:ea typeface="Meiryo"/>
                <a:cs typeface="Meiryo"/>
              </a:rPr>
              <a:t>実際の業務で試す</a:t>
            </a:r>
          </a:p>
        </p:txBody>
      </p:sp>
      <p:sp>
        <p:nvSpPr>
          <p:cNvPr id="22" name="TextBox 21"/>
          <p:cNvSpPr txBox="1"/>
          <p:nvPr/>
        </p:nvSpPr>
        <p:spPr>
          <a:xfrm>
            <a:off x="7830312" y="4224528"/>
            <a:ext cx="411480" cy="365760"/>
          </a:xfrm>
          <a:prstGeom prst="rect">
            <a:avLst/>
          </a:prstGeom>
          <a:noFill/>
        </p:spPr>
        <p:txBody>
          <a:bodyPr wrap="square" anchor="t" lIns="0" rIns="0" tIns="0" bIns="0">
            <a:spAutoFit/>
          </a:bodyPr>
          <a:lstStyle/>
          <a:p>
            <a:pPr algn="ctr">
              <a:lnSpc>
                <a:spcPct val="125000"/>
              </a:lnSpc>
            </a:pPr>
            <a:r>
              <a:rPr sz="1800" b="1">
                <a:solidFill>
                  <a:srgbClr val="939EAC"/>
                </a:solidFill>
                <a:latin typeface="Meiryo"/>
                <a:ea typeface="Meiryo"/>
                <a:cs typeface="Meiryo"/>
              </a:rPr>
              <a:t>×</a:t>
            </a:r>
          </a:p>
        </p:txBody>
      </p:sp>
      <p:sp>
        <p:nvSpPr>
          <p:cNvPr id="23" name="Rounded Rectangle 22"/>
          <p:cNvSpPr/>
          <p:nvPr/>
        </p:nvSpPr>
        <p:spPr>
          <a:xfrm>
            <a:off x="8333232" y="3566160"/>
            <a:ext cx="3288792" cy="1874519"/>
          </a:xfrm>
          <a:prstGeom prst="roundRect">
            <a:avLst>
              <a:gd name="adj" fmla="val 3500"/>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8333232" y="3566160"/>
            <a:ext cx="3288792" cy="91440"/>
          </a:xfrm>
          <a:prstGeom prst="rect">
            <a:avLst/>
          </a:prstGeom>
          <a:solidFill>
            <a:srgbClr val="144B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8570976" y="3858768"/>
            <a:ext cx="2813304" cy="310896"/>
          </a:xfrm>
          <a:prstGeom prst="rect">
            <a:avLst/>
          </a:prstGeom>
          <a:noFill/>
        </p:spPr>
        <p:txBody>
          <a:bodyPr wrap="square" anchor="t" lIns="0" rIns="0" tIns="0" bIns="0">
            <a:spAutoFit/>
          </a:bodyPr>
          <a:lstStyle/>
          <a:p>
            <a:pPr algn="l">
              <a:lnSpc>
                <a:spcPct val="125000"/>
              </a:lnSpc>
            </a:pPr>
            <a:r>
              <a:rPr sz="1400" b="1">
                <a:solidFill>
                  <a:srgbClr val="144B7F"/>
                </a:solidFill>
                <a:latin typeface="Meiryo"/>
                <a:ea typeface="Meiryo"/>
                <a:cs typeface="Meiryo"/>
              </a:rPr>
              <a:t>1on1・育成支援</a:t>
            </a:r>
          </a:p>
        </p:txBody>
      </p:sp>
      <p:sp>
        <p:nvSpPr>
          <p:cNvPr id="26" name="TextBox 25"/>
          <p:cNvSpPr txBox="1"/>
          <p:nvPr/>
        </p:nvSpPr>
        <p:spPr>
          <a:xfrm>
            <a:off x="8570976" y="4334256"/>
            <a:ext cx="2813304" cy="914400"/>
          </a:xfrm>
          <a:prstGeom prst="rect">
            <a:avLst/>
          </a:prstGeom>
          <a:noFill/>
        </p:spPr>
        <p:txBody>
          <a:bodyPr wrap="square" anchor="t" lIns="0" rIns="0" tIns="0" bIns="0">
            <a:spAutoFit/>
          </a:bodyPr>
          <a:lstStyle/>
          <a:p>
            <a:pPr algn="l">
              <a:lnSpc>
                <a:spcPct val="135000"/>
              </a:lnSpc>
            </a:pPr>
            <a:r>
              <a:rPr sz="1150" b="0">
                <a:solidFill>
                  <a:srgbClr val="1E293B"/>
                </a:solidFill>
                <a:latin typeface="Meiryo"/>
                <a:ea typeface="Meiryo"/>
                <a:cs typeface="Meiryo"/>
              </a:rPr>
              <a:t>対話を通じて経験を付与し</a:t>
            </a:r>
          </a:p>
          <a:p>
            <a:pPr algn="l">
              <a:lnSpc>
                <a:spcPct val="135000"/>
              </a:lnSpc>
            </a:pPr>
            <a:r>
              <a:rPr sz="1150" b="0">
                <a:solidFill>
                  <a:srgbClr val="1E293B"/>
                </a:solidFill>
                <a:latin typeface="Meiryo"/>
                <a:ea typeface="Meiryo"/>
                <a:cs typeface="Meiryo"/>
              </a:rPr>
              <a:t>次の役割を設計する</a:t>
            </a:r>
          </a:p>
        </p:txBody>
      </p:sp>
      <p:sp>
        <p:nvSpPr>
          <p:cNvPr id="27" name="TextBox 26"/>
          <p:cNvSpPr txBox="1"/>
          <p:nvPr/>
        </p:nvSpPr>
        <p:spPr>
          <a:xfrm>
            <a:off x="566928" y="5687568"/>
            <a:ext cx="11055096" cy="292608"/>
          </a:xfrm>
          <a:prstGeom prst="rect">
            <a:avLst/>
          </a:prstGeom>
          <a:noFill/>
        </p:spPr>
        <p:txBody>
          <a:bodyPr wrap="square" anchor="t" lIns="0" rIns="0" tIns="0" bIns="0">
            <a:spAutoFit/>
          </a:bodyPr>
          <a:lstStyle/>
          <a:p>
            <a:pPr algn="l">
              <a:lnSpc>
                <a:spcPct val="125000"/>
              </a:lnSpc>
            </a:pPr>
            <a:r>
              <a:rPr sz="1200" b="1">
                <a:solidFill>
                  <a:srgbClr val="144B7F"/>
                </a:solidFill>
                <a:latin typeface="Meiryo"/>
                <a:ea typeface="Meiryo"/>
                <a:cs typeface="Meiryo"/>
              </a:rPr>
              <a:t>若手本人を主役に、管理職との対話を通じて活躍をつくります。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9683496" cy="384048"/>
          </a:xfrm>
          <a:prstGeom prst="rect">
            <a:avLst/>
          </a:prstGeom>
          <a:noFill/>
        </p:spPr>
        <p:txBody>
          <a:bodyPr wrap="square" anchor="t" lIns="0" rIns="0" tIns="0" bIns="0">
            <a:spAutoFit/>
          </a:bodyPr>
          <a:lstStyle/>
          <a:p>
            <a:pPr algn="l">
              <a:lnSpc>
                <a:spcPct val="125000"/>
              </a:lnSpc>
            </a:pPr>
            <a:r>
              <a:rPr sz="2100" b="1">
                <a:solidFill>
                  <a:srgbClr val="144B7F"/>
                </a:solidFill>
                <a:latin typeface="Meiryo"/>
                <a:ea typeface="Meiryo"/>
                <a:cs typeface="Meiryo"/>
              </a:rPr>
              <a:t>3 DESIGNS｜若手活躍を支える設計</a:t>
            </a:r>
          </a:p>
        </p:txBody>
      </p:sp>
      <p:pic>
        <p:nvPicPr>
          <p:cNvPr id="3" name="Picture 2" descr="lock.png"/>
          <p:cNvPicPr>
            <a:picLocks noChangeAspect="1"/>
          </p:cNvPicPr>
          <p:nvPr/>
        </p:nvPicPr>
        <p:blipFill>
          <a:blip r:embed="rId2"/>
          <a:stretch>
            <a:fillRect/>
          </a:stretch>
        </p:blipFill>
        <p:spPr>
          <a:xfrm>
            <a:off x="10488168" y="365760"/>
            <a:ext cx="1123340" cy="237744"/>
          </a:xfrm>
          <a:prstGeom prst="rect">
            <a:avLst/>
          </a:prstGeom>
        </p:spPr>
      </p:pic>
      <p:sp>
        <p:nvSpPr>
          <p:cNvPr id="4" name="Rectangle 3"/>
          <p:cNvSpPr/>
          <p:nvPr/>
        </p:nvSpPr>
        <p:spPr>
          <a:xfrm>
            <a:off x="566928" y="868680"/>
            <a:ext cx="11055096" cy="12801"/>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1060704"/>
            <a:ext cx="50292" cy="2743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749808" y="1042415"/>
            <a:ext cx="10872216" cy="310896"/>
          </a:xfrm>
          <a:prstGeom prst="rect">
            <a:avLst/>
          </a:prstGeom>
          <a:noFill/>
        </p:spPr>
        <p:txBody>
          <a:bodyPr wrap="square" anchor="t" lIns="0" rIns="0" tIns="0" bIns="0">
            <a:spAutoFit/>
          </a:bodyPr>
          <a:lstStyle/>
          <a:p>
            <a:pPr algn="l">
              <a:lnSpc>
                <a:spcPct val="125000"/>
              </a:lnSpc>
            </a:pPr>
            <a:r>
              <a:rPr sz="1450" b="1">
                <a:solidFill>
                  <a:srgbClr val="144B7F"/>
                </a:solidFill>
                <a:latin typeface="Meiryo"/>
                <a:ea typeface="Meiryo"/>
                <a:cs typeface="Meiryo"/>
              </a:rPr>
              <a:t>若手活躍は、自己理解・実践・役割形成の循環で育つ</a:t>
            </a:r>
          </a:p>
        </p:txBody>
      </p:sp>
      <p:sp>
        <p:nvSpPr>
          <p:cNvPr id="7" name="Rectangle 6"/>
          <p:cNvSpPr/>
          <p:nvPr/>
        </p:nvSpPr>
        <p:spPr>
          <a:xfrm>
            <a:off x="566928" y="6419088"/>
            <a:ext cx="11055096" cy="10972"/>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566928" y="6519672"/>
            <a:ext cx="10735056" cy="182880"/>
          </a:xfrm>
          <a:prstGeom prst="rect">
            <a:avLst/>
          </a:prstGeom>
          <a:noFill/>
        </p:spPr>
        <p:txBody>
          <a:bodyPr wrap="square" anchor="t" lIns="0" rIns="0" tIns="0" bIns="0">
            <a:spAutoFit/>
          </a:bodyPr>
          <a:lstStyle/>
          <a:p>
            <a:pPr algn="r">
              <a:lnSpc>
                <a:spcPct val="125000"/>
              </a:lnSpc>
            </a:pPr>
            <a:r>
              <a:rPr sz="750" b="0">
                <a:solidFill>
                  <a:srgbClr val="939EAC"/>
                </a:solidFill>
                <a:latin typeface="Meiryo"/>
                <a:ea typeface="Meiryo"/>
                <a:cs typeface="Meiryo"/>
              </a:rPr>
              <a:t>© Givin' Back Inc. All Rights Reserved.  |  Confidential</a:t>
            </a:r>
          </a:p>
        </p:txBody>
      </p:sp>
      <p:sp>
        <p:nvSpPr>
          <p:cNvPr id="9" name="TextBox 8"/>
          <p:cNvSpPr txBox="1"/>
          <p:nvPr/>
        </p:nvSpPr>
        <p:spPr>
          <a:xfrm>
            <a:off x="11329416" y="6501384"/>
            <a:ext cx="292608" cy="201168"/>
          </a:xfrm>
          <a:prstGeom prst="rect">
            <a:avLst/>
          </a:prstGeom>
          <a:noFill/>
        </p:spPr>
        <p:txBody>
          <a:bodyPr wrap="square" anchor="t" lIns="0" rIns="0" tIns="0" bIns="0">
            <a:spAutoFit/>
          </a:bodyPr>
          <a:lstStyle/>
          <a:p>
            <a:pPr algn="r">
              <a:lnSpc>
                <a:spcPct val="125000"/>
              </a:lnSpc>
            </a:pPr>
            <a:r>
              <a:rPr sz="900" b="1">
                <a:solidFill>
                  <a:srgbClr val="144B7F"/>
                </a:solidFill>
                <a:latin typeface="Meiryo"/>
                <a:ea typeface="Meiryo"/>
                <a:cs typeface="Meiryo"/>
              </a:rPr>
              <a:t>6</a:t>
            </a:r>
          </a:p>
        </p:txBody>
      </p:sp>
      <p:sp>
        <p:nvSpPr>
          <p:cNvPr id="10" name="Rounded Rectangle 9"/>
          <p:cNvSpPr/>
          <p:nvPr/>
        </p:nvSpPr>
        <p:spPr>
          <a:xfrm>
            <a:off x="566928" y="1755648"/>
            <a:ext cx="3288792" cy="3246120"/>
          </a:xfrm>
          <a:prstGeom prst="roundRect">
            <a:avLst>
              <a:gd name="adj" fmla="val 3500"/>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566928" y="1755648"/>
            <a:ext cx="3288792" cy="91440"/>
          </a:xfrm>
          <a:prstGeom prst="rect">
            <a:avLst/>
          </a:prstGeom>
          <a:solidFill>
            <a:srgbClr val="144B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1927860" y="2139696"/>
            <a:ext cx="566928" cy="566928"/>
          </a:xfrm>
          <a:prstGeom prst="ellipse">
            <a:avLst/>
          </a:prstGeom>
          <a:solidFill>
            <a:srgbClr val="144B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927860" y="2230404"/>
            <a:ext cx="566928" cy="396849"/>
          </a:xfrm>
          <a:prstGeom prst="rect">
            <a:avLst/>
          </a:prstGeom>
          <a:noFill/>
        </p:spPr>
        <p:txBody>
          <a:bodyPr wrap="square" anchor="t" lIns="0" rIns="0" tIns="0" bIns="0">
            <a:spAutoFit/>
          </a:bodyPr>
          <a:lstStyle/>
          <a:p>
            <a:pPr algn="ctr">
              <a:lnSpc>
                <a:spcPct val="125000"/>
              </a:lnSpc>
            </a:pPr>
            <a:r>
              <a:rPr sz="1300" b="1">
                <a:solidFill>
                  <a:srgbClr val="FFFFFF"/>
                </a:solidFill>
                <a:latin typeface="Meiryo"/>
                <a:ea typeface="Meiryo"/>
                <a:cs typeface="Meiryo"/>
              </a:rPr>
              <a:t>1</a:t>
            </a:r>
          </a:p>
        </p:txBody>
      </p:sp>
      <p:sp>
        <p:nvSpPr>
          <p:cNvPr id="14" name="TextBox 13"/>
          <p:cNvSpPr txBox="1"/>
          <p:nvPr/>
        </p:nvSpPr>
        <p:spPr>
          <a:xfrm>
            <a:off x="786384" y="2962656"/>
            <a:ext cx="2849880" cy="384048"/>
          </a:xfrm>
          <a:prstGeom prst="rect">
            <a:avLst/>
          </a:prstGeom>
          <a:noFill/>
        </p:spPr>
        <p:txBody>
          <a:bodyPr wrap="square" anchor="t" lIns="0" rIns="0" tIns="0" bIns="0">
            <a:spAutoFit/>
          </a:bodyPr>
          <a:lstStyle/>
          <a:p>
            <a:pPr algn="ctr">
              <a:lnSpc>
                <a:spcPct val="125000"/>
              </a:lnSpc>
            </a:pPr>
            <a:r>
              <a:rPr sz="1700" b="1">
                <a:solidFill>
                  <a:srgbClr val="144B7F"/>
                </a:solidFill>
                <a:latin typeface="Meiryo"/>
                <a:ea typeface="Meiryo"/>
                <a:cs typeface="Meiryo"/>
              </a:rPr>
              <a:t>自分を、知る</a:t>
            </a:r>
          </a:p>
        </p:txBody>
      </p:sp>
      <p:sp>
        <p:nvSpPr>
          <p:cNvPr id="15" name="Rectangle 14"/>
          <p:cNvSpPr/>
          <p:nvPr/>
        </p:nvSpPr>
        <p:spPr>
          <a:xfrm>
            <a:off x="1708404" y="3493008"/>
            <a:ext cx="1005840" cy="36576"/>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96112" y="3712463"/>
            <a:ext cx="2630424" cy="1097280"/>
          </a:xfrm>
          <a:prstGeom prst="rect">
            <a:avLst/>
          </a:prstGeom>
          <a:noFill/>
        </p:spPr>
        <p:txBody>
          <a:bodyPr wrap="square" anchor="t" lIns="0" rIns="0" tIns="0" bIns="0">
            <a:spAutoFit/>
          </a:bodyPr>
          <a:lstStyle/>
          <a:p>
            <a:pPr algn="ctr">
              <a:lnSpc>
                <a:spcPct val="145000"/>
              </a:lnSpc>
            </a:pPr>
            <a:r>
              <a:rPr sz="1150" b="0">
                <a:solidFill>
                  <a:srgbClr val="1E293B"/>
                </a:solidFill>
                <a:latin typeface="Meiryo"/>
                <a:ea typeface="Meiryo"/>
                <a:cs typeface="Meiryo"/>
              </a:rPr>
              <a:t>強み・価値観・目指す姿を、自分の言葉で整理する</a:t>
            </a:r>
          </a:p>
        </p:txBody>
      </p:sp>
      <p:sp>
        <p:nvSpPr>
          <p:cNvPr id="17" name="TextBox 16"/>
          <p:cNvSpPr txBox="1"/>
          <p:nvPr/>
        </p:nvSpPr>
        <p:spPr>
          <a:xfrm>
            <a:off x="3947160" y="3127248"/>
            <a:ext cx="411480" cy="365760"/>
          </a:xfrm>
          <a:prstGeom prst="rect">
            <a:avLst/>
          </a:prstGeom>
          <a:noFill/>
        </p:spPr>
        <p:txBody>
          <a:bodyPr wrap="square" anchor="t" lIns="0" rIns="0" tIns="0" bIns="0">
            <a:spAutoFit/>
          </a:bodyPr>
          <a:lstStyle/>
          <a:p>
            <a:pPr algn="ctr">
              <a:lnSpc>
                <a:spcPct val="125000"/>
              </a:lnSpc>
            </a:pPr>
            <a:r>
              <a:rPr sz="1800" b="1">
                <a:solidFill>
                  <a:srgbClr val="939EAC"/>
                </a:solidFill>
                <a:latin typeface="Meiryo"/>
                <a:ea typeface="Meiryo"/>
                <a:cs typeface="Meiryo"/>
              </a:rPr>
              <a:t>→</a:t>
            </a:r>
          </a:p>
        </p:txBody>
      </p:sp>
      <p:sp>
        <p:nvSpPr>
          <p:cNvPr id="18" name="Rounded Rectangle 17"/>
          <p:cNvSpPr/>
          <p:nvPr/>
        </p:nvSpPr>
        <p:spPr>
          <a:xfrm>
            <a:off x="4450080" y="1755648"/>
            <a:ext cx="3288792" cy="3246120"/>
          </a:xfrm>
          <a:prstGeom prst="roundRect">
            <a:avLst>
              <a:gd name="adj" fmla="val 3500"/>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4450080" y="1755648"/>
            <a:ext cx="3288792" cy="914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5811012" y="2139696"/>
            <a:ext cx="566928" cy="566928"/>
          </a:xfrm>
          <a:prstGeom prst="ellipse">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5811012" y="2230404"/>
            <a:ext cx="566928" cy="396849"/>
          </a:xfrm>
          <a:prstGeom prst="rect">
            <a:avLst/>
          </a:prstGeom>
          <a:noFill/>
        </p:spPr>
        <p:txBody>
          <a:bodyPr wrap="square" anchor="t" lIns="0" rIns="0" tIns="0" bIns="0">
            <a:spAutoFit/>
          </a:bodyPr>
          <a:lstStyle/>
          <a:p>
            <a:pPr algn="ctr">
              <a:lnSpc>
                <a:spcPct val="125000"/>
              </a:lnSpc>
            </a:pPr>
            <a:r>
              <a:rPr sz="1300" b="1">
                <a:solidFill>
                  <a:srgbClr val="FFFFFF"/>
                </a:solidFill>
                <a:latin typeface="Meiryo"/>
                <a:ea typeface="Meiryo"/>
                <a:cs typeface="Meiryo"/>
              </a:rPr>
              <a:t>2</a:t>
            </a:r>
          </a:p>
        </p:txBody>
      </p:sp>
      <p:sp>
        <p:nvSpPr>
          <p:cNvPr id="22" name="TextBox 21"/>
          <p:cNvSpPr txBox="1"/>
          <p:nvPr/>
        </p:nvSpPr>
        <p:spPr>
          <a:xfrm>
            <a:off x="4669536" y="2962656"/>
            <a:ext cx="2849880" cy="384048"/>
          </a:xfrm>
          <a:prstGeom prst="rect">
            <a:avLst/>
          </a:prstGeom>
          <a:noFill/>
        </p:spPr>
        <p:txBody>
          <a:bodyPr wrap="square" anchor="t" lIns="0" rIns="0" tIns="0" bIns="0">
            <a:spAutoFit/>
          </a:bodyPr>
          <a:lstStyle/>
          <a:p>
            <a:pPr algn="ctr">
              <a:lnSpc>
                <a:spcPct val="125000"/>
              </a:lnSpc>
            </a:pPr>
            <a:r>
              <a:rPr sz="1700" b="1">
                <a:solidFill>
                  <a:srgbClr val="144B7F"/>
                </a:solidFill>
                <a:latin typeface="Meiryo"/>
                <a:ea typeface="Meiryo"/>
                <a:cs typeface="Meiryo"/>
              </a:rPr>
              <a:t>仕事で、試す</a:t>
            </a:r>
          </a:p>
        </p:txBody>
      </p:sp>
      <p:sp>
        <p:nvSpPr>
          <p:cNvPr id="23" name="Rectangle 22"/>
          <p:cNvSpPr/>
          <p:nvPr/>
        </p:nvSpPr>
        <p:spPr>
          <a:xfrm>
            <a:off x="5591556" y="3493008"/>
            <a:ext cx="1005840" cy="36576"/>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4779264" y="3712463"/>
            <a:ext cx="2630424" cy="1097280"/>
          </a:xfrm>
          <a:prstGeom prst="rect">
            <a:avLst/>
          </a:prstGeom>
          <a:noFill/>
        </p:spPr>
        <p:txBody>
          <a:bodyPr wrap="square" anchor="t" lIns="0" rIns="0" tIns="0" bIns="0">
            <a:spAutoFit/>
          </a:bodyPr>
          <a:lstStyle/>
          <a:p>
            <a:pPr algn="ctr">
              <a:lnSpc>
                <a:spcPct val="145000"/>
              </a:lnSpc>
            </a:pPr>
            <a:r>
              <a:rPr sz="1150" b="0">
                <a:solidFill>
                  <a:srgbClr val="1E293B"/>
                </a:solidFill>
                <a:latin typeface="Meiryo"/>
                <a:ea typeface="Meiryo"/>
                <a:cs typeface="Meiryo"/>
              </a:rPr>
              <a:t>強みを活かす小さな行動を、実際の業務で実践する</a:t>
            </a:r>
          </a:p>
        </p:txBody>
      </p:sp>
      <p:sp>
        <p:nvSpPr>
          <p:cNvPr id="25" name="TextBox 24"/>
          <p:cNvSpPr txBox="1"/>
          <p:nvPr/>
        </p:nvSpPr>
        <p:spPr>
          <a:xfrm>
            <a:off x="7830312" y="3127248"/>
            <a:ext cx="411480" cy="365760"/>
          </a:xfrm>
          <a:prstGeom prst="rect">
            <a:avLst/>
          </a:prstGeom>
          <a:noFill/>
        </p:spPr>
        <p:txBody>
          <a:bodyPr wrap="square" anchor="t" lIns="0" rIns="0" tIns="0" bIns="0">
            <a:spAutoFit/>
          </a:bodyPr>
          <a:lstStyle/>
          <a:p>
            <a:pPr algn="ctr">
              <a:lnSpc>
                <a:spcPct val="125000"/>
              </a:lnSpc>
            </a:pPr>
            <a:r>
              <a:rPr sz="1800" b="1">
                <a:solidFill>
                  <a:srgbClr val="939EAC"/>
                </a:solidFill>
                <a:latin typeface="Meiryo"/>
                <a:ea typeface="Meiryo"/>
                <a:cs typeface="Meiryo"/>
              </a:rPr>
              <a:t>→</a:t>
            </a:r>
          </a:p>
        </p:txBody>
      </p:sp>
      <p:sp>
        <p:nvSpPr>
          <p:cNvPr id="26" name="Rounded Rectangle 25"/>
          <p:cNvSpPr/>
          <p:nvPr/>
        </p:nvSpPr>
        <p:spPr>
          <a:xfrm>
            <a:off x="8333232" y="1755648"/>
            <a:ext cx="3288792" cy="3246120"/>
          </a:xfrm>
          <a:prstGeom prst="roundRect">
            <a:avLst>
              <a:gd name="adj" fmla="val 3500"/>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8333232" y="1755648"/>
            <a:ext cx="3288792" cy="91440"/>
          </a:xfrm>
          <a:prstGeom prst="rect">
            <a:avLst/>
          </a:prstGeom>
          <a:solidFill>
            <a:srgbClr val="144B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9694164" y="2139696"/>
            <a:ext cx="566928" cy="566928"/>
          </a:xfrm>
          <a:prstGeom prst="ellipse">
            <a:avLst/>
          </a:prstGeom>
          <a:solidFill>
            <a:srgbClr val="144B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9694164" y="2230404"/>
            <a:ext cx="566928" cy="396849"/>
          </a:xfrm>
          <a:prstGeom prst="rect">
            <a:avLst/>
          </a:prstGeom>
          <a:noFill/>
        </p:spPr>
        <p:txBody>
          <a:bodyPr wrap="square" anchor="t" lIns="0" rIns="0" tIns="0" bIns="0">
            <a:spAutoFit/>
          </a:bodyPr>
          <a:lstStyle/>
          <a:p>
            <a:pPr algn="ctr">
              <a:lnSpc>
                <a:spcPct val="125000"/>
              </a:lnSpc>
            </a:pPr>
            <a:r>
              <a:rPr sz="1300" b="1">
                <a:solidFill>
                  <a:srgbClr val="FFFFFF"/>
                </a:solidFill>
                <a:latin typeface="Meiryo"/>
                <a:ea typeface="Meiryo"/>
                <a:cs typeface="Meiryo"/>
              </a:rPr>
              <a:t>3</a:t>
            </a:r>
          </a:p>
        </p:txBody>
      </p:sp>
      <p:sp>
        <p:nvSpPr>
          <p:cNvPr id="30" name="TextBox 29"/>
          <p:cNvSpPr txBox="1"/>
          <p:nvPr/>
        </p:nvSpPr>
        <p:spPr>
          <a:xfrm>
            <a:off x="8552688" y="2962656"/>
            <a:ext cx="2849880" cy="384048"/>
          </a:xfrm>
          <a:prstGeom prst="rect">
            <a:avLst/>
          </a:prstGeom>
          <a:noFill/>
        </p:spPr>
        <p:txBody>
          <a:bodyPr wrap="square" anchor="t" lIns="0" rIns="0" tIns="0" bIns="0">
            <a:spAutoFit/>
          </a:bodyPr>
          <a:lstStyle/>
          <a:p>
            <a:pPr algn="ctr">
              <a:lnSpc>
                <a:spcPct val="125000"/>
              </a:lnSpc>
            </a:pPr>
            <a:r>
              <a:rPr sz="1700" b="1">
                <a:solidFill>
                  <a:srgbClr val="144B7F"/>
                </a:solidFill>
                <a:latin typeface="Meiryo"/>
                <a:ea typeface="Meiryo"/>
                <a:cs typeface="Meiryo"/>
              </a:rPr>
              <a:t>役割を、広げる</a:t>
            </a:r>
          </a:p>
        </p:txBody>
      </p:sp>
      <p:sp>
        <p:nvSpPr>
          <p:cNvPr id="31" name="Rectangle 30"/>
          <p:cNvSpPr/>
          <p:nvPr/>
        </p:nvSpPr>
        <p:spPr>
          <a:xfrm>
            <a:off x="9474708" y="3493008"/>
            <a:ext cx="1005840" cy="36576"/>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8662416" y="3712463"/>
            <a:ext cx="2630424" cy="1097280"/>
          </a:xfrm>
          <a:prstGeom prst="rect">
            <a:avLst/>
          </a:prstGeom>
          <a:noFill/>
        </p:spPr>
        <p:txBody>
          <a:bodyPr wrap="square" anchor="t" lIns="0" rIns="0" tIns="0" bIns="0">
            <a:spAutoFit/>
          </a:bodyPr>
          <a:lstStyle/>
          <a:p>
            <a:pPr algn="ctr">
              <a:lnSpc>
                <a:spcPct val="145000"/>
              </a:lnSpc>
            </a:pPr>
            <a:r>
              <a:rPr sz="1150" b="0">
                <a:solidFill>
                  <a:srgbClr val="1E293B"/>
                </a:solidFill>
                <a:latin typeface="Meiryo"/>
                <a:ea typeface="Meiryo"/>
                <a:cs typeface="Meiryo"/>
              </a:rPr>
              <a:t>対話を通じて、挑戦・役割・周囲への貢献を広げる</a:t>
            </a:r>
          </a:p>
        </p:txBody>
      </p:sp>
      <p:sp>
        <p:nvSpPr>
          <p:cNvPr id="33" name="Rounded Rectangle 32"/>
          <p:cNvSpPr/>
          <p:nvPr/>
        </p:nvSpPr>
        <p:spPr>
          <a:xfrm>
            <a:off x="566928" y="5285232"/>
            <a:ext cx="11055096" cy="603504"/>
          </a:xfrm>
          <a:prstGeom prst="roundRect">
            <a:avLst>
              <a:gd name="adj" fmla="val 16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804672" y="5468112"/>
            <a:ext cx="10579608" cy="274320"/>
          </a:xfrm>
          <a:prstGeom prst="rect">
            <a:avLst/>
          </a:prstGeom>
          <a:noFill/>
        </p:spPr>
        <p:txBody>
          <a:bodyPr wrap="square" anchor="t" lIns="0" rIns="0" tIns="0" bIns="0">
            <a:spAutoFit/>
          </a:bodyPr>
          <a:lstStyle/>
          <a:p>
            <a:pPr algn="l">
              <a:lnSpc>
                <a:spcPct val="125000"/>
              </a:lnSpc>
            </a:pPr>
            <a:r>
              <a:rPr sz="1200" b="1">
                <a:solidFill>
                  <a:srgbClr val="144B7F"/>
                </a:solidFill>
                <a:latin typeface="Meiryo"/>
                <a:ea typeface="Meiryo"/>
                <a:cs typeface="Meiryo"/>
              </a:rPr>
              <a:t>キャリア開発を入口に、本人の行動と職場での貢献が広がる状態をつくります。</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9683496" cy="384048"/>
          </a:xfrm>
          <a:prstGeom prst="rect">
            <a:avLst/>
          </a:prstGeom>
          <a:noFill/>
        </p:spPr>
        <p:txBody>
          <a:bodyPr wrap="square" anchor="t" lIns="0" rIns="0" tIns="0" bIns="0">
            <a:spAutoFit/>
          </a:bodyPr>
          <a:lstStyle/>
          <a:p>
            <a:pPr algn="l">
              <a:lnSpc>
                <a:spcPct val="125000"/>
              </a:lnSpc>
            </a:pPr>
            <a:r>
              <a:rPr sz="2100" b="1">
                <a:solidFill>
                  <a:srgbClr val="144B7F"/>
                </a:solidFill>
                <a:latin typeface="Meiryo"/>
                <a:ea typeface="Meiryo"/>
                <a:cs typeface="Meiryo"/>
              </a:rPr>
              <a:t>POC｜ジンジブ様社内で検証したいこと</a:t>
            </a:r>
          </a:p>
        </p:txBody>
      </p:sp>
      <p:pic>
        <p:nvPicPr>
          <p:cNvPr id="3" name="Picture 2" descr="lock.png"/>
          <p:cNvPicPr>
            <a:picLocks noChangeAspect="1"/>
          </p:cNvPicPr>
          <p:nvPr/>
        </p:nvPicPr>
        <p:blipFill>
          <a:blip r:embed="rId2"/>
          <a:stretch>
            <a:fillRect/>
          </a:stretch>
        </p:blipFill>
        <p:spPr>
          <a:xfrm>
            <a:off x="10488168" y="365760"/>
            <a:ext cx="1123340" cy="237744"/>
          </a:xfrm>
          <a:prstGeom prst="rect">
            <a:avLst/>
          </a:prstGeom>
        </p:spPr>
      </p:pic>
      <p:sp>
        <p:nvSpPr>
          <p:cNvPr id="4" name="Rectangle 3"/>
          <p:cNvSpPr/>
          <p:nvPr/>
        </p:nvSpPr>
        <p:spPr>
          <a:xfrm>
            <a:off x="566928" y="868680"/>
            <a:ext cx="11055096" cy="12801"/>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1060704"/>
            <a:ext cx="50292" cy="2743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749808" y="1042415"/>
            <a:ext cx="10872216" cy="310896"/>
          </a:xfrm>
          <a:prstGeom prst="rect">
            <a:avLst/>
          </a:prstGeom>
          <a:noFill/>
        </p:spPr>
        <p:txBody>
          <a:bodyPr wrap="square" anchor="t" lIns="0" rIns="0" tIns="0" bIns="0">
            <a:spAutoFit/>
          </a:bodyPr>
          <a:lstStyle/>
          <a:p>
            <a:pPr algn="l">
              <a:lnSpc>
                <a:spcPct val="125000"/>
              </a:lnSpc>
            </a:pPr>
            <a:r>
              <a:rPr sz="1450" b="1">
                <a:solidFill>
                  <a:srgbClr val="144B7F"/>
                </a:solidFill>
                <a:latin typeface="Meiryo"/>
                <a:ea typeface="Meiryo"/>
                <a:cs typeface="Meiryo"/>
              </a:rPr>
              <a:t>完成品の評価ではなく、若手支援の運用仮説を一緒に検証する</a:t>
            </a:r>
          </a:p>
        </p:txBody>
      </p:sp>
      <p:sp>
        <p:nvSpPr>
          <p:cNvPr id="7" name="Rectangle 6"/>
          <p:cNvSpPr/>
          <p:nvPr/>
        </p:nvSpPr>
        <p:spPr>
          <a:xfrm>
            <a:off x="566928" y="6419088"/>
            <a:ext cx="11055096" cy="10972"/>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566928" y="6519672"/>
            <a:ext cx="10735056" cy="182880"/>
          </a:xfrm>
          <a:prstGeom prst="rect">
            <a:avLst/>
          </a:prstGeom>
          <a:noFill/>
        </p:spPr>
        <p:txBody>
          <a:bodyPr wrap="square" anchor="t" lIns="0" rIns="0" tIns="0" bIns="0">
            <a:spAutoFit/>
          </a:bodyPr>
          <a:lstStyle/>
          <a:p>
            <a:pPr algn="r">
              <a:lnSpc>
                <a:spcPct val="125000"/>
              </a:lnSpc>
            </a:pPr>
            <a:r>
              <a:rPr sz="750" b="0">
                <a:solidFill>
                  <a:srgbClr val="939EAC"/>
                </a:solidFill>
                <a:latin typeface="Meiryo"/>
                <a:ea typeface="Meiryo"/>
                <a:cs typeface="Meiryo"/>
              </a:rPr>
              <a:t>© Givin' Back Inc. All Rights Reserved.  |  Confidential</a:t>
            </a:r>
          </a:p>
        </p:txBody>
      </p:sp>
      <p:sp>
        <p:nvSpPr>
          <p:cNvPr id="9" name="TextBox 8"/>
          <p:cNvSpPr txBox="1"/>
          <p:nvPr/>
        </p:nvSpPr>
        <p:spPr>
          <a:xfrm>
            <a:off x="11329416" y="6501384"/>
            <a:ext cx="292608" cy="201168"/>
          </a:xfrm>
          <a:prstGeom prst="rect">
            <a:avLst/>
          </a:prstGeom>
          <a:noFill/>
        </p:spPr>
        <p:txBody>
          <a:bodyPr wrap="square" anchor="t" lIns="0" rIns="0" tIns="0" bIns="0">
            <a:spAutoFit/>
          </a:bodyPr>
          <a:lstStyle/>
          <a:p>
            <a:pPr algn="r">
              <a:lnSpc>
                <a:spcPct val="125000"/>
              </a:lnSpc>
            </a:pPr>
            <a:r>
              <a:rPr sz="900" b="1">
                <a:solidFill>
                  <a:srgbClr val="144B7F"/>
                </a:solidFill>
                <a:latin typeface="Meiryo"/>
                <a:ea typeface="Meiryo"/>
                <a:cs typeface="Meiryo"/>
              </a:rPr>
              <a:t>7</a:t>
            </a:r>
          </a:p>
        </p:txBody>
      </p:sp>
      <p:sp>
        <p:nvSpPr>
          <p:cNvPr id="10" name="Rounded Rectangle 9"/>
          <p:cNvSpPr/>
          <p:nvPr/>
        </p:nvSpPr>
        <p:spPr>
          <a:xfrm>
            <a:off x="566928" y="1737360"/>
            <a:ext cx="3410712" cy="3383280"/>
          </a:xfrm>
          <a:prstGeom prst="roundRect">
            <a:avLst>
              <a:gd name="adj" fmla="val 3500"/>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566928" y="1737360"/>
            <a:ext cx="3410712" cy="91440"/>
          </a:xfrm>
          <a:prstGeom prst="rect">
            <a:avLst/>
          </a:prstGeom>
          <a:solidFill>
            <a:srgbClr val="144B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804672" y="2066543"/>
            <a:ext cx="420624" cy="420624"/>
          </a:xfrm>
          <a:prstGeom prst="ellipse">
            <a:avLst/>
          </a:prstGeom>
          <a:solidFill>
            <a:srgbClr val="144B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04672" y="2133843"/>
            <a:ext cx="420624" cy="294436"/>
          </a:xfrm>
          <a:prstGeom prst="rect">
            <a:avLst/>
          </a:prstGeom>
          <a:noFill/>
        </p:spPr>
        <p:txBody>
          <a:bodyPr wrap="square" anchor="t" lIns="0" rIns="0" tIns="0" bIns="0">
            <a:spAutoFit/>
          </a:bodyPr>
          <a:lstStyle/>
          <a:p>
            <a:pPr algn="ctr">
              <a:lnSpc>
                <a:spcPct val="125000"/>
              </a:lnSpc>
            </a:pPr>
            <a:r>
              <a:rPr sz="1300" b="1">
                <a:solidFill>
                  <a:srgbClr val="FFFFFF"/>
                </a:solidFill>
                <a:latin typeface="Meiryo"/>
                <a:ea typeface="Meiryo"/>
                <a:cs typeface="Meiryo"/>
              </a:rPr>
              <a:t>1</a:t>
            </a:r>
          </a:p>
        </p:txBody>
      </p:sp>
      <p:sp>
        <p:nvSpPr>
          <p:cNvPr id="14" name="TextBox 13"/>
          <p:cNvSpPr txBox="1"/>
          <p:nvPr/>
        </p:nvSpPr>
        <p:spPr>
          <a:xfrm>
            <a:off x="1371600" y="2121408"/>
            <a:ext cx="2368296" cy="310896"/>
          </a:xfrm>
          <a:prstGeom prst="rect">
            <a:avLst/>
          </a:prstGeom>
          <a:noFill/>
        </p:spPr>
        <p:txBody>
          <a:bodyPr wrap="square" anchor="t" lIns="0" rIns="0" tIns="0" bIns="0">
            <a:spAutoFit/>
          </a:bodyPr>
          <a:lstStyle/>
          <a:p>
            <a:pPr algn="l">
              <a:lnSpc>
                <a:spcPct val="125000"/>
              </a:lnSpc>
            </a:pPr>
            <a:r>
              <a:rPr sz="1450" b="1">
                <a:solidFill>
                  <a:srgbClr val="144B7F"/>
                </a:solidFill>
                <a:latin typeface="Meiryo"/>
                <a:ea typeface="Meiryo"/>
                <a:cs typeface="Meiryo"/>
              </a:rPr>
              <a:t>社内で試す</a:t>
            </a:r>
          </a:p>
        </p:txBody>
      </p:sp>
      <p:sp>
        <p:nvSpPr>
          <p:cNvPr id="15" name="Rectangle 14"/>
          <p:cNvSpPr/>
          <p:nvPr/>
        </p:nvSpPr>
        <p:spPr>
          <a:xfrm>
            <a:off x="804672" y="2706624"/>
            <a:ext cx="2935224" cy="27432"/>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04672" y="2962656"/>
            <a:ext cx="201168" cy="237744"/>
          </a:xfrm>
          <a:prstGeom prst="rect">
            <a:avLst/>
          </a:prstGeom>
          <a:noFill/>
        </p:spPr>
        <p:txBody>
          <a:bodyPr wrap="square" anchor="t" lIns="0" rIns="0" tIns="0" bIns="0">
            <a:spAutoFit/>
          </a:bodyPr>
          <a:lstStyle/>
          <a:p>
            <a:pPr algn="l">
              <a:lnSpc>
                <a:spcPct val="125000"/>
              </a:lnSpc>
            </a:pPr>
            <a:r>
              <a:rPr sz="1150" b="1">
                <a:solidFill>
                  <a:srgbClr val="F96167"/>
                </a:solidFill>
                <a:latin typeface="Meiryo"/>
                <a:ea typeface="Meiryo"/>
                <a:cs typeface="Meiryo"/>
              </a:rPr>
              <a:t>✓</a:t>
            </a:r>
          </a:p>
        </p:txBody>
      </p:sp>
      <p:sp>
        <p:nvSpPr>
          <p:cNvPr id="17" name="TextBox 16"/>
          <p:cNvSpPr txBox="1"/>
          <p:nvPr/>
        </p:nvSpPr>
        <p:spPr>
          <a:xfrm>
            <a:off x="1042416" y="2962656"/>
            <a:ext cx="2697480" cy="237744"/>
          </a:xfrm>
          <a:prstGeom prst="rect">
            <a:avLst/>
          </a:prstGeom>
          <a:noFill/>
        </p:spPr>
        <p:txBody>
          <a:bodyPr wrap="square" anchor="t" lIns="0" rIns="0" tIns="0" bIns="0">
            <a:spAutoFit/>
          </a:bodyPr>
          <a:lstStyle/>
          <a:p>
            <a:pPr algn="l">
              <a:lnSpc>
                <a:spcPct val="125000"/>
              </a:lnSpc>
            </a:pPr>
            <a:r>
              <a:rPr sz="1100" b="0">
                <a:solidFill>
                  <a:srgbClr val="1E293B"/>
                </a:solidFill>
                <a:latin typeface="Meiryo"/>
                <a:ea typeface="Meiryo"/>
                <a:cs typeface="Meiryo"/>
              </a:rPr>
              <a:t>対象となる若手と管理職を設定</a:t>
            </a:r>
          </a:p>
        </p:txBody>
      </p:sp>
      <p:sp>
        <p:nvSpPr>
          <p:cNvPr id="18" name="TextBox 17"/>
          <p:cNvSpPr txBox="1"/>
          <p:nvPr/>
        </p:nvSpPr>
        <p:spPr>
          <a:xfrm>
            <a:off x="804672" y="3584448"/>
            <a:ext cx="201168" cy="237744"/>
          </a:xfrm>
          <a:prstGeom prst="rect">
            <a:avLst/>
          </a:prstGeom>
          <a:noFill/>
        </p:spPr>
        <p:txBody>
          <a:bodyPr wrap="square" anchor="t" lIns="0" rIns="0" tIns="0" bIns="0">
            <a:spAutoFit/>
          </a:bodyPr>
          <a:lstStyle/>
          <a:p>
            <a:pPr algn="l">
              <a:lnSpc>
                <a:spcPct val="125000"/>
              </a:lnSpc>
            </a:pPr>
            <a:r>
              <a:rPr sz="1150" b="1">
                <a:solidFill>
                  <a:srgbClr val="F96167"/>
                </a:solidFill>
                <a:latin typeface="Meiryo"/>
                <a:ea typeface="Meiryo"/>
                <a:cs typeface="Meiryo"/>
              </a:rPr>
              <a:t>✓</a:t>
            </a:r>
          </a:p>
        </p:txBody>
      </p:sp>
      <p:sp>
        <p:nvSpPr>
          <p:cNvPr id="19" name="TextBox 18"/>
          <p:cNvSpPr txBox="1"/>
          <p:nvPr/>
        </p:nvSpPr>
        <p:spPr>
          <a:xfrm>
            <a:off x="1042416" y="3584448"/>
            <a:ext cx="2697480" cy="237744"/>
          </a:xfrm>
          <a:prstGeom prst="rect">
            <a:avLst/>
          </a:prstGeom>
          <a:noFill/>
        </p:spPr>
        <p:txBody>
          <a:bodyPr wrap="square" anchor="t" lIns="0" rIns="0" tIns="0" bIns="0">
            <a:spAutoFit/>
          </a:bodyPr>
          <a:lstStyle/>
          <a:p>
            <a:pPr algn="l">
              <a:lnSpc>
                <a:spcPct val="125000"/>
              </a:lnSpc>
            </a:pPr>
            <a:r>
              <a:rPr sz="1100" b="0">
                <a:solidFill>
                  <a:srgbClr val="1E293B"/>
                </a:solidFill>
                <a:latin typeface="Meiryo"/>
                <a:ea typeface="Meiryo"/>
                <a:cs typeface="Meiryo"/>
              </a:rPr>
              <a:t>実際の業務の中で継続利用</a:t>
            </a:r>
          </a:p>
        </p:txBody>
      </p:sp>
      <p:sp>
        <p:nvSpPr>
          <p:cNvPr id="20" name="TextBox 19"/>
          <p:cNvSpPr txBox="1"/>
          <p:nvPr/>
        </p:nvSpPr>
        <p:spPr>
          <a:xfrm>
            <a:off x="804672" y="4206240"/>
            <a:ext cx="201168" cy="237744"/>
          </a:xfrm>
          <a:prstGeom prst="rect">
            <a:avLst/>
          </a:prstGeom>
          <a:noFill/>
        </p:spPr>
        <p:txBody>
          <a:bodyPr wrap="square" anchor="t" lIns="0" rIns="0" tIns="0" bIns="0">
            <a:spAutoFit/>
          </a:bodyPr>
          <a:lstStyle/>
          <a:p>
            <a:pPr algn="l">
              <a:lnSpc>
                <a:spcPct val="125000"/>
              </a:lnSpc>
            </a:pPr>
            <a:r>
              <a:rPr sz="1150" b="1">
                <a:solidFill>
                  <a:srgbClr val="F96167"/>
                </a:solidFill>
                <a:latin typeface="Meiryo"/>
                <a:ea typeface="Meiryo"/>
                <a:cs typeface="Meiryo"/>
              </a:rPr>
              <a:t>✓</a:t>
            </a:r>
          </a:p>
        </p:txBody>
      </p:sp>
      <p:sp>
        <p:nvSpPr>
          <p:cNvPr id="21" name="TextBox 20"/>
          <p:cNvSpPr txBox="1"/>
          <p:nvPr/>
        </p:nvSpPr>
        <p:spPr>
          <a:xfrm>
            <a:off x="1042416" y="4206240"/>
            <a:ext cx="2697480" cy="237744"/>
          </a:xfrm>
          <a:prstGeom prst="rect">
            <a:avLst/>
          </a:prstGeom>
          <a:noFill/>
        </p:spPr>
        <p:txBody>
          <a:bodyPr wrap="square" anchor="t" lIns="0" rIns="0" tIns="0" bIns="0">
            <a:spAutoFit/>
          </a:bodyPr>
          <a:lstStyle/>
          <a:p>
            <a:pPr algn="l">
              <a:lnSpc>
                <a:spcPct val="125000"/>
              </a:lnSpc>
            </a:pPr>
            <a:r>
              <a:rPr sz="1100" b="0">
                <a:solidFill>
                  <a:srgbClr val="1E293B"/>
                </a:solidFill>
                <a:latin typeface="Meiryo"/>
                <a:ea typeface="Meiryo"/>
                <a:cs typeface="Meiryo"/>
              </a:rPr>
              <a:t>利用場面と対話の流れを確認</a:t>
            </a:r>
          </a:p>
        </p:txBody>
      </p:sp>
      <p:sp>
        <p:nvSpPr>
          <p:cNvPr id="22" name="Rounded Rectangle 21"/>
          <p:cNvSpPr/>
          <p:nvPr/>
        </p:nvSpPr>
        <p:spPr>
          <a:xfrm>
            <a:off x="4389120" y="1737360"/>
            <a:ext cx="3410712" cy="3383280"/>
          </a:xfrm>
          <a:prstGeom prst="roundRect">
            <a:avLst>
              <a:gd name="adj" fmla="val 3500"/>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4389120" y="1737360"/>
            <a:ext cx="3410712" cy="914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Oval 23"/>
          <p:cNvSpPr/>
          <p:nvPr/>
        </p:nvSpPr>
        <p:spPr>
          <a:xfrm>
            <a:off x="4626864" y="2066543"/>
            <a:ext cx="420624" cy="420624"/>
          </a:xfrm>
          <a:prstGeom prst="ellipse">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4626864" y="2133843"/>
            <a:ext cx="420624" cy="294436"/>
          </a:xfrm>
          <a:prstGeom prst="rect">
            <a:avLst/>
          </a:prstGeom>
          <a:noFill/>
        </p:spPr>
        <p:txBody>
          <a:bodyPr wrap="square" anchor="t" lIns="0" rIns="0" tIns="0" bIns="0">
            <a:spAutoFit/>
          </a:bodyPr>
          <a:lstStyle/>
          <a:p>
            <a:pPr algn="ctr">
              <a:lnSpc>
                <a:spcPct val="125000"/>
              </a:lnSpc>
            </a:pPr>
            <a:r>
              <a:rPr sz="1300" b="1">
                <a:solidFill>
                  <a:srgbClr val="FFFFFF"/>
                </a:solidFill>
                <a:latin typeface="Meiryo"/>
                <a:ea typeface="Meiryo"/>
                <a:cs typeface="Meiryo"/>
              </a:rPr>
              <a:t>2</a:t>
            </a:r>
          </a:p>
        </p:txBody>
      </p:sp>
      <p:sp>
        <p:nvSpPr>
          <p:cNvPr id="26" name="TextBox 25"/>
          <p:cNvSpPr txBox="1"/>
          <p:nvPr/>
        </p:nvSpPr>
        <p:spPr>
          <a:xfrm>
            <a:off x="5193792" y="2121408"/>
            <a:ext cx="2368296" cy="310896"/>
          </a:xfrm>
          <a:prstGeom prst="rect">
            <a:avLst/>
          </a:prstGeom>
          <a:noFill/>
        </p:spPr>
        <p:txBody>
          <a:bodyPr wrap="square" anchor="t" lIns="0" rIns="0" tIns="0" bIns="0">
            <a:spAutoFit/>
          </a:bodyPr>
          <a:lstStyle/>
          <a:p>
            <a:pPr algn="l">
              <a:lnSpc>
                <a:spcPct val="125000"/>
              </a:lnSpc>
            </a:pPr>
            <a:r>
              <a:rPr sz="1450" b="1">
                <a:solidFill>
                  <a:srgbClr val="144B7F"/>
                </a:solidFill>
                <a:latin typeface="Meiryo"/>
                <a:ea typeface="Meiryo"/>
                <a:cs typeface="Meiryo"/>
              </a:rPr>
              <a:t>運用仮説を検証</a:t>
            </a:r>
          </a:p>
        </p:txBody>
      </p:sp>
      <p:sp>
        <p:nvSpPr>
          <p:cNvPr id="27" name="Rectangle 26"/>
          <p:cNvSpPr/>
          <p:nvPr/>
        </p:nvSpPr>
        <p:spPr>
          <a:xfrm>
            <a:off x="4626864" y="2706624"/>
            <a:ext cx="2935224" cy="27432"/>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4626864" y="2962656"/>
            <a:ext cx="201168" cy="237744"/>
          </a:xfrm>
          <a:prstGeom prst="rect">
            <a:avLst/>
          </a:prstGeom>
          <a:noFill/>
        </p:spPr>
        <p:txBody>
          <a:bodyPr wrap="square" anchor="t" lIns="0" rIns="0" tIns="0" bIns="0">
            <a:spAutoFit/>
          </a:bodyPr>
          <a:lstStyle/>
          <a:p>
            <a:pPr algn="l">
              <a:lnSpc>
                <a:spcPct val="125000"/>
              </a:lnSpc>
            </a:pPr>
            <a:r>
              <a:rPr sz="1150" b="1">
                <a:solidFill>
                  <a:srgbClr val="F96167"/>
                </a:solidFill>
                <a:latin typeface="Meiryo"/>
                <a:ea typeface="Meiryo"/>
                <a:cs typeface="Meiryo"/>
              </a:rPr>
              <a:t>✓</a:t>
            </a:r>
          </a:p>
        </p:txBody>
      </p:sp>
      <p:sp>
        <p:nvSpPr>
          <p:cNvPr id="29" name="TextBox 28"/>
          <p:cNvSpPr txBox="1"/>
          <p:nvPr/>
        </p:nvSpPr>
        <p:spPr>
          <a:xfrm>
            <a:off x="4864608" y="2962656"/>
            <a:ext cx="2697480" cy="237744"/>
          </a:xfrm>
          <a:prstGeom prst="rect">
            <a:avLst/>
          </a:prstGeom>
          <a:noFill/>
        </p:spPr>
        <p:txBody>
          <a:bodyPr wrap="square" anchor="t" lIns="0" rIns="0" tIns="0" bIns="0">
            <a:spAutoFit/>
          </a:bodyPr>
          <a:lstStyle/>
          <a:p>
            <a:pPr algn="l">
              <a:lnSpc>
                <a:spcPct val="125000"/>
              </a:lnSpc>
            </a:pPr>
            <a:r>
              <a:rPr sz="1100" b="0">
                <a:solidFill>
                  <a:srgbClr val="1E293B"/>
                </a:solidFill>
                <a:latin typeface="Meiryo"/>
                <a:ea typeface="Meiryo"/>
                <a:cs typeface="Meiryo"/>
              </a:rPr>
              <a:t>本人が行動に落とし込めるか</a:t>
            </a:r>
          </a:p>
        </p:txBody>
      </p:sp>
      <p:sp>
        <p:nvSpPr>
          <p:cNvPr id="30" name="TextBox 29"/>
          <p:cNvSpPr txBox="1"/>
          <p:nvPr/>
        </p:nvSpPr>
        <p:spPr>
          <a:xfrm>
            <a:off x="4626864" y="3584448"/>
            <a:ext cx="201168" cy="237744"/>
          </a:xfrm>
          <a:prstGeom prst="rect">
            <a:avLst/>
          </a:prstGeom>
          <a:noFill/>
        </p:spPr>
        <p:txBody>
          <a:bodyPr wrap="square" anchor="t" lIns="0" rIns="0" tIns="0" bIns="0">
            <a:spAutoFit/>
          </a:bodyPr>
          <a:lstStyle/>
          <a:p>
            <a:pPr algn="l">
              <a:lnSpc>
                <a:spcPct val="125000"/>
              </a:lnSpc>
            </a:pPr>
            <a:r>
              <a:rPr sz="1150" b="1">
                <a:solidFill>
                  <a:srgbClr val="F96167"/>
                </a:solidFill>
                <a:latin typeface="Meiryo"/>
                <a:ea typeface="Meiryo"/>
                <a:cs typeface="Meiryo"/>
              </a:rPr>
              <a:t>✓</a:t>
            </a:r>
          </a:p>
        </p:txBody>
      </p:sp>
      <p:sp>
        <p:nvSpPr>
          <p:cNvPr id="31" name="TextBox 30"/>
          <p:cNvSpPr txBox="1"/>
          <p:nvPr/>
        </p:nvSpPr>
        <p:spPr>
          <a:xfrm>
            <a:off x="4864608" y="3584448"/>
            <a:ext cx="2697480" cy="237744"/>
          </a:xfrm>
          <a:prstGeom prst="rect">
            <a:avLst/>
          </a:prstGeom>
          <a:noFill/>
        </p:spPr>
        <p:txBody>
          <a:bodyPr wrap="square" anchor="t" lIns="0" rIns="0" tIns="0" bIns="0">
            <a:spAutoFit/>
          </a:bodyPr>
          <a:lstStyle/>
          <a:p>
            <a:pPr algn="l">
              <a:lnSpc>
                <a:spcPct val="125000"/>
              </a:lnSpc>
            </a:pPr>
            <a:r>
              <a:rPr sz="1100" b="0">
                <a:solidFill>
                  <a:srgbClr val="1E293B"/>
                </a:solidFill>
                <a:latin typeface="Meiryo"/>
                <a:ea typeface="Meiryo"/>
                <a:cs typeface="Meiryo"/>
              </a:rPr>
              <a:t>管理職の対話に役立つか</a:t>
            </a:r>
          </a:p>
        </p:txBody>
      </p:sp>
      <p:sp>
        <p:nvSpPr>
          <p:cNvPr id="32" name="TextBox 31"/>
          <p:cNvSpPr txBox="1"/>
          <p:nvPr/>
        </p:nvSpPr>
        <p:spPr>
          <a:xfrm>
            <a:off x="4626864" y="4206240"/>
            <a:ext cx="201168" cy="237744"/>
          </a:xfrm>
          <a:prstGeom prst="rect">
            <a:avLst/>
          </a:prstGeom>
          <a:noFill/>
        </p:spPr>
        <p:txBody>
          <a:bodyPr wrap="square" anchor="t" lIns="0" rIns="0" tIns="0" bIns="0">
            <a:spAutoFit/>
          </a:bodyPr>
          <a:lstStyle/>
          <a:p>
            <a:pPr algn="l">
              <a:lnSpc>
                <a:spcPct val="125000"/>
              </a:lnSpc>
            </a:pPr>
            <a:r>
              <a:rPr sz="1150" b="1">
                <a:solidFill>
                  <a:srgbClr val="F96167"/>
                </a:solidFill>
                <a:latin typeface="Meiryo"/>
                <a:ea typeface="Meiryo"/>
                <a:cs typeface="Meiryo"/>
              </a:rPr>
              <a:t>✓</a:t>
            </a:r>
          </a:p>
        </p:txBody>
      </p:sp>
      <p:sp>
        <p:nvSpPr>
          <p:cNvPr id="33" name="TextBox 32"/>
          <p:cNvSpPr txBox="1"/>
          <p:nvPr/>
        </p:nvSpPr>
        <p:spPr>
          <a:xfrm>
            <a:off x="4864608" y="4206240"/>
            <a:ext cx="2697480" cy="237744"/>
          </a:xfrm>
          <a:prstGeom prst="rect">
            <a:avLst/>
          </a:prstGeom>
          <a:noFill/>
        </p:spPr>
        <p:txBody>
          <a:bodyPr wrap="square" anchor="t" lIns="0" rIns="0" tIns="0" bIns="0">
            <a:spAutoFit/>
          </a:bodyPr>
          <a:lstStyle/>
          <a:p>
            <a:pPr algn="l">
              <a:lnSpc>
                <a:spcPct val="125000"/>
              </a:lnSpc>
            </a:pPr>
            <a:r>
              <a:rPr sz="1100" b="0">
                <a:solidFill>
                  <a:srgbClr val="1E293B"/>
                </a:solidFill>
                <a:latin typeface="Meiryo"/>
                <a:ea typeface="Meiryo"/>
                <a:cs typeface="Meiryo"/>
              </a:rPr>
              <a:t>無理なく続けられる頻度か</a:t>
            </a:r>
          </a:p>
        </p:txBody>
      </p:sp>
      <p:sp>
        <p:nvSpPr>
          <p:cNvPr id="34" name="Rounded Rectangle 33"/>
          <p:cNvSpPr/>
          <p:nvPr/>
        </p:nvSpPr>
        <p:spPr>
          <a:xfrm>
            <a:off x="8211312" y="1737360"/>
            <a:ext cx="3410712" cy="3383280"/>
          </a:xfrm>
          <a:prstGeom prst="roundRect">
            <a:avLst>
              <a:gd name="adj" fmla="val 3500"/>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8211312" y="1737360"/>
            <a:ext cx="3410712" cy="91440"/>
          </a:xfrm>
          <a:prstGeom prst="rect">
            <a:avLst/>
          </a:prstGeom>
          <a:solidFill>
            <a:srgbClr val="144B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Oval 35"/>
          <p:cNvSpPr/>
          <p:nvPr/>
        </p:nvSpPr>
        <p:spPr>
          <a:xfrm>
            <a:off x="8449056" y="2066543"/>
            <a:ext cx="420624" cy="420624"/>
          </a:xfrm>
          <a:prstGeom prst="ellipse">
            <a:avLst/>
          </a:prstGeom>
          <a:solidFill>
            <a:srgbClr val="144B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8449056" y="2133843"/>
            <a:ext cx="420624" cy="294436"/>
          </a:xfrm>
          <a:prstGeom prst="rect">
            <a:avLst/>
          </a:prstGeom>
          <a:noFill/>
        </p:spPr>
        <p:txBody>
          <a:bodyPr wrap="square" anchor="t" lIns="0" rIns="0" tIns="0" bIns="0">
            <a:spAutoFit/>
          </a:bodyPr>
          <a:lstStyle/>
          <a:p>
            <a:pPr algn="ctr">
              <a:lnSpc>
                <a:spcPct val="125000"/>
              </a:lnSpc>
            </a:pPr>
            <a:r>
              <a:rPr sz="1300" b="1">
                <a:solidFill>
                  <a:srgbClr val="FFFFFF"/>
                </a:solidFill>
                <a:latin typeface="Meiryo"/>
                <a:ea typeface="Meiryo"/>
                <a:cs typeface="Meiryo"/>
              </a:rPr>
              <a:t>3</a:t>
            </a:r>
          </a:p>
        </p:txBody>
      </p:sp>
      <p:sp>
        <p:nvSpPr>
          <p:cNvPr id="38" name="TextBox 37"/>
          <p:cNvSpPr txBox="1"/>
          <p:nvPr/>
        </p:nvSpPr>
        <p:spPr>
          <a:xfrm>
            <a:off x="9015984" y="2121408"/>
            <a:ext cx="2368296" cy="310896"/>
          </a:xfrm>
          <a:prstGeom prst="rect">
            <a:avLst/>
          </a:prstGeom>
          <a:noFill/>
        </p:spPr>
        <p:txBody>
          <a:bodyPr wrap="square" anchor="t" lIns="0" rIns="0" tIns="0" bIns="0">
            <a:spAutoFit/>
          </a:bodyPr>
          <a:lstStyle/>
          <a:p>
            <a:pPr algn="l">
              <a:lnSpc>
                <a:spcPct val="125000"/>
              </a:lnSpc>
            </a:pPr>
            <a:r>
              <a:rPr sz="1450" b="1">
                <a:solidFill>
                  <a:srgbClr val="144B7F"/>
                </a:solidFill>
                <a:latin typeface="Meiryo"/>
                <a:ea typeface="Meiryo"/>
                <a:cs typeface="Meiryo"/>
              </a:rPr>
              <a:t>学びを整理する</a:t>
            </a:r>
          </a:p>
        </p:txBody>
      </p:sp>
      <p:sp>
        <p:nvSpPr>
          <p:cNvPr id="39" name="Rectangle 38"/>
          <p:cNvSpPr/>
          <p:nvPr/>
        </p:nvSpPr>
        <p:spPr>
          <a:xfrm>
            <a:off x="8449056" y="2706624"/>
            <a:ext cx="2935224" cy="27432"/>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8449056" y="2962656"/>
            <a:ext cx="201168" cy="237744"/>
          </a:xfrm>
          <a:prstGeom prst="rect">
            <a:avLst/>
          </a:prstGeom>
          <a:noFill/>
        </p:spPr>
        <p:txBody>
          <a:bodyPr wrap="square" anchor="t" lIns="0" rIns="0" tIns="0" bIns="0">
            <a:spAutoFit/>
          </a:bodyPr>
          <a:lstStyle/>
          <a:p>
            <a:pPr algn="l">
              <a:lnSpc>
                <a:spcPct val="125000"/>
              </a:lnSpc>
            </a:pPr>
            <a:r>
              <a:rPr sz="1150" b="1">
                <a:solidFill>
                  <a:srgbClr val="F96167"/>
                </a:solidFill>
                <a:latin typeface="Meiryo"/>
                <a:ea typeface="Meiryo"/>
                <a:cs typeface="Meiryo"/>
              </a:rPr>
              <a:t>✓</a:t>
            </a:r>
          </a:p>
        </p:txBody>
      </p:sp>
      <p:sp>
        <p:nvSpPr>
          <p:cNvPr id="41" name="TextBox 40"/>
          <p:cNvSpPr txBox="1"/>
          <p:nvPr/>
        </p:nvSpPr>
        <p:spPr>
          <a:xfrm>
            <a:off x="8686800" y="2962656"/>
            <a:ext cx="2697480" cy="237744"/>
          </a:xfrm>
          <a:prstGeom prst="rect">
            <a:avLst/>
          </a:prstGeom>
          <a:noFill/>
        </p:spPr>
        <p:txBody>
          <a:bodyPr wrap="square" anchor="t" lIns="0" rIns="0" tIns="0" bIns="0">
            <a:spAutoFit/>
          </a:bodyPr>
          <a:lstStyle/>
          <a:p>
            <a:pPr algn="l">
              <a:lnSpc>
                <a:spcPct val="125000"/>
              </a:lnSpc>
            </a:pPr>
            <a:r>
              <a:rPr sz="1100" b="0">
                <a:solidFill>
                  <a:srgbClr val="1E293B"/>
                </a:solidFill>
                <a:latin typeface="Meiryo"/>
                <a:ea typeface="Meiryo"/>
                <a:cs typeface="Meiryo"/>
              </a:rPr>
              <a:t>有効だった支援方法を整理</a:t>
            </a:r>
          </a:p>
        </p:txBody>
      </p:sp>
      <p:sp>
        <p:nvSpPr>
          <p:cNvPr id="42" name="TextBox 41"/>
          <p:cNvSpPr txBox="1"/>
          <p:nvPr/>
        </p:nvSpPr>
        <p:spPr>
          <a:xfrm>
            <a:off x="8449056" y="3584448"/>
            <a:ext cx="201168" cy="237744"/>
          </a:xfrm>
          <a:prstGeom prst="rect">
            <a:avLst/>
          </a:prstGeom>
          <a:noFill/>
        </p:spPr>
        <p:txBody>
          <a:bodyPr wrap="square" anchor="t" lIns="0" rIns="0" tIns="0" bIns="0">
            <a:spAutoFit/>
          </a:bodyPr>
          <a:lstStyle/>
          <a:p>
            <a:pPr algn="l">
              <a:lnSpc>
                <a:spcPct val="125000"/>
              </a:lnSpc>
            </a:pPr>
            <a:r>
              <a:rPr sz="1150" b="1">
                <a:solidFill>
                  <a:srgbClr val="F96167"/>
                </a:solidFill>
                <a:latin typeface="Meiryo"/>
                <a:ea typeface="Meiryo"/>
                <a:cs typeface="Meiryo"/>
              </a:rPr>
              <a:t>✓</a:t>
            </a:r>
          </a:p>
        </p:txBody>
      </p:sp>
      <p:sp>
        <p:nvSpPr>
          <p:cNvPr id="43" name="TextBox 42"/>
          <p:cNvSpPr txBox="1"/>
          <p:nvPr/>
        </p:nvSpPr>
        <p:spPr>
          <a:xfrm>
            <a:off x="8686800" y="3584448"/>
            <a:ext cx="2697480" cy="237744"/>
          </a:xfrm>
          <a:prstGeom prst="rect">
            <a:avLst/>
          </a:prstGeom>
          <a:noFill/>
        </p:spPr>
        <p:txBody>
          <a:bodyPr wrap="square" anchor="t" lIns="0" rIns="0" tIns="0" bIns="0">
            <a:spAutoFit/>
          </a:bodyPr>
          <a:lstStyle/>
          <a:p>
            <a:pPr algn="l">
              <a:lnSpc>
                <a:spcPct val="125000"/>
              </a:lnSpc>
            </a:pPr>
            <a:r>
              <a:rPr sz="1100" b="0">
                <a:solidFill>
                  <a:srgbClr val="1E293B"/>
                </a:solidFill>
                <a:latin typeface="Meiryo"/>
                <a:ea typeface="Meiryo"/>
                <a:cs typeface="Meiryo"/>
              </a:rPr>
              <a:t>改善すべき機能・運用を特定</a:t>
            </a:r>
          </a:p>
        </p:txBody>
      </p:sp>
      <p:sp>
        <p:nvSpPr>
          <p:cNvPr id="44" name="TextBox 43"/>
          <p:cNvSpPr txBox="1"/>
          <p:nvPr/>
        </p:nvSpPr>
        <p:spPr>
          <a:xfrm>
            <a:off x="8449056" y="4206240"/>
            <a:ext cx="201168" cy="237744"/>
          </a:xfrm>
          <a:prstGeom prst="rect">
            <a:avLst/>
          </a:prstGeom>
          <a:noFill/>
        </p:spPr>
        <p:txBody>
          <a:bodyPr wrap="square" anchor="t" lIns="0" rIns="0" tIns="0" bIns="0">
            <a:spAutoFit/>
          </a:bodyPr>
          <a:lstStyle/>
          <a:p>
            <a:pPr algn="l">
              <a:lnSpc>
                <a:spcPct val="125000"/>
              </a:lnSpc>
            </a:pPr>
            <a:r>
              <a:rPr sz="1150" b="1">
                <a:solidFill>
                  <a:srgbClr val="F96167"/>
                </a:solidFill>
                <a:latin typeface="Meiryo"/>
                <a:ea typeface="Meiryo"/>
                <a:cs typeface="Meiryo"/>
              </a:rPr>
              <a:t>✓</a:t>
            </a:r>
          </a:p>
        </p:txBody>
      </p:sp>
      <p:sp>
        <p:nvSpPr>
          <p:cNvPr id="45" name="TextBox 44"/>
          <p:cNvSpPr txBox="1"/>
          <p:nvPr/>
        </p:nvSpPr>
        <p:spPr>
          <a:xfrm>
            <a:off x="8686800" y="4206240"/>
            <a:ext cx="2697480" cy="237744"/>
          </a:xfrm>
          <a:prstGeom prst="rect">
            <a:avLst/>
          </a:prstGeom>
          <a:noFill/>
        </p:spPr>
        <p:txBody>
          <a:bodyPr wrap="square" anchor="t" lIns="0" rIns="0" tIns="0" bIns="0">
            <a:spAutoFit/>
          </a:bodyPr>
          <a:lstStyle/>
          <a:p>
            <a:pPr algn="l">
              <a:lnSpc>
                <a:spcPct val="125000"/>
              </a:lnSpc>
            </a:pPr>
            <a:r>
              <a:rPr sz="1100" b="0">
                <a:solidFill>
                  <a:srgbClr val="1E293B"/>
                </a:solidFill>
                <a:latin typeface="Meiryo"/>
                <a:ea typeface="Meiryo"/>
                <a:cs typeface="Meiryo"/>
              </a:rPr>
              <a:t>顧客企業への展開可能性を検討</a:t>
            </a:r>
          </a:p>
        </p:txBody>
      </p:sp>
      <p:sp>
        <p:nvSpPr>
          <p:cNvPr id="46" name="Rounded Rectangle 45"/>
          <p:cNvSpPr/>
          <p:nvPr/>
        </p:nvSpPr>
        <p:spPr>
          <a:xfrm>
            <a:off x="566928" y="5394960"/>
            <a:ext cx="11055096" cy="603504"/>
          </a:xfrm>
          <a:prstGeom prst="roundRect">
            <a:avLst>
              <a:gd name="adj" fmla="val 16000"/>
            </a:avLst>
          </a:prstGeom>
          <a:solidFill>
            <a:srgbClr val="FDEC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804672" y="5577840"/>
            <a:ext cx="10579608" cy="274320"/>
          </a:xfrm>
          <a:prstGeom prst="rect">
            <a:avLst/>
          </a:prstGeom>
          <a:noFill/>
        </p:spPr>
        <p:txBody>
          <a:bodyPr wrap="square" anchor="t" lIns="0" rIns="0" tIns="0" bIns="0">
            <a:spAutoFit/>
          </a:bodyPr>
          <a:lstStyle/>
          <a:p>
            <a:pPr algn="l">
              <a:lnSpc>
                <a:spcPct val="125000"/>
              </a:lnSpc>
            </a:pPr>
            <a:r>
              <a:rPr sz="1200" b="1">
                <a:solidFill>
                  <a:srgbClr val="E0454B"/>
                </a:solidFill>
                <a:latin typeface="Meiryo"/>
                <a:ea typeface="Meiryo"/>
                <a:cs typeface="Meiryo"/>
              </a:rPr>
              <a:t>社内POCの結果をもとに、再現できる若手支援の形を一緒に整理します。</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9683496" cy="384048"/>
          </a:xfrm>
          <a:prstGeom prst="rect">
            <a:avLst/>
          </a:prstGeom>
          <a:noFill/>
        </p:spPr>
        <p:txBody>
          <a:bodyPr wrap="square" anchor="t" lIns="0" rIns="0" tIns="0" bIns="0">
            <a:spAutoFit/>
          </a:bodyPr>
          <a:lstStyle/>
          <a:p>
            <a:pPr algn="l">
              <a:lnSpc>
                <a:spcPct val="125000"/>
              </a:lnSpc>
            </a:pPr>
            <a:r>
              <a:rPr sz="2100" b="1">
                <a:solidFill>
                  <a:srgbClr val="144B7F"/>
                </a:solidFill>
                <a:latin typeface="Meiryo"/>
                <a:ea typeface="Meiryo"/>
                <a:cs typeface="Meiryo"/>
              </a:rPr>
              <a:t>FOR ORGANIZATION｜若手活躍を支える2者と仕組み</a:t>
            </a:r>
          </a:p>
        </p:txBody>
      </p:sp>
      <p:pic>
        <p:nvPicPr>
          <p:cNvPr id="3" name="Picture 2" descr="lock.png"/>
          <p:cNvPicPr>
            <a:picLocks noChangeAspect="1"/>
          </p:cNvPicPr>
          <p:nvPr/>
        </p:nvPicPr>
        <p:blipFill>
          <a:blip r:embed="rId2"/>
          <a:stretch>
            <a:fillRect/>
          </a:stretch>
        </p:blipFill>
        <p:spPr>
          <a:xfrm>
            <a:off x="10488168" y="365760"/>
            <a:ext cx="1123340" cy="237744"/>
          </a:xfrm>
          <a:prstGeom prst="rect">
            <a:avLst/>
          </a:prstGeom>
        </p:spPr>
      </p:pic>
      <p:sp>
        <p:nvSpPr>
          <p:cNvPr id="4" name="Rectangle 3"/>
          <p:cNvSpPr/>
          <p:nvPr/>
        </p:nvSpPr>
        <p:spPr>
          <a:xfrm>
            <a:off x="566928" y="868680"/>
            <a:ext cx="11055096" cy="12801"/>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1060704"/>
            <a:ext cx="50292" cy="2743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749808" y="1042415"/>
            <a:ext cx="10872216" cy="310896"/>
          </a:xfrm>
          <a:prstGeom prst="rect">
            <a:avLst/>
          </a:prstGeom>
          <a:noFill/>
        </p:spPr>
        <p:txBody>
          <a:bodyPr wrap="square" anchor="t" lIns="0" rIns="0" tIns="0" bIns="0">
            <a:spAutoFit/>
          </a:bodyPr>
          <a:lstStyle/>
          <a:p>
            <a:pPr algn="l">
              <a:lnSpc>
                <a:spcPct val="125000"/>
              </a:lnSpc>
            </a:pPr>
            <a:r>
              <a:rPr sz="1450" b="1">
                <a:solidFill>
                  <a:srgbClr val="144B7F"/>
                </a:solidFill>
                <a:latin typeface="Meiryo"/>
                <a:ea typeface="Meiryo"/>
                <a:cs typeface="Meiryo"/>
              </a:rPr>
              <a:t>若手本人と管理職の対話を、CoreUniqが支える</a:t>
            </a:r>
          </a:p>
        </p:txBody>
      </p:sp>
      <p:sp>
        <p:nvSpPr>
          <p:cNvPr id="7" name="Rectangle 6"/>
          <p:cNvSpPr/>
          <p:nvPr/>
        </p:nvSpPr>
        <p:spPr>
          <a:xfrm>
            <a:off x="566928" y="6419088"/>
            <a:ext cx="11055096" cy="10972"/>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566928" y="6519672"/>
            <a:ext cx="10735056" cy="182880"/>
          </a:xfrm>
          <a:prstGeom prst="rect">
            <a:avLst/>
          </a:prstGeom>
          <a:noFill/>
        </p:spPr>
        <p:txBody>
          <a:bodyPr wrap="square" anchor="t" lIns="0" rIns="0" tIns="0" bIns="0">
            <a:spAutoFit/>
          </a:bodyPr>
          <a:lstStyle/>
          <a:p>
            <a:pPr algn="r">
              <a:lnSpc>
                <a:spcPct val="125000"/>
              </a:lnSpc>
            </a:pPr>
            <a:r>
              <a:rPr sz="750" b="0">
                <a:solidFill>
                  <a:srgbClr val="939EAC"/>
                </a:solidFill>
                <a:latin typeface="Meiryo"/>
                <a:ea typeface="Meiryo"/>
                <a:cs typeface="Meiryo"/>
              </a:rPr>
              <a:t>© Givin' Back Inc. All Rights Reserved.  |  Confidential</a:t>
            </a:r>
          </a:p>
        </p:txBody>
      </p:sp>
      <p:sp>
        <p:nvSpPr>
          <p:cNvPr id="9" name="TextBox 8"/>
          <p:cNvSpPr txBox="1"/>
          <p:nvPr/>
        </p:nvSpPr>
        <p:spPr>
          <a:xfrm>
            <a:off x="11329416" y="6501384"/>
            <a:ext cx="292608" cy="201168"/>
          </a:xfrm>
          <a:prstGeom prst="rect">
            <a:avLst/>
          </a:prstGeom>
          <a:noFill/>
        </p:spPr>
        <p:txBody>
          <a:bodyPr wrap="square" anchor="t" lIns="0" rIns="0" tIns="0" bIns="0">
            <a:spAutoFit/>
          </a:bodyPr>
          <a:lstStyle/>
          <a:p>
            <a:pPr algn="r">
              <a:lnSpc>
                <a:spcPct val="125000"/>
              </a:lnSpc>
            </a:pPr>
            <a:r>
              <a:rPr sz="900" b="1">
                <a:solidFill>
                  <a:srgbClr val="144B7F"/>
                </a:solidFill>
                <a:latin typeface="Meiryo"/>
                <a:ea typeface="Meiryo"/>
                <a:cs typeface="Meiryo"/>
              </a:rPr>
              <a:t>8</a:t>
            </a:r>
          </a:p>
        </p:txBody>
      </p:sp>
      <p:sp>
        <p:nvSpPr>
          <p:cNvPr id="10" name="Rounded Rectangle 9"/>
          <p:cNvSpPr/>
          <p:nvPr/>
        </p:nvSpPr>
        <p:spPr>
          <a:xfrm>
            <a:off x="566928" y="1719072"/>
            <a:ext cx="3410712" cy="3401568"/>
          </a:xfrm>
          <a:prstGeom prst="roundRect">
            <a:avLst>
              <a:gd name="adj" fmla="val 3500"/>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566928" y="1719072"/>
            <a:ext cx="3410712" cy="91440"/>
          </a:xfrm>
          <a:prstGeom prst="rect">
            <a:avLst/>
          </a:prstGeom>
          <a:solidFill>
            <a:srgbClr val="144B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04672" y="1975104"/>
            <a:ext cx="2935224" cy="219456"/>
          </a:xfrm>
          <a:prstGeom prst="rect">
            <a:avLst/>
          </a:prstGeom>
          <a:noFill/>
        </p:spPr>
        <p:txBody>
          <a:bodyPr wrap="square" anchor="t" lIns="0" rIns="0" tIns="0" bIns="0">
            <a:spAutoFit/>
          </a:bodyPr>
          <a:lstStyle/>
          <a:p>
            <a:pPr algn="l">
              <a:lnSpc>
                <a:spcPct val="125000"/>
              </a:lnSpc>
            </a:pPr>
            <a:r>
              <a:rPr sz="900" b="1">
                <a:solidFill>
                  <a:srgbClr val="144B7F"/>
                </a:solidFill>
                <a:latin typeface="Meiryo"/>
                <a:ea typeface="Meiryo"/>
                <a:cs typeface="Meiryo"/>
              </a:rPr>
              <a:t>PERSON 01</a:t>
            </a:r>
          </a:p>
        </p:txBody>
      </p:sp>
      <p:sp>
        <p:nvSpPr>
          <p:cNvPr id="13" name="TextBox 12"/>
          <p:cNvSpPr txBox="1"/>
          <p:nvPr/>
        </p:nvSpPr>
        <p:spPr>
          <a:xfrm>
            <a:off x="804672" y="2267712"/>
            <a:ext cx="2935224" cy="347472"/>
          </a:xfrm>
          <a:prstGeom prst="rect">
            <a:avLst/>
          </a:prstGeom>
          <a:noFill/>
        </p:spPr>
        <p:txBody>
          <a:bodyPr wrap="square" anchor="t" lIns="0" rIns="0" tIns="0" bIns="0">
            <a:spAutoFit/>
          </a:bodyPr>
          <a:lstStyle/>
          <a:p>
            <a:pPr algn="l">
              <a:lnSpc>
                <a:spcPct val="125000"/>
              </a:lnSpc>
            </a:pPr>
            <a:r>
              <a:rPr sz="1600" b="1">
                <a:solidFill>
                  <a:srgbClr val="144B7F"/>
                </a:solidFill>
                <a:latin typeface="Meiryo"/>
                <a:ea typeface="Meiryo"/>
                <a:cs typeface="Meiryo"/>
              </a:rPr>
              <a:t>若手本人</a:t>
            </a:r>
          </a:p>
        </p:txBody>
      </p:sp>
      <p:sp>
        <p:nvSpPr>
          <p:cNvPr id="14" name="Rectangle 13"/>
          <p:cNvSpPr/>
          <p:nvPr/>
        </p:nvSpPr>
        <p:spPr>
          <a:xfrm>
            <a:off x="804672" y="2743200"/>
            <a:ext cx="2935224" cy="27432"/>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04672" y="2926080"/>
            <a:ext cx="2935224" cy="822960"/>
          </a:xfrm>
          <a:prstGeom prst="rect">
            <a:avLst/>
          </a:prstGeom>
          <a:noFill/>
        </p:spPr>
        <p:txBody>
          <a:bodyPr wrap="square" anchor="t" lIns="0" rIns="0" tIns="0" bIns="0">
            <a:spAutoFit/>
          </a:bodyPr>
          <a:lstStyle/>
          <a:p>
            <a:pPr algn="l">
              <a:lnSpc>
                <a:spcPct val="140000"/>
              </a:lnSpc>
            </a:pPr>
            <a:r>
              <a:rPr sz="1100" b="0">
                <a:solidFill>
                  <a:srgbClr val="1E293B"/>
                </a:solidFill>
                <a:latin typeface="Meiryo"/>
                <a:ea typeface="Meiryo"/>
                <a:cs typeface="Meiryo"/>
              </a:rPr>
              <a:t>強みを仕事に活かし、自分から役割と貢献を広げていく。</a:t>
            </a:r>
          </a:p>
        </p:txBody>
      </p:sp>
      <p:sp>
        <p:nvSpPr>
          <p:cNvPr id="16" name="TextBox 15"/>
          <p:cNvSpPr txBox="1"/>
          <p:nvPr/>
        </p:nvSpPr>
        <p:spPr>
          <a:xfrm>
            <a:off x="804672" y="4041648"/>
            <a:ext cx="201168" cy="237744"/>
          </a:xfrm>
          <a:prstGeom prst="rect">
            <a:avLst/>
          </a:prstGeom>
          <a:noFill/>
        </p:spPr>
        <p:txBody>
          <a:bodyPr wrap="square" anchor="t" lIns="0" rIns="0" tIns="0" bIns="0">
            <a:spAutoFit/>
          </a:bodyPr>
          <a:lstStyle/>
          <a:p>
            <a:pPr algn="l">
              <a:lnSpc>
                <a:spcPct val="125000"/>
              </a:lnSpc>
            </a:pPr>
            <a:r>
              <a:rPr sz="1150" b="1">
                <a:solidFill>
                  <a:srgbClr val="F96167"/>
                </a:solidFill>
                <a:latin typeface="Meiryo"/>
                <a:ea typeface="Meiryo"/>
                <a:cs typeface="Meiryo"/>
              </a:rPr>
              <a:t>✓</a:t>
            </a:r>
          </a:p>
        </p:txBody>
      </p:sp>
      <p:sp>
        <p:nvSpPr>
          <p:cNvPr id="17" name="TextBox 16"/>
          <p:cNvSpPr txBox="1"/>
          <p:nvPr/>
        </p:nvSpPr>
        <p:spPr>
          <a:xfrm>
            <a:off x="1042416" y="4041648"/>
            <a:ext cx="2697480" cy="237744"/>
          </a:xfrm>
          <a:prstGeom prst="rect">
            <a:avLst/>
          </a:prstGeom>
          <a:noFill/>
        </p:spPr>
        <p:txBody>
          <a:bodyPr wrap="square" anchor="t" lIns="0" rIns="0" tIns="0" bIns="0">
            <a:spAutoFit/>
          </a:bodyPr>
          <a:lstStyle/>
          <a:p>
            <a:pPr algn="l">
              <a:lnSpc>
                <a:spcPct val="125000"/>
              </a:lnSpc>
            </a:pPr>
            <a:r>
              <a:rPr sz="1100" b="0">
                <a:solidFill>
                  <a:srgbClr val="1E293B"/>
                </a:solidFill>
                <a:latin typeface="Meiryo"/>
                <a:ea typeface="Meiryo"/>
                <a:cs typeface="Meiryo"/>
              </a:rPr>
              <a:t>仕事上の役割が見える</a:t>
            </a:r>
          </a:p>
        </p:txBody>
      </p:sp>
      <p:sp>
        <p:nvSpPr>
          <p:cNvPr id="18" name="TextBox 17"/>
          <p:cNvSpPr txBox="1"/>
          <p:nvPr/>
        </p:nvSpPr>
        <p:spPr>
          <a:xfrm>
            <a:off x="804672" y="4517136"/>
            <a:ext cx="201168" cy="237744"/>
          </a:xfrm>
          <a:prstGeom prst="rect">
            <a:avLst/>
          </a:prstGeom>
          <a:noFill/>
        </p:spPr>
        <p:txBody>
          <a:bodyPr wrap="square" anchor="t" lIns="0" rIns="0" tIns="0" bIns="0">
            <a:spAutoFit/>
          </a:bodyPr>
          <a:lstStyle/>
          <a:p>
            <a:pPr algn="l">
              <a:lnSpc>
                <a:spcPct val="125000"/>
              </a:lnSpc>
            </a:pPr>
            <a:r>
              <a:rPr sz="1150" b="1">
                <a:solidFill>
                  <a:srgbClr val="F96167"/>
                </a:solidFill>
                <a:latin typeface="Meiryo"/>
                <a:ea typeface="Meiryo"/>
                <a:cs typeface="Meiryo"/>
              </a:rPr>
              <a:t>✓</a:t>
            </a:r>
          </a:p>
        </p:txBody>
      </p:sp>
      <p:sp>
        <p:nvSpPr>
          <p:cNvPr id="19" name="TextBox 18"/>
          <p:cNvSpPr txBox="1"/>
          <p:nvPr/>
        </p:nvSpPr>
        <p:spPr>
          <a:xfrm>
            <a:off x="1042416" y="4517136"/>
            <a:ext cx="2697480" cy="237744"/>
          </a:xfrm>
          <a:prstGeom prst="rect">
            <a:avLst/>
          </a:prstGeom>
          <a:noFill/>
        </p:spPr>
        <p:txBody>
          <a:bodyPr wrap="square" anchor="t" lIns="0" rIns="0" tIns="0" bIns="0">
            <a:spAutoFit/>
          </a:bodyPr>
          <a:lstStyle/>
          <a:p>
            <a:pPr algn="l">
              <a:lnSpc>
                <a:spcPct val="125000"/>
              </a:lnSpc>
            </a:pPr>
            <a:r>
              <a:rPr sz="1100" b="0">
                <a:solidFill>
                  <a:srgbClr val="1E293B"/>
                </a:solidFill>
                <a:latin typeface="Meiryo"/>
                <a:ea typeface="Meiryo"/>
                <a:cs typeface="Meiryo"/>
              </a:rPr>
              <a:t>挑戦と貢献を自分から広げる</a:t>
            </a:r>
          </a:p>
        </p:txBody>
      </p:sp>
      <p:sp>
        <p:nvSpPr>
          <p:cNvPr id="20" name="Rounded Rectangle 19"/>
          <p:cNvSpPr/>
          <p:nvPr/>
        </p:nvSpPr>
        <p:spPr>
          <a:xfrm>
            <a:off x="4389120" y="1719072"/>
            <a:ext cx="3410712" cy="3401568"/>
          </a:xfrm>
          <a:prstGeom prst="roundRect">
            <a:avLst>
              <a:gd name="adj" fmla="val 3500"/>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4389120" y="1719072"/>
            <a:ext cx="3410712" cy="91440"/>
          </a:xfrm>
          <a:prstGeom prst="rect">
            <a:avLst/>
          </a:prstGeom>
          <a:solidFill>
            <a:srgbClr val="144B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626864" y="1975104"/>
            <a:ext cx="2935224" cy="219456"/>
          </a:xfrm>
          <a:prstGeom prst="rect">
            <a:avLst/>
          </a:prstGeom>
          <a:noFill/>
        </p:spPr>
        <p:txBody>
          <a:bodyPr wrap="square" anchor="t" lIns="0" rIns="0" tIns="0" bIns="0">
            <a:spAutoFit/>
          </a:bodyPr>
          <a:lstStyle/>
          <a:p>
            <a:pPr algn="l">
              <a:lnSpc>
                <a:spcPct val="125000"/>
              </a:lnSpc>
            </a:pPr>
            <a:r>
              <a:rPr sz="900" b="1">
                <a:solidFill>
                  <a:srgbClr val="144B7F"/>
                </a:solidFill>
                <a:latin typeface="Meiryo"/>
                <a:ea typeface="Meiryo"/>
                <a:cs typeface="Meiryo"/>
              </a:rPr>
              <a:t>MANAGER 02</a:t>
            </a:r>
          </a:p>
        </p:txBody>
      </p:sp>
      <p:sp>
        <p:nvSpPr>
          <p:cNvPr id="23" name="TextBox 22"/>
          <p:cNvSpPr txBox="1"/>
          <p:nvPr/>
        </p:nvSpPr>
        <p:spPr>
          <a:xfrm>
            <a:off x="4626864" y="2267712"/>
            <a:ext cx="2935224" cy="347472"/>
          </a:xfrm>
          <a:prstGeom prst="rect">
            <a:avLst/>
          </a:prstGeom>
          <a:noFill/>
        </p:spPr>
        <p:txBody>
          <a:bodyPr wrap="square" anchor="t" lIns="0" rIns="0" tIns="0" bIns="0">
            <a:spAutoFit/>
          </a:bodyPr>
          <a:lstStyle/>
          <a:p>
            <a:pPr algn="l">
              <a:lnSpc>
                <a:spcPct val="125000"/>
              </a:lnSpc>
            </a:pPr>
            <a:r>
              <a:rPr sz="1600" b="1">
                <a:solidFill>
                  <a:srgbClr val="144B7F"/>
                </a:solidFill>
                <a:latin typeface="Meiryo"/>
                <a:ea typeface="Meiryo"/>
                <a:cs typeface="Meiryo"/>
              </a:rPr>
              <a:t>管理職</a:t>
            </a:r>
          </a:p>
        </p:txBody>
      </p:sp>
      <p:sp>
        <p:nvSpPr>
          <p:cNvPr id="24" name="Rectangle 23"/>
          <p:cNvSpPr/>
          <p:nvPr/>
        </p:nvSpPr>
        <p:spPr>
          <a:xfrm>
            <a:off x="4626864" y="2743200"/>
            <a:ext cx="2935224" cy="27432"/>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4626864" y="2926080"/>
            <a:ext cx="2935224" cy="822960"/>
          </a:xfrm>
          <a:prstGeom prst="rect">
            <a:avLst/>
          </a:prstGeom>
          <a:noFill/>
        </p:spPr>
        <p:txBody>
          <a:bodyPr wrap="square" anchor="t" lIns="0" rIns="0" tIns="0" bIns="0">
            <a:spAutoFit/>
          </a:bodyPr>
          <a:lstStyle/>
          <a:p>
            <a:pPr algn="l">
              <a:lnSpc>
                <a:spcPct val="140000"/>
              </a:lnSpc>
            </a:pPr>
            <a:r>
              <a:rPr sz="1100" b="0">
                <a:solidFill>
                  <a:srgbClr val="1E293B"/>
                </a:solidFill>
                <a:latin typeface="Meiryo"/>
                <a:ea typeface="Meiryo"/>
                <a:cs typeface="Meiryo"/>
              </a:rPr>
              <a:t>本人の強みと実践を踏まえ、経験付与や次の役割を設計する。</a:t>
            </a:r>
          </a:p>
        </p:txBody>
      </p:sp>
      <p:sp>
        <p:nvSpPr>
          <p:cNvPr id="26" name="TextBox 25"/>
          <p:cNvSpPr txBox="1"/>
          <p:nvPr/>
        </p:nvSpPr>
        <p:spPr>
          <a:xfrm>
            <a:off x="4626864" y="4041648"/>
            <a:ext cx="201168" cy="237744"/>
          </a:xfrm>
          <a:prstGeom prst="rect">
            <a:avLst/>
          </a:prstGeom>
          <a:noFill/>
        </p:spPr>
        <p:txBody>
          <a:bodyPr wrap="square" anchor="t" lIns="0" rIns="0" tIns="0" bIns="0">
            <a:spAutoFit/>
          </a:bodyPr>
          <a:lstStyle/>
          <a:p>
            <a:pPr algn="l">
              <a:lnSpc>
                <a:spcPct val="125000"/>
              </a:lnSpc>
            </a:pPr>
            <a:r>
              <a:rPr sz="1150" b="1">
                <a:solidFill>
                  <a:srgbClr val="F96167"/>
                </a:solidFill>
                <a:latin typeface="Meiryo"/>
                <a:ea typeface="Meiryo"/>
                <a:cs typeface="Meiryo"/>
              </a:rPr>
              <a:t>✓</a:t>
            </a:r>
          </a:p>
        </p:txBody>
      </p:sp>
      <p:sp>
        <p:nvSpPr>
          <p:cNvPr id="27" name="TextBox 26"/>
          <p:cNvSpPr txBox="1"/>
          <p:nvPr/>
        </p:nvSpPr>
        <p:spPr>
          <a:xfrm>
            <a:off x="4864608" y="4041648"/>
            <a:ext cx="2697480" cy="237744"/>
          </a:xfrm>
          <a:prstGeom prst="rect">
            <a:avLst/>
          </a:prstGeom>
          <a:noFill/>
        </p:spPr>
        <p:txBody>
          <a:bodyPr wrap="square" anchor="t" lIns="0" rIns="0" tIns="0" bIns="0">
            <a:spAutoFit/>
          </a:bodyPr>
          <a:lstStyle/>
          <a:p>
            <a:pPr algn="l">
              <a:lnSpc>
                <a:spcPct val="125000"/>
              </a:lnSpc>
            </a:pPr>
            <a:r>
              <a:rPr sz="1100" b="0">
                <a:solidFill>
                  <a:srgbClr val="1E293B"/>
                </a:solidFill>
                <a:latin typeface="Meiryo"/>
                <a:ea typeface="Meiryo"/>
                <a:cs typeface="Meiryo"/>
              </a:rPr>
              <a:t>1on1で活躍を後押しする</a:t>
            </a:r>
          </a:p>
        </p:txBody>
      </p:sp>
      <p:sp>
        <p:nvSpPr>
          <p:cNvPr id="28" name="TextBox 27"/>
          <p:cNvSpPr txBox="1"/>
          <p:nvPr/>
        </p:nvSpPr>
        <p:spPr>
          <a:xfrm>
            <a:off x="4626864" y="4517136"/>
            <a:ext cx="201168" cy="237744"/>
          </a:xfrm>
          <a:prstGeom prst="rect">
            <a:avLst/>
          </a:prstGeom>
          <a:noFill/>
        </p:spPr>
        <p:txBody>
          <a:bodyPr wrap="square" anchor="t" lIns="0" rIns="0" tIns="0" bIns="0">
            <a:spAutoFit/>
          </a:bodyPr>
          <a:lstStyle/>
          <a:p>
            <a:pPr algn="l">
              <a:lnSpc>
                <a:spcPct val="125000"/>
              </a:lnSpc>
            </a:pPr>
            <a:r>
              <a:rPr sz="1150" b="1">
                <a:solidFill>
                  <a:srgbClr val="F96167"/>
                </a:solidFill>
                <a:latin typeface="Meiryo"/>
                <a:ea typeface="Meiryo"/>
                <a:cs typeface="Meiryo"/>
              </a:rPr>
              <a:t>✓</a:t>
            </a:r>
          </a:p>
        </p:txBody>
      </p:sp>
      <p:sp>
        <p:nvSpPr>
          <p:cNvPr id="29" name="TextBox 28"/>
          <p:cNvSpPr txBox="1"/>
          <p:nvPr/>
        </p:nvSpPr>
        <p:spPr>
          <a:xfrm>
            <a:off x="4864608" y="4517136"/>
            <a:ext cx="2697480" cy="237744"/>
          </a:xfrm>
          <a:prstGeom prst="rect">
            <a:avLst/>
          </a:prstGeom>
          <a:noFill/>
        </p:spPr>
        <p:txBody>
          <a:bodyPr wrap="square" anchor="t" lIns="0" rIns="0" tIns="0" bIns="0">
            <a:spAutoFit/>
          </a:bodyPr>
          <a:lstStyle/>
          <a:p>
            <a:pPr algn="l">
              <a:lnSpc>
                <a:spcPct val="125000"/>
              </a:lnSpc>
            </a:pPr>
            <a:r>
              <a:rPr sz="1100" b="0">
                <a:solidFill>
                  <a:srgbClr val="1E293B"/>
                </a:solidFill>
                <a:latin typeface="Meiryo"/>
                <a:ea typeface="Meiryo"/>
                <a:cs typeface="Meiryo"/>
              </a:rPr>
              <a:t>本人に合う経験を与えられる</a:t>
            </a:r>
          </a:p>
        </p:txBody>
      </p:sp>
      <p:sp>
        <p:nvSpPr>
          <p:cNvPr id="30" name="Rounded Rectangle 29"/>
          <p:cNvSpPr/>
          <p:nvPr/>
        </p:nvSpPr>
        <p:spPr>
          <a:xfrm>
            <a:off x="8211312" y="1719072"/>
            <a:ext cx="3410712" cy="3401568"/>
          </a:xfrm>
          <a:prstGeom prst="roundRect">
            <a:avLst>
              <a:gd name="adj" fmla="val 3500"/>
            </a:avLst>
          </a:prstGeom>
          <a:solidFill>
            <a:srgbClr val="FDECED"/>
          </a:solidFill>
          <a:ln w="12700">
            <a:solidFill>
              <a:srgbClr val="F6C8C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8211312" y="1719072"/>
            <a:ext cx="3410712" cy="9144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8449056" y="1975104"/>
            <a:ext cx="2935224" cy="219456"/>
          </a:xfrm>
          <a:prstGeom prst="rect">
            <a:avLst/>
          </a:prstGeom>
          <a:noFill/>
        </p:spPr>
        <p:txBody>
          <a:bodyPr wrap="square" anchor="t" lIns="0" rIns="0" tIns="0" bIns="0">
            <a:spAutoFit/>
          </a:bodyPr>
          <a:lstStyle/>
          <a:p>
            <a:pPr algn="l">
              <a:lnSpc>
                <a:spcPct val="125000"/>
              </a:lnSpc>
            </a:pPr>
            <a:r>
              <a:rPr sz="900" b="1">
                <a:solidFill>
                  <a:srgbClr val="F96167"/>
                </a:solidFill>
                <a:latin typeface="Meiryo"/>
                <a:ea typeface="Meiryo"/>
                <a:cs typeface="Meiryo"/>
              </a:rPr>
              <a:t>COREUNIQ 03</a:t>
            </a:r>
          </a:p>
        </p:txBody>
      </p:sp>
      <p:sp>
        <p:nvSpPr>
          <p:cNvPr id="33" name="TextBox 32"/>
          <p:cNvSpPr txBox="1"/>
          <p:nvPr/>
        </p:nvSpPr>
        <p:spPr>
          <a:xfrm>
            <a:off x="8449056" y="2267712"/>
            <a:ext cx="2935224" cy="347472"/>
          </a:xfrm>
          <a:prstGeom prst="rect">
            <a:avLst/>
          </a:prstGeom>
          <a:noFill/>
        </p:spPr>
        <p:txBody>
          <a:bodyPr wrap="square" anchor="t" lIns="0" rIns="0" tIns="0" bIns="0">
            <a:spAutoFit/>
          </a:bodyPr>
          <a:lstStyle/>
          <a:p>
            <a:pPr algn="l">
              <a:lnSpc>
                <a:spcPct val="125000"/>
              </a:lnSpc>
            </a:pPr>
            <a:r>
              <a:rPr sz="1600" b="1">
                <a:solidFill>
                  <a:srgbClr val="144B7F"/>
                </a:solidFill>
                <a:latin typeface="Meiryo"/>
                <a:ea typeface="Meiryo"/>
                <a:cs typeface="Meiryo"/>
              </a:rPr>
              <a:t>対話を支える記録</a:t>
            </a:r>
          </a:p>
        </p:txBody>
      </p:sp>
      <p:sp>
        <p:nvSpPr>
          <p:cNvPr id="34" name="Rectangle 33"/>
          <p:cNvSpPr/>
          <p:nvPr/>
        </p:nvSpPr>
        <p:spPr>
          <a:xfrm>
            <a:off x="8449056" y="2743200"/>
            <a:ext cx="2935224" cy="27432"/>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8449056" y="2926080"/>
            <a:ext cx="2935224" cy="822960"/>
          </a:xfrm>
          <a:prstGeom prst="rect">
            <a:avLst/>
          </a:prstGeom>
          <a:noFill/>
        </p:spPr>
        <p:txBody>
          <a:bodyPr wrap="square" anchor="t" lIns="0" rIns="0" tIns="0" bIns="0">
            <a:spAutoFit/>
          </a:bodyPr>
          <a:lstStyle/>
          <a:p>
            <a:pPr algn="l">
              <a:lnSpc>
                <a:spcPct val="140000"/>
              </a:lnSpc>
            </a:pPr>
            <a:r>
              <a:rPr sz="1100" b="0">
                <a:solidFill>
                  <a:srgbClr val="1E293B"/>
                </a:solidFill>
                <a:latin typeface="Meiryo"/>
                <a:ea typeface="Meiryo"/>
                <a:cs typeface="Meiryo"/>
              </a:rPr>
              <a:t>本人の振り返りと管理職のフィードバックを蓄積し、次の対話につなげる。</a:t>
            </a:r>
          </a:p>
        </p:txBody>
      </p:sp>
      <p:sp>
        <p:nvSpPr>
          <p:cNvPr id="36" name="TextBox 35"/>
          <p:cNvSpPr txBox="1"/>
          <p:nvPr/>
        </p:nvSpPr>
        <p:spPr>
          <a:xfrm>
            <a:off x="8449056" y="4041648"/>
            <a:ext cx="201168" cy="237744"/>
          </a:xfrm>
          <a:prstGeom prst="rect">
            <a:avLst/>
          </a:prstGeom>
          <a:noFill/>
        </p:spPr>
        <p:txBody>
          <a:bodyPr wrap="square" anchor="t" lIns="0" rIns="0" tIns="0" bIns="0">
            <a:spAutoFit/>
          </a:bodyPr>
          <a:lstStyle/>
          <a:p>
            <a:pPr algn="l">
              <a:lnSpc>
                <a:spcPct val="125000"/>
              </a:lnSpc>
            </a:pPr>
            <a:r>
              <a:rPr sz="1150" b="1">
                <a:solidFill>
                  <a:srgbClr val="F96167"/>
                </a:solidFill>
                <a:latin typeface="Meiryo"/>
                <a:ea typeface="Meiryo"/>
                <a:cs typeface="Meiryo"/>
              </a:rPr>
              <a:t>✓</a:t>
            </a:r>
          </a:p>
        </p:txBody>
      </p:sp>
      <p:sp>
        <p:nvSpPr>
          <p:cNvPr id="37" name="TextBox 36"/>
          <p:cNvSpPr txBox="1"/>
          <p:nvPr/>
        </p:nvSpPr>
        <p:spPr>
          <a:xfrm>
            <a:off x="8686800" y="4041648"/>
            <a:ext cx="2697480" cy="237744"/>
          </a:xfrm>
          <a:prstGeom prst="rect">
            <a:avLst/>
          </a:prstGeom>
          <a:noFill/>
        </p:spPr>
        <p:txBody>
          <a:bodyPr wrap="square" anchor="t" lIns="0" rIns="0" tIns="0" bIns="0">
            <a:spAutoFit/>
          </a:bodyPr>
          <a:lstStyle/>
          <a:p>
            <a:pPr algn="l">
              <a:lnSpc>
                <a:spcPct val="125000"/>
              </a:lnSpc>
            </a:pPr>
            <a:r>
              <a:rPr sz="1100" b="0">
                <a:solidFill>
                  <a:srgbClr val="1E293B"/>
                </a:solidFill>
                <a:latin typeface="Meiryo"/>
                <a:ea typeface="Meiryo"/>
                <a:cs typeface="Meiryo"/>
              </a:rPr>
              <a:t>本人・管理職のみが閲覧</a:t>
            </a:r>
          </a:p>
        </p:txBody>
      </p:sp>
      <p:sp>
        <p:nvSpPr>
          <p:cNvPr id="38" name="TextBox 37"/>
          <p:cNvSpPr txBox="1"/>
          <p:nvPr/>
        </p:nvSpPr>
        <p:spPr>
          <a:xfrm>
            <a:off x="8449056" y="4517136"/>
            <a:ext cx="201168" cy="237744"/>
          </a:xfrm>
          <a:prstGeom prst="rect">
            <a:avLst/>
          </a:prstGeom>
          <a:noFill/>
        </p:spPr>
        <p:txBody>
          <a:bodyPr wrap="square" anchor="t" lIns="0" rIns="0" tIns="0" bIns="0">
            <a:spAutoFit/>
          </a:bodyPr>
          <a:lstStyle/>
          <a:p>
            <a:pPr algn="l">
              <a:lnSpc>
                <a:spcPct val="125000"/>
              </a:lnSpc>
            </a:pPr>
            <a:r>
              <a:rPr sz="1150" b="1">
                <a:solidFill>
                  <a:srgbClr val="F96167"/>
                </a:solidFill>
                <a:latin typeface="Meiryo"/>
                <a:ea typeface="Meiryo"/>
                <a:cs typeface="Meiryo"/>
              </a:rPr>
              <a:t>✓</a:t>
            </a:r>
          </a:p>
        </p:txBody>
      </p:sp>
      <p:sp>
        <p:nvSpPr>
          <p:cNvPr id="39" name="TextBox 38"/>
          <p:cNvSpPr txBox="1"/>
          <p:nvPr/>
        </p:nvSpPr>
        <p:spPr>
          <a:xfrm>
            <a:off x="8686800" y="4517136"/>
            <a:ext cx="2697480" cy="237744"/>
          </a:xfrm>
          <a:prstGeom prst="rect">
            <a:avLst/>
          </a:prstGeom>
          <a:noFill/>
        </p:spPr>
        <p:txBody>
          <a:bodyPr wrap="square" anchor="t" lIns="0" rIns="0" tIns="0" bIns="0">
            <a:spAutoFit/>
          </a:bodyPr>
          <a:lstStyle/>
          <a:p>
            <a:pPr algn="l">
              <a:lnSpc>
                <a:spcPct val="125000"/>
              </a:lnSpc>
            </a:pPr>
            <a:r>
              <a:rPr sz="1100" b="0">
                <a:solidFill>
                  <a:srgbClr val="1E293B"/>
                </a:solidFill>
                <a:latin typeface="Meiryo"/>
                <a:ea typeface="Meiryo"/>
                <a:cs typeface="Meiryo"/>
              </a:rPr>
              <a:t>1on1の材料を残せる</a:t>
            </a:r>
          </a:p>
        </p:txBody>
      </p:sp>
      <p:sp>
        <p:nvSpPr>
          <p:cNvPr id="40" name="Rounded Rectangle 39"/>
          <p:cNvSpPr/>
          <p:nvPr/>
        </p:nvSpPr>
        <p:spPr>
          <a:xfrm>
            <a:off x="566928" y="5394960"/>
            <a:ext cx="11055096" cy="603504"/>
          </a:xfrm>
          <a:prstGeom prst="roundRect">
            <a:avLst>
              <a:gd name="adj" fmla="val 16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804672" y="5577840"/>
            <a:ext cx="10579608" cy="274320"/>
          </a:xfrm>
          <a:prstGeom prst="rect">
            <a:avLst/>
          </a:prstGeom>
          <a:noFill/>
        </p:spPr>
        <p:txBody>
          <a:bodyPr wrap="square" anchor="t" lIns="0" rIns="0" tIns="0" bIns="0">
            <a:spAutoFit/>
          </a:bodyPr>
          <a:lstStyle/>
          <a:p>
            <a:pPr algn="l">
              <a:lnSpc>
                <a:spcPct val="125000"/>
              </a:lnSpc>
            </a:pPr>
            <a:r>
              <a:rPr sz="1150" b="1">
                <a:solidFill>
                  <a:srgbClr val="144B7F"/>
                </a:solidFill>
                <a:latin typeface="Meiryo"/>
                <a:ea typeface="Meiryo"/>
                <a:cs typeface="Meiryo"/>
              </a:rPr>
              <a:t>キャリア開発は入口。若手本人の役割と貢献が広がることが到達点です。（人事向けの閲覧機能は現時点の提供範囲外）</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9683496" cy="384048"/>
          </a:xfrm>
          <a:prstGeom prst="rect">
            <a:avLst/>
          </a:prstGeom>
          <a:noFill/>
        </p:spPr>
        <p:txBody>
          <a:bodyPr wrap="square" anchor="t" lIns="0" rIns="0" tIns="0" bIns="0">
            <a:spAutoFit/>
          </a:bodyPr>
          <a:lstStyle/>
          <a:p>
            <a:pPr algn="l">
              <a:lnSpc>
                <a:spcPct val="125000"/>
              </a:lnSpc>
            </a:pPr>
            <a:r>
              <a:rPr sz="2100" b="1">
                <a:solidFill>
                  <a:srgbClr val="144B7F"/>
                </a:solidFill>
                <a:latin typeface="Meiryo"/>
                <a:ea typeface="Meiryo"/>
                <a:cs typeface="Meiryo"/>
              </a:rPr>
              <a:t>DEMO｜この後ご覧いただく利用の流れ</a:t>
            </a:r>
          </a:p>
        </p:txBody>
      </p:sp>
      <p:pic>
        <p:nvPicPr>
          <p:cNvPr id="3" name="Picture 2" descr="lock.png"/>
          <p:cNvPicPr>
            <a:picLocks noChangeAspect="1"/>
          </p:cNvPicPr>
          <p:nvPr/>
        </p:nvPicPr>
        <p:blipFill>
          <a:blip r:embed="rId2"/>
          <a:stretch>
            <a:fillRect/>
          </a:stretch>
        </p:blipFill>
        <p:spPr>
          <a:xfrm>
            <a:off x="10488168" y="365760"/>
            <a:ext cx="1123340" cy="237744"/>
          </a:xfrm>
          <a:prstGeom prst="rect">
            <a:avLst/>
          </a:prstGeom>
        </p:spPr>
      </p:pic>
      <p:sp>
        <p:nvSpPr>
          <p:cNvPr id="4" name="Rectangle 3"/>
          <p:cNvSpPr/>
          <p:nvPr/>
        </p:nvSpPr>
        <p:spPr>
          <a:xfrm>
            <a:off x="566928" y="868680"/>
            <a:ext cx="11055096" cy="12801"/>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1060704"/>
            <a:ext cx="50292" cy="2743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749808" y="1042415"/>
            <a:ext cx="10872216" cy="310896"/>
          </a:xfrm>
          <a:prstGeom prst="rect">
            <a:avLst/>
          </a:prstGeom>
          <a:noFill/>
        </p:spPr>
        <p:txBody>
          <a:bodyPr wrap="square" anchor="t" lIns="0" rIns="0" tIns="0" bIns="0">
            <a:spAutoFit/>
          </a:bodyPr>
          <a:lstStyle/>
          <a:p>
            <a:pPr algn="l">
              <a:lnSpc>
                <a:spcPct val="125000"/>
              </a:lnSpc>
            </a:pPr>
            <a:r>
              <a:rPr sz="1450" b="1">
                <a:solidFill>
                  <a:srgbClr val="144B7F"/>
                </a:solidFill>
                <a:latin typeface="Meiryo"/>
                <a:ea typeface="Meiryo"/>
                <a:cs typeface="Meiryo"/>
              </a:rPr>
              <a:t>機能一覧ではなく、本人と管理職の利用場面に沿ってご説明します</a:t>
            </a:r>
          </a:p>
        </p:txBody>
      </p:sp>
      <p:sp>
        <p:nvSpPr>
          <p:cNvPr id="7" name="Rectangle 6"/>
          <p:cNvSpPr/>
          <p:nvPr/>
        </p:nvSpPr>
        <p:spPr>
          <a:xfrm>
            <a:off x="566928" y="6419088"/>
            <a:ext cx="11055096" cy="10972"/>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566928" y="6519672"/>
            <a:ext cx="10735056" cy="182880"/>
          </a:xfrm>
          <a:prstGeom prst="rect">
            <a:avLst/>
          </a:prstGeom>
          <a:noFill/>
        </p:spPr>
        <p:txBody>
          <a:bodyPr wrap="square" anchor="t" lIns="0" rIns="0" tIns="0" bIns="0">
            <a:spAutoFit/>
          </a:bodyPr>
          <a:lstStyle/>
          <a:p>
            <a:pPr algn="r">
              <a:lnSpc>
                <a:spcPct val="125000"/>
              </a:lnSpc>
            </a:pPr>
            <a:r>
              <a:rPr sz="750" b="0">
                <a:solidFill>
                  <a:srgbClr val="939EAC"/>
                </a:solidFill>
                <a:latin typeface="Meiryo"/>
                <a:ea typeface="Meiryo"/>
                <a:cs typeface="Meiryo"/>
              </a:rPr>
              <a:t>© Givin' Back Inc. All Rights Reserved.  |  Confidential</a:t>
            </a:r>
          </a:p>
        </p:txBody>
      </p:sp>
      <p:sp>
        <p:nvSpPr>
          <p:cNvPr id="9" name="TextBox 8"/>
          <p:cNvSpPr txBox="1"/>
          <p:nvPr/>
        </p:nvSpPr>
        <p:spPr>
          <a:xfrm>
            <a:off x="11329416" y="6501384"/>
            <a:ext cx="292608" cy="201168"/>
          </a:xfrm>
          <a:prstGeom prst="rect">
            <a:avLst/>
          </a:prstGeom>
          <a:noFill/>
        </p:spPr>
        <p:txBody>
          <a:bodyPr wrap="square" anchor="t" lIns="0" rIns="0" tIns="0" bIns="0">
            <a:spAutoFit/>
          </a:bodyPr>
          <a:lstStyle/>
          <a:p>
            <a:pPr algn="r">
              <a:lnSpc>
                <a:spcPct val="125000"/>
              </a:lnSpc>
            </a:pPr>
            <a:r>
              <a:rPr sz="900" b="1">
                <a:solidFill>
                  <a:srgbClr val="144B7F"/>
                </a:solidFill>
                <a:latin typeface="Meiryo"/>
                <a:ea typeface="Meiryo"/>
                <a:cs typeface="Meiryo"/>
              </a:rPr>
              <a:t>9</a:t>
            </a:r>
          </a:p>
        </p:txBody>
      </p:sp>
      <p:sp>
        <p:nvSpPr>
          <p:cNvPr id="10" name="Rounded Rectangle 9"/>
          <p:cNvSpPr/>
          <p:nvPr/>
        </p:nvSpPr>
        <p:spPr>
          <a:xfrm>
            <a:off x="566928" y="1847088"/>
            <a:ext cx="3288792" cy="2468880"/>
          </a:xfrm>
          <a:prstGeom prst="roundRect">
            <a:avLst>
              <a:gd name="adj" fmla="val 3500"/>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804672" y="2121408"/>
            <a:ext cx="1170432" cy="292608"/>
          </a:xfrm>
          <a:prstGeom prst="roundRect">
            <a:avLst>
              <a:gd name="adj" fmla="val 35000"/>
            </a:avLst>
          </a:prstGeom>
          <a:solidFill>
            <a:srgbClr val="144B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04672" y="2185416"/>
            <a:ext cx="1170432" cy="219456"/>
          </a:xfrm>
          <a:prstGeom prst="rect">
            <a:avLst/>
          </a:prstGeom>
          <a:noFill/>
        </p:spPr>
        <p:txBody>
          <a:bodyPr wrap="square" anchor="t" lIns="0" rIns="0" tIns="0" bIns="0">
            <a:spAutoFit/>
          </a:bodyPr>
          <a:lstStyle/>
          <a:p>
            <a:pPr algn="ctr">
              <a:lnSpc>
                <a:spcPct val="125000"/>
              </a:lnSpc>
            </a:pPr>
            <a:r>
              <a:rPr sz="900" b="1">
                <a:solidFill>
                  <a:srgbClr val="FFFFFF"/>
                </a:solidFill>
                <a:latin typeface="Meiryo"/>
                <a:ea typeface="Meiryo"/>
                <a:cs typeface="Meiryo"/>
              </a:rPr>
              <a:t>START</a:t>
            </a:r>
          </a:p>
        </p:txBody>
      </p:sp>
      <p:sp>
        <p:nvSpPr>
          <p:cNvPr id="13" name="TextBox 12"/>
          <p:cNvSpPr txBox="1"/>
          <p:nvPr/>
        </p:nvSpPr>
        <p:spPr>
          <a:xfrm>
            <a:off x="804672" y="2615184"/>
            <a:ext cx="2813304" cy="365760"/>
          </a:xfrm>
          <a:prstGeom prst="rect">
            <a:avLst/>
          </a:prstGeom>
          <a:noFill/>
        </p:spPr>
        <p:txBody>
          <a:bodyPr wrap="square" anchor="t" lIns="0" rIns="0" tIns="0" bIns="0">
            <a:spAutoFit/>
          </a:bodyPr>
          <a:lstStyle/>
          <a:p>
            <a:pPr algn="l">
              <a:lnSpc>
                <a:spcPct val="125000"/>
              </a:lnSpc>
            </a:pPr>
            <a:r>
              <a:rPr sz="1600" b="1">
                <a:solidFill>
                  <a:srgbClr val="144B7F"/>
                </a:solidFill>
                <a:latin typeface="Meiryo"/>
                <a:ea typeface="Meiryo"/>
                <a:cs typeface="Meiryo"/>
              </a:rPr>
              <a:t>メンバー画面</a:t>
            </a:r>
          </a:p>
        </p:txBody>
      </p:sp>
      <p:sp>
        <p:nvSpPr>
          <p:cNvPr id="14" name="Rectangle 13"/>
          <p:cNvSpPr/>
          <p:nvPr/>
        </p:nvSpPr>
        <p:spPr>
          <a:xfrm>
            <a:off x="804672" y="3090672"/>
            <a:ext cx="2813304" cy="27432"/>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04672" y="3291840"/>
            <a:ext cx="2813304" cy="822960"/>
          </a:xfrm>
          <a:prstGeom prst="rect">
            <a:avLst/>
          </a:prstGeom>
          <a:noFill/>
        </p:spPr>
        <p:txBody>
          <a:bodyPr wrap="square" anchor="t" lIns="0" rIns="0" tIns="0" bIns="0">
            <a:spAutoFit/>
          </a:bodyPr>
          <a:lstStyle/>
          <a:p>
            <a:pPr algn="l">
              <a:lnSpc>
                <a:spcPct val="140000"/>
              </a:lnSpc>
            </a:pPr>
            <a:r>
              <a:rPr sz="1150" b="0">
                <a:solidFill>
                  <a:srgbClr val="1E293B"/>
                </a:solidFill>
                <a:latin typeface="Meiryo"/>
                <a:ea typeface="Meiryo"/>
                <a:cs typeface="Meiryo"/>
              </a:rPr>
              <a:t>目標を行動に分け、実践内容を振り返る</a:t>
            </a:r>
          </a:p>
        </p:txBody>
      </p:sp>
      <p:sp>
        <p:nvSpPr>
          <p:cNvPr id="16" name="TextBox 15"/>
          <p:cNvSpPr txBox="1"/>
          <p:nvPr/>
        </p:nvSpPr>
        <p:spPr>
          <a:xfrm>
            <a:off x="3947160" y="2834640"/>
            <a:ext cx="411480" cy="365760"/>
          </a:xfrm>
          <a:prstGeom prst="rect">
            <a:avLst/>
          </a:prstGeom>
          <a:noFill/>
        </p:spPr>
        <p:txBody>
          <a:bodyPr wrap="square" anchor="t" lIns="0" rIns="0" tIns="0" bIns="0">
            <a:spAutoFit/>
          </a:bodyPr>
          <a:lstStyle/>
          <a:p>
            <a:pPr algn="ctr">
              <a:lnSpc>
                <a:spcPct val="125000"/>
              </a:lnSpc>
            </a:pPr>
            <a:r>
              <a:rPr sz="1800" b="1">
                <a:solidFill>
                  <a:srgbClr val="939EAC"/>
                </a:solidFill>
                <a:latin typeface="Meiryo"/>
                <a:ea typeface="Meiryo"/>
                <a:cs typeface="Meiryo"/>
              </a:rPr>
              <a:t>→</a:t>
            </a:r>
          </a:p>
        </p:txBody>
      </p:sp>
      <p:sp>
        <p:nvSpPr>
          <p:cNvPr id="17" name="Rounded Rectangle 16"/>
          <p:cNvSpPr/>
          <p:nvPr/>
        </p:nvSpPr>
        <p:spPr>
          <a:xfrm>
            <a:off x="4450080" y="1847088"/>
            <a:ext cx="3288792" cy="2468880"/>
          </a:xfrm>
          <a:prstGeom prst="roundRect">
            <a:avLst>
              <a:gd name="adj" fmla="val 3500"/>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ounded Rectangle 17"/>
          <p:cNvSpPr/>
          <p:nvPr/>
        </p:nvSpPr>
        <p:spPr>
          <a:xfrm>
            <a:off x="4687824" y="2121408"/>
            <a:ext cx="1170432" cy="292608"/>
          </a:xfrm>
          <a:prstGeom prst="roundRect">
            <a:avLst>
              <a:gd name="adj" fmla="val 35000"/>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687824" y="2185416"/>
            <a:ext cx="1170432" cy="219456"/>
          </a:xfrm>
          <a:prstGeom prst="rect">
            <a:avLst/>
          </a:prstGeom>
          <a:noFill/>
        </p:spPr>
        <p:txBody>
          <a:bodyPr wrap="square" anchor="t" lIns="0" rIns="0" tIns="0" bIns="0">
            <a:spAutoFit/>
          </a:bodyPr>
          <a:lstStyle/>
          <a:p>
            <a:pPr algn="ctr">
              <a:lnSpc>
                <a:spcPct val="125000"/>
              </a:lnSpc>
            </a:pPr>
            <a:r>
              <a:rPr sz="900" b="1">
                <a:solidFill>
                  <a:srgbClr val="FFFFFF"/>
                </a:solidFill>
                <a:latin typeface="Meiryo"/>
                <a:ea typeface="Meiryo"/>
                <a:cs typeface="Meiryo"/>
              </a:rPr>
              <a:t>MONTHLY</a:t>
            </a:r>
          </a:p>
        </p:txBody>
      </p:sp>
      <p:sp>
        <p:nvSpPr>
          <p:cNvPr id="20" name="TextBox 19"/>
          <p:cNvSpPr txBox="1"/>
          <p:nvPr/>
        </p:nvSpPr>
        <p:spPr>
          <a:xfrm>
            <a:off x="4687824" y="2615184"/>
            <a:ext cx="2813304" cy="365760"/>
          </a:xfrm>
          <a:prstGeom prst="rect">
            <a:avLst/>
          </a:prstGeom>
          <a:noFill/>
        </p:spPr>
        <p:txBody>
          <a:bodyPr wrap="square" anchor="t" lIns="0" rIns="0" tIns="0" bIns="0">
            <a:spAutoFit/>
          </a:bodyPr>
          <a:lstStyle/>
          <a:p>
            <a:pPr algn="l">
              <a:lnSpc>
                <a:spcPct val="125000"/>
              </a:lnSpc>
            </a:pPr>
            <a:r>
              <a:rPr sz="1600" b="1">
                <a:solidFill>
                  <a:srgbClr val="144B7F"/>
                </a:solidFill>
                <a:latin typeface="Meiryo"/>
                <a:ea typeface="Meiryo"/>
                <a:cs typeface="Meiryo"/>
              </a:rPr>
              <a:t>管理職画面</a:t>
            </a:r>
          </a:p>
        </p:txBody>
      </p:sp>
      <p:sp>
        <p:nvSpPr>
          <p:cNvPr id="21" name="Rectangle 20"/>
          <p:cNvSpPr/>
          <p:nvPr/>
        </p:nvSpPr>
        <p:spPr>
          <a:xfrm>
            <a:off x="4687824" y="3090672"/>
            <a:ext cx="2813304" cy="27432"/>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687824" y="3291840"/>
            <a:ext cx="2813304" cy="822960"/>
          </a:xfrm>
          <a:prstGeom prst="rect">
            <a:avLst/>
          </a:prstGeom>
          <a:noFill/>
        </p:spPr>
        <p:txBody>
          <a:bodyPr wrap="square" anchor="t" lIns="0" rIns="0" tIns="0" bIns="0">
            <a:spAutoFit/>
          </a:bodyPr>
          <a:lstStyle/>
          <a:p>
            <a:pPr algn="l">
              <a:lnSpc>
                <a:spcPct val="140000"/>
              </a:lnSpc>
            </a:pPr>
            <a:r>
              <a:rPr sz="1150" b="0">
                <a:solidFill>
                  <a:srgbClr val="1E293B"/>
                </a:solidFill>
                <a:latin typeface="Meiryo"/>
                <a:ea typeface="Meiryo"/>
                <a:cs typeface="Meiryo"/>
              </a:rPr>
              <a:t>本人の振り返りを確認し、フィードバックする</a:t>
            </a:r>
          </a:p>
        </p:txBody>
      </p:sp>
      <p:sp>
        <p:nvSpPr>
          <p:cNvPr id="23" name="TextBox 22"/>
          <p:cNvSpPr txBox="1"/>
          <p:nvPr/>
        </p:nvSpPr>
        <p:spPr>
          <a:xfrm>
            <a:off x="7830312" y="2834640"/>
            <a:ext cx="411480" cy="365760"/>
          </a:xfrm>
          <a:prstGeom prst="rect">
            <a:avLst/>
          </a:prstGeom>
          <a:noFill/>
        </p:spPr>
        <p:txBody>
          <a:bodyPr wrap="square" anchor="t" lIns="0" rIns="0" tIns="0" bIns="0">
            <a:spAutoFit/>
          </a:bodyPr>
          <a:lstStyle/>
          <a:p>
            <a:pPr algn="ctr">
              <a:lnSpc>
                <a:spcPct val="125000"/>
              </a:lnSpc>
            </a:pPr>
            <a:r>
              <a:rPr sz="1800" b="1">
                <a:solidFill>
                  <a:srgbClr val="939EAC"/>
                </a:solidFill>
                <a:latin typeface="Meiryo"/>
                <a:ea typeface="Meiryo"/>
                <a:cs typeface="Meiryo"/>
              </a:rPr>
              <a:t>→</a:t>
            </a:r>
          </a:p>
        </p:txBody>
      </p:sp>
      <p:sp>
        <p:nvSpPr>
          <p:cNvPr id="24" name="Rounded Rectangle 23"/>
          <p:cNvSpPr/>
          <p:nvPr/>
        </p:nvSpPr>
        <p:spPr>
          <a:xfrm>
            <a:off x="8333232" y="1847088"/>
            <a:ext cx="3288792" cy="2468880"/>
          </a:xfrm>
          <a:prstGeom prst="roundRect">
            <a:avLst>
              <a:gd name="adj" fmla="val 3500"/>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8570976" y="2121408"/>
            <a:ext cx="1170432" cy="292608"/>
          </a:xfrm>
          <a:prstGeom prst="roundRect">
            <a:avLst>
              <a:gd name="adj" fmla="val 35000"/>
            </a:avLst>
          </a:prstGeom>
          <a:solidFill>
            <a:srgbClr val="144B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8570976" y="2185416"/>
            <a:ext cx="1170432" cy="219456"/>
          </a:xfrm>
          <a:prstGeom prst="rect">
            <a:avLst/>
          </a:prstGeom>
          <a:noFill/>
        </p:spPr>
        <p:txBody>
          <a:bodyPr wrap="square" anchor="t" lIns="0" rIns="0" tIns="0" bIns="0">
            <a:spAutoFit/>
          </a:bodyPr>
          <a:lstStyle/>
          <a:p>
            <a:pPr algn="ctr">
              <a:lnSpc>
                <a:spcPct val="125000"/>
              </a:lnSpc>
            </a:pPr>
            <a:r>
              <a:rPr sz="900" b="1">
                <a:solidFill>
                  <a:srgbClr val="FFFFFF"/>
                </a:solidFill>
                <a:latin typeface="Meiryo"/>
                <a:ea typeface="Meiryo"/>
                <a:cs typeface="Meiryo"/>
              </a:rPr>
              <a:t>REVIEW</a:t>
            </a:r>
          </a:p>
        </p:txBody>
      </p:sp>
      <p:sp>
        <p:nvSpPr>
          <p:cNvPr id="27" name="TextBox 26"/>
          <p:cNvSpPr txBox="1"/>
          <p:nvPr/>
        </p:nvSpPr>
        <p:spPr>
          <a:xfrm>
            <a:off x="8570976" y="2615184"/>
            <a:ext cx="2813304" cy="365760"/>
          </a:xfrm>
          <a:prstGeom prst="rect">
            <a:avLst/>
          </a:prstGeom>
          <a:noFill/>
        </p:spPr>
        <p:txBody>
          <a:bodyPr wrap="square" anchor="t" lIns="0" rIns="0" tIns="0" bIns="0">
            <a:spAutoFit/>
          </a:bodyPr>
          <a:lstStyle/>
          <a:p>
            <a:pPr algn="l">
              <a:lnSpc>
                <a:spcPct val="125000"/>
              </a:lnSpc>
            </a:pPr>
            <a:r>
              <a:rPr sz="1600" b="1">
                <a:solidFill>
                  <a:srgbClr val="144B7F"/>
                </a:solidFill>
                <a:latin typeface="Meiryo"/>
                <a:ea typeface="Meiryo"/>
                <a:cs typeface="Meiryo"/>
              </a:rPr>
              <a:t>ディスカッション</a:t>
            </a:r>
          </a:p>
        </p:txBody>
      </p:sp>
      <p:sp>
        <p:nvSpPr>
          <p:cNvPr id="28" name="Rectangle 27"/>
          <p:cNvSpPr/>
          <p:nvPr/>
        </p:nvSpPr>
        <p:spPr>
          <a:xfrm>
            <a:off x="8570976" y="3090672"/>
            <a:ext cx="2813304" cy="27432"/>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8570976" y="3291840"/>
            <a:ext cx="2813304" cy="822960"/>
          </a:xfrm>
          <a:prstGeom prst="rect">
            <a:avLst/>
          </a:prstGeom>
          <a:noFill/>
        </p:spPr>
        <p:txBody>
          <a:bodyPr wrap="square" anchor="t" lIns="0" rIns="0" tIns="0" bIns="0">
            <a:spAutoFit/>
          </a:bodyPr>
          <a:lstStyle/>
          <a:p>
            <a:pPr algn="l">
              <a:lnSpc>
                <a:spcPct val="140000"/>
              </a:lnSpc>
            </a:pPr>
            <a:r>
              <a:rPr sz="1150" b="0">
                <a:solidFill>
                  <a:srgbClr val="1E293B"/>
                </a:solidFill>
                <a:latin typeface="Meiryo"/>
                <a:ea typeface="Meiryo"/>
                <a:cs typeface="Meiryo"/>
              </a:rPr>
              <a:t>現場で使ううえでの不足や改善点を伺う</a:t>
            </a:r>
          </a:p>
        </p:txBody>
      </p:sp>
      <p:sp>
        <p:nvSpPr>
          <p:cNvPr id="30" name="Rounded Rectangle 29"/>
          <p:cNvSpPr/>
          <p:nvPr/>
        </p:nvSpPr>
        <p:spPr>
          <a:xfrm>
            <a:off x="566928" y="4645152"/>
            <a:ext cx="11055096" cy="566928"/>
          </a:xfrm>
          <a:prstGeom prst="roundRect">
            <a:avLst>
              <a:gd name="adj" fmla="val 16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804672" y="4809744"/>
            <a:ext cx="10579608" cy="274320"/>
          </a:xfrm>
          <a:prstGeom prst="rect">
            <a:avLst/>
          </a:prstGeom>
          <a:noFill/>
        </p:spPr>
        <p:txBody>
          <a:bodyPr wrap="square" anchor="t" lIns="0" rIns="0" tIns="0" bIns="0">
            <a:spAutoFit/>
          </a:bodyPr>
          <a:lstStyle/>
          <a:p>
            <a:pPr algn="ctr">
              <a:lnSpc>
                <a:spcPct val="125000"/>
              </a:lnSpc>
            </a:pPr>
            <a:r>
              <a:rPr sz="1250" b="1">
                <a:solidFill>
                  <a:srgbClr val="144B7F"/>
                </a:solidFill>
                <a:latin typeface="Meiryo"/>
                <a:ea typeface="Meiryo"/>
                <a:cs typeface="Meiryo"/>
              </a:rPr>
              <a:t>メンバーが振り返る　→　管理職が応答する　→　次の対話につなげる</a:t>
            </a:r>
          </a:p>
        </p:txBody>
      </p:sp>
      <p:sp>
        <p:nvSpPr>
          <p:cNvPr id="32" name="TextBox 31"/>
          <p:cNvSpPr txBox="1"/>
          <p:nvPr/>
        </p:nvSpPr>
        <p:spPr>
          <a:xfrm>
            <a:off x="566928" y="5541264"/>
            <a:ext cx="11055096" cy="274320"/>
          </a:xfrm>
          <a:prstGeom prst="rect">
            <a:avLst/>
          </a:prstGeom>
          <a:noFill/>
        </p:spPr>
        <p:txBody>
          <a:bodyPr wrap="square" anchor="t" lIns="0" rIns="0" tIns="0" bIns="0">
            <a:spAutoFit/>
          </a:bodyPr>
          <a:lstStyle/>
          <a:p>
            <a:pPr algn="l">
              <a:lnSpc>
                <a:spcPct val="125000"/>
              </a:lnSpc>
            </a:pPr>
            <a:r>
              <a:rPr sz="1150" b="1">
                <a:solidFill>
                  <a:srgbClr val="E0454B"/>
                </a:solidFill>
                <a:latin typeface="Meiryo"/>
                <a:ea typeface="Meiryo"/>
                <a:cs typeface="Meiryo"/>
              </a:rPr>
              <a:t>実際の画面を共有しながら、使いやすさと運用上の課題を伺います。</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9683496" cy="384048"/>
          </a:xfrm>
          <a:prstGeom prst="rect">
            <a:avLst/>
          </a:prstGeom>
          <a:noFill/>
        </p:spPr>
        <p:txBody>
          <a:bodyPr wrap="square" anchor="t" lIns="0" rIns="0" tIns="0" bIns="0">
            <a:spAutoFit/>
          </a:bodyPr>
          <a:lstStyle/>
          <a:p>
            <a:pPr algn="l">
              <a:lnSpc>
                <a:spcPct val="125000"/>
              </a:lnSpc>
            </a:pPr>
            <a:r>
              <a:rPr sz="2100" b="1">
                <a:solidFill>
                  <a:srgbClr val="144B7F"/>
                </a:solidFill>
                <a:latin typeface="Meiryo"/>
                <a:ea typeface="Meiryo"/>
                <a:cs typeface="Meiryo"/>
              </a:rPr>
              <a:t>REVIEW｜POCの振り返りで確認すること</a:t>
            </a:r>
          </a:p>
        </p:txBody>
      </p:sp>
      <p:pic>
        <p:nvPicPr>
          <p:cNvPr id="3" name="Picture 2" descr="lock.png"/>
          <p:cNvPicPr>
            <a:picLocks noChangeAspect="1"/>
          </p:cNvPicPr>
          <p:nvPr/>
        </p:nvPicPr>
        <p:blipFill>
          <a:blip r:embed="rId2"/>
          <a:stretch>
            <a:fillRect/>
          </a:stretch>
        </p:blipFill>
        <p:spPr>
          <a:xfrm>
            <a:off x="10488168" y="365760"/>
            <a:ext cx="1123340" cy="237744"/>
          </a:xfrm>
          <a:prstGeom prst="rect">
            <a:avLst/>
          </a:prstGeom>
        </p:spPr>
      </p:pic>
      <p:sp>
        <p:nvSpPr>
          <p:cNvPr id="4" name="Rectangle 3"/>
          <p:cNvSpPr/>
          <p:nvPr/>
        </p:nvSpPr>
        <p:spPr>
          <a:xfrm>
            <a:off x="566928" y="868680"/>
            <a:ext cx="11055096" cy="12801"/>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1060704"/>
            <a:ext cx="50292" cy="2743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749808" y="1042415"/>
            <a:ext cx="10872216" cy="310896"/>
          </a:xfrm>
          <a:prstGeom prst="rect">
            <a:avLst/>
          </a:prstGeom>
          <a:noFill/>
        </p:spPr>
        <p:txBody>
          <a:bodyPr wrap="square" anchor="t" lIns="0" rIns="0" tIns="0" bIns="0">
            <a:spAutoFit/>
          </a:bodyPr>
          <a:lstStyle/>
          <a:p>
            <a:pPr algn="l">
              <a:lnSpc>
                <a:spcPct val="125000"/>
              </a:lnSpc>
            </a:pPr>
            <a:r>
              <a:rPr sz="1450" b="1">
                <a:solidFill>
                  <a:srgbClr val="144B7F"/>
                </a:solidFill>
                <a:latin typeface="Meiryo"/>
                <a:ea typeface="Meiryo"/>
                <a:cs typeface="Meiryo"/>
              </a:rPr>
              <a:t>利用率だけではなく、行動・対話・運用の変化を確認する</a:t>
            </a:r>
          </a:p>
        </p:txBody>
      </p:sp>
      <p:sp>
        <p:nvSpPr>
          <p:cNvPr id="7" name="Rectangle 6"/>
          <p:cNvSpPr/>
          <p:nvPr/>
        </p:nvSpPr>
        <p:spPr>
          <a:xfrm>
            <a:off x="566928" y="6419088"/>
            <a:ext cx="11055096" cy="10972"/>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566928" y="6519672"/>
            <a:ext cx="10735056" cy="182880"/>
          </a:xfrm>
          <a:prstGeom prst="rect">
            <a:avLst/>
          </a:prstGeom>
          <a:noFill/>
        </p:spPr>
        <p:txBody>
          <a:bodyPr wrap="square" anchor="t" lIns="0" rIns="0" tIns="0" bIns="0">
            <a:spAutoFit/>
          </a:bodyPr>
          <a:lstStyle/>
          <a:p>
            <a:pPr algn="r">
              <a:lnSpc>
                <a:spcPct val="125000"/>
              </a:lnSpc>
            </a:pPr>
            <a:r>
              <a:rPr sz="750" b="0">
                <a:solidFill>
                  <a:srgbClr val="939EAC"/>
                </a:solidFill>
                <a:latin typeface="Meiryo"/>
                <a:ea typeface="Meiryo"/>
                <a:cs typeface="Meiryo"/>
              </a:rPr>
              <a:t>© Givin' Back Inc. All Rights Reserved.  |  Confidential</a:t>
            </a:r>
          </a:p>
        </p:txBody>
      </p:sp>
      <p:sp>
        <p:nvSpPr>
          <p:cNvPr id="9" name="TextBox 8"/>
          <p:cNvSpPr txBox="1"/>
          <p:nvPr/>
        </p:nvSpPr>
        <p:spPr>
          <a:xfrm>
            <a:off x="11329416" y="6501384"/>
            <a:ext cx="292608" cy="201168"/>
          </a:xfrm>
          <a:prstGeom prst="rect">
            <a:avLst/>
          </a:prstGeom>
          <a:noFill/>
        </p:spPr>
        <p:txBody>
          <a:bodyPr wrap="square" anchor="t" lIns="0" rIns="0" tIns="0" bIns="0">
            <a:spAutoFit/>
          </a:bodyPr>
          <a:lstStyle/>
          <a:p>
            <a:pPr algn="r">
              <a:lnSpc>
                <a:spcPct val="125000"/>
              </a:lnSpc>
            </a:pPr>
            <a:r>
              <a:rPr sz="900" b="1">
                <a:solidFill>
                  <a:srgbClr val="144B7F"/>
                </a:solidFill>
                <a:latin typeface="Meiryo"/>
                <a:ea typeface="Meiryo"/>
                <a:cs typeface="Meiryo"/>
              </a:rPr>
              <a:t>10</a:t>
            </a:r>
          </a:p>
        </p:txBody>
      </p:sp>
      <p:sp>
        <p:nvSpPr>
          <p:cNvPr id="10" name="Rounded Rectangle 9"/>
          <p:cNvSpPr/>
          <p:nvPr/>
        </p:nvSpPr>
        <p:spPr>
          <a:xfrm>
            <a:off x="566928" y="1700784"/>
            <a:ext cx="6355080" cy="3611880"/>
          </a:xfrm>
          <a:prstGeom prst="roundRect">
            <a:avLst>
              <a:gd name="adj" fmla="val 3500"/>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ounded Rectangle 10"/>
          <p:cNvSpPr/>
          <p:nvPr/>
        </p:nvSpPr>
        <p:spPr>
          <a:xfrm>
            <a:off x="841247" y="1938528"/>
            <a:ext cx="5806440" cy="365760"/>
          </a:xfrm>
          <a:prstGeom prst="roundRect">
            <a:avLst>
              <a:gd name="adj" fmla="val 25000"/>
            </a:avLst>
          </a:prstGeom>
          <a:solidFill>
            <a:srgbClr val="144B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42415" y="2007108"/>
            <a:ext cx="5404103" cy="237744"/>
          </a:xfrm>
          <a:prstGeom prst="rect">
            <a:avLst/>
          </a:prstGeom>
          <a:noFill/>
        </p:spPr>
        <p:txBody>
          <a:bodyPr wrap="square" anchor="t" lIns="0" rIns="0" tIns="0" bIns="0">
            <a:spAutoFit/>
          </a:bodyPr>
          <a:lstStyle/>
          <a:p>
            <a:pPr algn="l">
              <a:lnSpc>
                <a:spcPct val="125000"/>
              </a:lnSpc>
            </a:pPr>
            <a:r>
              <a:rPr sz="1200" b="1">
                <a:solidFill>
                  <a:srgbClr val="FFFFFF"/>
                </a:solidFill>
                <a:latin typeface="Meiryo"/>
                <a:ea typeface="Meiryo"/>
                <a:cs typeface="Meiryo"/>
              </a:rPr>
              <a:t>活躍の状態を、5つの観点で確認</a:t>
            </a:r>
          </a:p>
        </p:txBody>
      </p:sp>
      <p:sp>
        <p:nvSpPr>
          <p:cNvPr id="13" name="Rounded Rectangle 12"/>
          <p:cNvSpPr/>
          <p:nvPr/>
        </p:nvSpPr>
        <p:spPr>
          <a:xfrm>
            <a:off x="841247" y="2542032"/>
            <a:ext cx="5806440" cy="420624"/>
          </a:xfrm>
          <a:prstGeom prst="roundRect">
            <a:avLst>
              <a:gd name="adj" fmla="val 20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Oval 13"/>
          <p:cNvSpPr/>
          <p:nvPr/>
        </p:nvSpPr>
        <p:spPr>
          <a:xfrm>
            <a:off x="950976" y="2596896"/>
            <a:ext cx="310896" cy="310896"/>
          </a:xfrm>
          <a:prstGeom prst="ellipse">
            <a:avLst/>
          </a:prstGeom>
          <a:solidFill>
            <a:srgbClr val="144B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950976" y="2646639"/>
            <a:ext cx="310896" cy="217627"/>
          </a:xfrm>
          <a:prstGeom prst="rect">
            <a:avLst/>
          </a:prstGeom>
          <a:noFill/>
        </p:spPr>
        <p:txBody>
          <a:bodyPr wrap="square" anchor="t" lIns="0" rIns="0" tIns="0" bIns="0">
            <a:spAutoFit/>
          </a:bodyPr>
          <a:lstStyle/>
          <a:p>
            <a:pPr algn="ctr">
              <a:lnSpc>
                <a:spcPct val="125000"/>
              </a:lnSpc>
            </a:pPr>
            <a:r>
              <a:rPr sz="1300" b="1">
                <a:solidFill>
                  <a:srgbClr val="FFFFFF"/>
                </a:solidFill>
                <a:latin typeface="Meiryo"/>
                <a:ea typeface="Meiryo"/>
                <a:cs typeface="Meiryo"/>
              </a:rPr>
              <a:t>1</a:t>
            </a:r>
          </a:p>
        </p:txBody>
      </p:sp>
      <p:sp>
        <p:nvSpPr>
          <p:cNvPr id="16" name="TextBox 15"/>
          <p:cNvSpPr txBox="1"/>
          <p:nvPr/>
        </p:nvSpPr>
        <p:spPr>
          <a:xfrm>
            <a:off x="1426464" y="2633472"/>
            <a:ext cx="5120640" cy="256032"/>
          </a:xfrm>
          <a:prstGeom prst="rect">
            <a:avLst/>
          </a:prstGeom>
          <a:noFill/>
        </p:spPr>
        <p:txBody>
          <a:bodyPr wrap="square" anchor="t" lIns="0" rIns="0" tIns="0" bIns="0">
            <a:spAutoFit/>
          </a:bodyPr>
          <a:lstStyle/>
          <a:p>
            <a:pPr algn="l">
              <a:lnSpc>
                <a:spcPct val="125000"/>
              </a:lnSpc>
            </a:pPr>
            <a:r>
              <a:rPr sz="1150" b="1">
                <a:solidFill>
                  <a:srgbClr val="1E293B"/>
                </a:solidFill>
                <a:latin typeface="Meiryo"/>
                <a:ea typeface="Meiryo"/>
                <a:cs typeface="Meiryo"/>
              </a:rPr>
              <a:t>強み・価値観の理解</a:t>
            </a:r>
          </a:p>
        </p:txBody>
      </p:sp>
      <p:sp>
        <p:nvSpPr>
          <p:cNvPr id="17" name="Rounded Rectangle 16"/>
          <p:cNvSpPr/>
          <p:nvPr/>
        </p:nvSpPr>
        <p:spPr>
          <a:xfrm>
            <a:off x="841247" y="3072384"/>
            <a:ext cx="5806440" cy="420624"/>
          </a:xfrm>
          <a:prstGeom prst="roundRect">
            <a:avLst>
              <a:gd name="adj" fmla="val 20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950976" y="3127248"/>
            <a:ext cx="310896" cy="310896"/>
          </a:xfrm>
          <a:prstGeom prst="ellipse">
            <a:avLst/>
          </a:prstGeom>
          <a:solidFill>
            <a:srgbClr val="144B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950976" y="3176991"/>
            <a:ext cx="310896" cy="217627"/>
          </a:xfrm>
          <a:prstGeom prst="rect">
            <a:avLst/>
          </a:prstGeom>
          <a:noFill/>
        </p:spPr>
        <p:txBody>
          <a:bodyPr wrap="square" anchor="t" lIns="0" rIns="0" tIns="0" bIns="0">
            <a:spAutoFit/>
          </a:bodyPr>
          <a:lstStyle/>
          <a:p>
            <a:pPr algn="ctr">
              <a:lnSpc>
                <a:spcPct val="125000"/>
              </a:lnSpc>
            </a:pPr>
            <a:r>
              <a:rPr sz="1300" b="1">
                <a:solidFill>
                  <a:srgbClr val="FFFFFF"/>
                </a:solidFill>
                <a:latin typeface="Meiryo"/>
                <a:ea typeface="Meiryo"/>
                <a:cs typeface="Meiryo"/>
              </a:rPr>
              <a:t>2</a:t>
            </a:r>
          </a:p>
        </p:txBody>
      </p:sp>
      <p:sp>
        <p:nvSpPr>
          <p:cNvPr id="20" name="TextBox 19"/>
          <p:cNvSpPr txBox="1"/>
          <p:nvPr/>
        </p:nvSpPr>
        <p:spPr>
          <a:xfrm>
            <a:off x="1426464" y="3163824"/>
            <a:ext cx="5120640" cy="256032"/>
          </a:xfrm>
          <a:prstGeom prst="rect">
            <a:avLst/>
          </a:prstGeom>
          <a:noFill/>
        </p:spPr>
        <p:txBody>
          <a:bodyPr wrap="square" anchor="t" lIns="0" rIns="0" tIns="0" bIns="0">
            <a:spAutoFit/>
          </a:bodyPr>
          <a:lstStyle/>
          <a:p>
            <a:pPr algn="l">
              <a:lnSpc>
                <a:spcPct val="125000"/>
              </a:lnSpc>
            </a:pPr>
            <a:r>
              <a:rPr sz="1150" b="1">
                <a:solidFill>
                  <a:srgbClr val="1E293B"/>
                </a:solidFill>
                <a:latin typeface="Meiryo"/>
                <a:ea typeface="Meiryo"/>
                <a:cs typeface="Meiryo"/>
              </a:rPr>
              <a:t>仕事上の役割の理解</a:t>
            </a:r>
          </a:p>
        </p:txBody>
      </p:sp>
      <p:sp>
        <p:nvSpPr>
          <p:cNvPr id="21" name="Rounded Rectangle 20"/>
          <p:cNvSpPr/>
          <p:nvPr/>
        </p:nvSpPr>
        <p:spPr>
          <a:xfrm>
            <a:off x="841247" y="3602735"/>
            <a:ext cx="5806440" cy="420624"/>
          </a:xfrm>
          <a:prstGeom prst="roundRect">
            <a:avLst>
              <a:gd name="adj" fmla="val 20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950976" y="3657599"/>
            <a:ext cx="310896" cy="310896"/>
          </a:xfrm>
          <a:prstGeom prst="ellipse">
            <a:avLst/>
          </a:prstGeom>
          <a:solidFill>
            <a:srgbClr val="144B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950976" y="3707343"/>
            <a:ext cx="310896" cy="217627"/>
          </a:xfrm>
          <a:prstGeom prst="rect">
            <a:avLst/>
          </a:prstGeom>
          <a:noFill/>
        </p:spPr>
        <p:txBody>
          <a:bodyPr wrap="square" anchor="t" lIns="0" rIns="0" tIns="0" bIns="0">
            <a:spAutoFit/>
          </a:bodyPr>
          <a:lstStyle/>
          <a:p>
            <a:pPr algn="ctr">
              <a:lnSpc>
                <a:spcPct val="125000"/>
              </a:lnSpc>
            </a:pPr>
            <a:r>
              <a:rPr sz="1300" b="1">
                <a:solidFill>
                  <a:srgbClr val="FFFFFF"/>
                </a:solidFill>
                <a:latin typeface="Meiryo"/>
                <a:ea typeface="Meiryo"/>
                <a:cs typeface="Meiryo"/>
              </a:rPr>
              <a:t>3</a:t>
            </a:r>
          </a:p>
        </p:txBody>
      </p:sp>
      <p:sp>
        <p:nvSpPr>
          <p:cNvPr id="24" name="TextBox 23"/>
          <p:cNvSpPr txBox="1"/>
          <p:nvPr/>
        </p:nvSpPr>
        <p:spPr>
          <a:xfrm>
            <a:off x="1426464" y="3694175"/>
            <a:ext cx="5120640" cy="256032"/>
          </a:xfrm>
          <a:prstGeom prst="rect">
            <a:avLst/>
          </a:prstGeom>
          <a:noFill/>
        </p:spPr>
        <p:txBody>
          <a:bodyPr wrap="square" anchor="t" lIns="0" rIns="0" tIns="0" bIns="0">
            <a:spAutoFit/>
          </a:bodyPr>
          <a:lstStyle/>
          <a:p>
            <a:pPr algn="l">
              <a:lnSpc>
                <a:spcPct val="125000"/>
              </a:lnSpc>
            </a:pPr>
            <a:r>
              <a:rPr sz="1150" b="1">
                <a:solidFill>
                  <a:srgbClr val="1E293B"/>
                </a:solidFill>
                <a:latin typeface="Meiryo"/>
                <a:ea typeface="Meiryo"/>
                <a:cs typeface="Meiryo"/>
              </a:rPr>
              <a:t>強みを活かした実践</a:t>
            </a:r>
          </a:p>
        </p:txBody>
      </p:sp>
      <p:sp>
        <p:nvSpPr>
          <p:cNvPr id="25" name="Rounded Rectangle 24"/>
          <p:cNvSpPr/>
          <p:nvPr/>
        </p:nvSpPr>
        <p:spPr>
          <a:xfrm>
            <a:off x="841247" y="4133087"/>
            <a:ext cx="5806440" cy="420624"/>
          </a:xfrm>
          <a:prstGeom prst="roundRect">
            <a:avLst>
              <a:gd name="adj" fmla="val 20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950976" y="4187951"/>
            <a:ext cx="310896" cy="310896"/>
          </a:xfrm>
          <a:prstGeom prst="ellipse">
            <a:avLst/>
          </a:prstGeom>
          <a:solidFill>
            <a:srgbClr val="144B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950976" y="4237695"/>
            <a:ext cx="310896" cy="217627"/>
          </a:xfrm>
          <a:prstGeom prst="rect">
            <a:avLst/>
          </a:prstGeom>
          <a:noFill/>
        </p:spPr>
        <p:txBody>
          <a:bodyPr wrap="square" anchor="t" lIns="0" rIns="0" tIns="0" bIns="0">
            <a:spAutoFit/>
          </a:bodyPr>
          <a:lstStyle/>
          <a:p>
            <a:pPr algn="ctr">
              <a:lnSpc>
                <a:spcPct val="125000"/>
              </a:lnSpc>
            </a:pPr>
            <a:r>
              <a:rPr sz="1300" b="1">
                <a:solidFill>
                  <a:srgbClr val="FFFFFF"/>
                </a:solidFill>
                <a:latin typeface="Meiryo"/>
                <a:ea typeface="Meiryo"/>
                <a:cs typeface="Meiryo"/>
              </a:rPr>
              <a:t>4</a:t>
            </a:r>
          </a:p>
        </p:txBody>
      </p:sp>
      <p:sp>
        <p:nvSpPr>
          <p:cNvPr id="28" name="TextBox 27"/>
          <p:cNvSpPr txBox="1"/>
          <p:nvPr/>
        </p:nvSpPr>
        <p:spPr>
          <a:xfrm>
            <a:off x="1426464" y="4224527"/>
            <a:ext cx="5120640" cy="256032"/>
          </a:xfrm>
          <a:prstGeom prst="rect">
            <a:avLst/>
          </a:prstGeom>
          <a:noFill/>
        </p:spPr>
        <p:txBody>
          <a:bodyPr wrap="square" anchor="t" lIns="0" rIns="0" tIns="0" bIns="0">
            <a:spAutoFit/>
          </a:bodyPr>
          <a:lstStyle/>
          <a:p>
            <a:pPr algn="l">
              <a:lnSpc>
                <a:spcPct val="125000"/>
              </a:lnSpc>
            </a:pPr>
            <a:r>
              <a:rPr sz="1150" b="1">
                <a:solidFill>
                  <a:srgbClr val="1E293B"/>
                </a:solidFill>
                <a:latin typeface="Meiryo"/>
                <a:ea typeface="Meiryo"/>
                <a:cs typeface="Meiryo"/>
              </a:rPr>
              <a:t>新しい挑戦・役割の拡大</a:t>
            </a:r>
          </a:p>
        </p:txBody>
      </p:sp>
      <p:sp>
        <p:nvSpPr>
          <p:cNvPr id="29" name="Rounded Rectangle 28"/>
          <p:cNvSpPr/>
          <p:nvPr/>
        </p:nvSpPr>
        <p:spPr>
          <a:xfrm>
            <a:off x="841247" y="4663440"/>
            <a:ext cx="5806440" cy="420624"/>
          </a:xfrm>
          <a:prstGeom prst="roundRect">
            <a:avLst>
              <a:gd name="adj" fmla="val 20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Oval 29"/>
          <p:cNvSpPr/>
          <p:nvPr/>
        </p:nvSpPr>
        <p:spPr>
          <a:xfrm>
            <a:off x="950976" y="4718303"/>
            <a:ext cx="310896" cy="310896"/>
          </a:xfrm>
          <a:prstGeom prst="ellipse">
            <a:avLst/>
          </a:prstGeom>
          <a:solidFill>
            <a:srgbClr val="144B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950976" y="4768047"/>
            <a:ext cx="310896" cy="217627"/>
          </a:xfrm>
          <a:prstGeom prst="rect">
            <a:avLst/>
          </a:prstGeom>
          <a:noFill/>
        </p:spPr>
        <p:txBody>
          <a:bodyPr wrap="square" anchor="t" lIns="0" rIns="0" tIns="0" bIns="0">
            <a:spAutoFit/>
          </a:bodyPr>
          <a:lstStyle/>
          <a:p>
            <a:pPr algn="ctr">
              <a:lnSpc>
                <a:spcPct val="125000"/>
              </a:lnSpc>
            </a:pPr>
            <a:r>
              <a:rPr sz="1300" b="1">
                <a:solidFill>
                  <a:srgbClr val="FFFFFF"/>
                </a:solidFill>
                <a:latin typeface="Meiryo"/>
                <a:ea typeface="Meiryo"/>
                <a:cs typeface="Meiryo"/>
              </a:rPr>
              <a:t>5</a:t>
            </a:r>
          </a:p>
        </p:txBody>
      </p:sp>
      <p:sp>
        <p:nvSpPr>
          <p:cNvPr id="32" name="TextBox 31"/>
          <p:cNvSpPr txBox="1"/>
          <p:nvPr/>
        </p:nvSpPr>
        <p:spPr>
          <a:xfrm>
            <a:off x="1426464" y="4754879"/>
            <a:ext cx="5120640" cy="256032"/>
          </a:xfrm>
          <a:prstGeom prst="rect">
            <a:avLst/>
          </a:prstGeom>
          <a:noFill/>
        </p:spPr>
        <p:txBody>
          <a:bodyPr wrap="square" anchor="t" lIns="0" rIns="0" tIns="0" bIns="0">
            <a:spAutoFit/>
          </a:bodyPr>
          <a:lstStyle/>
          <a:p>
            <a:pPr algn="l">
              <a:lnSpc>
                <a:spcPct val="125000"/>
              </a:lnSpc>
            </a:pPr>
            <a:r>
              <a:rPr sz="1150" b="1">
                <a:solidFill>
                  <a:srgbClr val="1E293B"/>
                </a:solidFill>
                <a:latin typeface="Meiryo"/>
                <a:ea typeface="Meiryo"/>
                <a:cs typeface="Meiryo"/>
              </a:rPr>
              <a:t>周囲・組織への働きかけ</a:t>
            </a:r>
          </a:p>
        </p:txBody>
      </p:sp>
      <p:sp>
        <p:nvSpPr>
          <p:cNvPr id="33" name="Rounded Rectangle 32"/>
          <p:cNvSpPr/>
          <p:nvPr/>
        </p:nvSpPr>
        <p:spPr>
          <a:xfrm>
            <a:off x="7159752" y="1700784"/>
            <a:ext cx="4462272" cy="3611880"/>
          </a:xfrm>
          <a:prstGeom prst="roundRect">
            <a:avLst>
              <a:gd name="adj" fmla="val 3500"/>
            </a:avLst>
          </a:prstGeom>
          <a:solidFill>
            <a:srgbClr val="FDECED"/>
          </a:solidFill>
          <a:ln w="12700">
            <a:solidFill>
              <a:srgbClr val="F6C8C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ounded Rectangle 33"/>
          <p:cNvSpPr/>
          <p:nvPr/>
        </p:nvSpPr>
        <p:spPr>
          <a:xfrm>
            <a:off x="7434072" y="1938528"/>
            <a:ext cx="3913632" cy="365760"/>
          </a:xfrm>
          <a:prstGeom prst="roundRect">
            <a:avLst>
              <a:gd name="adj" fmla="val 25000"/>
            </a:avLst>
          </a:prstGeom>
          <a:solidFill>
            <a:srgbClr val="144B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7635240" y="2007108"/>
            <a:ext cx="3511296" cy="237744"/>
          </a:xfrm>
          <a:prstGeom prst="rect">
            <a:avLst/>
          </a:prstGeom>
          <a:noFill/>
        </p:spPr>
        <p:txBody>
          <a:bodyPr wrap="square" anchor="t" lIns="0" rIns="0" tIns="0" bIns="0">
            <a:spAutoFit/>
          </a:bodyPr>
          <a:lstStyle/>
          <a:p>
            <a:pPr algn="l">
              <a:lnSpc>
                <a:spcPct val="125000"/>
              </a:lnSpc>
            </a:pPr>
            <a:r>
              <a:rPr sz="1200" b="1">
                <a:solidFill>
                  <a:srgbClr val="FFFFFF"/>
                </a:solidFill>
                <a:latin typeface="Meiryo"/>
                <a:ea typeface="Meiryo"/>
                <a:cs typeface="Meiryo"/>
              </a:rPr>
              <a:t>本人・管理職と確認する内容</a:t>
            </a:r>
          </a:p>
        </p:txBody>
      </p:sp>
      <p:sp>
        <p:nvSpPr>
          <p:cNvPr id="36" name="TextBox 35"/>
          <p:cNvSpPr txBox="1"/>
          <p:nvPr/>
        </p:nvSpPr>
        <p:spPr>
          <a:xfrm>
            <a:off x="7452360" y="2596896"/>
            <a:ext cx="201168" cy="237744"/>
          </a:xfrm>
          <a:prstGeom prst="rect">
            <a:avLst/>
          </a:prstGeom>
          <a:noFill/>
        </p:spPr>
        <p:txBody>
          <a:bodyPr wrap="square" anchor="t" lIns="0" rIns="0" tIns="0" bIns="0">
            <a:spAutoFit/>
          </a:bodyPr>
          <a:lstStyle/>
          <a:p>
            <a:pPr algn="l">
              <a:lnSpc>
                <a:spcPct val="125000"/>
              </a:lnSpc>
            </a:pPr>
            <a:r>
              <a:rPr sz="1150" b="1">
                <a:solidFill>
                  <a:srgbClr val="F96167"/>
                </a:solidFill>
                <a:latin typeface="Meiryo"/>
                <a:ea typeface="Meiryo"/>
                <a:cs typeface="Meiryo"/>
              </a:rPr>
              <a:t>✓</a:t>
            </a:r>
          </a:p>
        </p:txBody>
      </p:sp>
      <p:sp>
        <p:nvSpPr>
          <p:cNvPr id="37" name="TextBox 36"/>
          <p:cNvSpPr txBox="1"/>
          <p:nvPr/>
        </p:nvSpPr>
        <p:spPr>
          <a:xfrm>
            <a:off x="7690104" y="2596896"/>
            <a:ext cx="3639312" cy="237744"/>
          </a:xfrm>
          <a:prstGeom prst="rect">
            <a:avLst/>
          </a:prstGeom>
          <a:noFill/>
        </p:spPr>
        <p:txBody>
          <a:bodyPr wrap="square" anchor="t" lIns="0" rIns="0" tIns="0" bIns="0">
            <a:spAutoFit/>
          </a:bodyPr>
          <a:lstStyle/>
          <a:p>
            <a:pPr algn="l">
              <a:lnSpc>
                <a:spcPct val="125000"/>
              </a:lnSpc>
            </a:pPr>
            <a:r>
              <a:rPr sz="1150" b="0">
                <a:solidFill>
                  <a:srgbClr val="1E293B"/>
                </a:solidFill>
                <a:latin typeface="Meiryo"/>
                <a:ea typeface="Meiryo"/>
                <a:cs typeface="Meiryo"/>
              </a:rPr>
              <a:t>本人が行動に落とし込めたか</a:t>
            </a:r>
          </a:p>
        </p:txBody>
      </p:sp>
      <p:sp>
        <p:nvSpPr>
          <p:cNvPr id="38" name="TextBox 37"/>
          <p:cNvSpPr txBox="1"/>
          <p:nvPr/>
        </p:nvSpPr>
        <p:spPr>
          <a:xfrm>
            <a:off x="7452360" y="3218688"/>
            <a:ext cx="201168" cy="237744"/>
          </a:xfrm>
          <a:prstGeom prst="rect">
            <a:avLst/>
          </a:prstGeom>
          <a:noFill/>
        </p:spPr>
        <p:txBody>
          <a:bodyPr wrap="square" anchor="t" lIns="0" rIns="0" tIns="0" bIns="0">
            <a:spAutoFit/>
          </a:bodyPr>
          <a:lstStyle/>
          <a:p>
            <a:pPr algn="l">
              <a:lnSpc>
                <a:spcPct val="125000"/>
              </a:lnSpc>
            </a:pPr>
            <a:r>
              <a:rPr sz="1150" b="1">
                <a:solidFill>
                  <a:srgbClr val="F96167"/>
                </a:solidFill>
                <a:latin typeface="Meiryo"/>
                <a:ea typeface="Meiryo"/>
                <a:cs typeface="Meiryo"/>
              </a:rPr>
              <a:t>✓</a:t>
            </a:r>
          </a:p>
        </p:txBody>
      </p:sp>
      <p:sp>
        <p:nvSpPr>
          <p:cNvPr id="39" name="TextBox 38"/>
          <p:cNvSpPr txBox="1"/>
          <p:nvPr/>
        </p:nvSpPr>
        <p:spPr>
          <a:xfrm>
            <a:off x="7690104" y="3218688"/>
            <a:ext cx="3639312" cy="237744"/>
          </a:xfrm>
          <a:prstGeom prst="rect">
            <a:avLst/>
          </a:prstGeom>
          <a:noFill/>
        </p:spPr>
        <p:txBody>
          <a:bodyPr wrap="square" anchor="t" lIns="0" rIns="0" tIns="0" bIns="0">
            <a:spAutoFit/>
          </a:bodyPr>
          <a:lstStyle/>
          <a:p>
            <a:pPr algn="l">
              <a:lnSpc>
                <a:spcPct val="125000"/>
              </a:lnSpc>
            </a:pPr>
            <a:r>
              <a:rPr sz="1150" b="0">
                <a:solidFill>
                  <a:srgbClr val="1E293B"/>
                </a:solidFill>
                <a:latin typeface="Meiryo"/>
                <a:ea typeface="Meiryo"/>
                <a:cs typeface="Meiryo"/>
              </a:rPr>
              <a:t>管理職の1on1に役立ったか</a:t>
            </a:r>
          </a:p>
        </p:txBody>
      </p:sp>
      <p:sp>
        <p:nvSpPr>
          <p:cNvPr id="40" name="TextBox 39"/>
          <p:cNvSpPr txBox="1"/>
          <p:nvPr/>
        </p:nvSpPr>
        <p:spPr>
          <a:xfrm>
            <a:off x="7452360" y="3840480"/>
            <a:ext cx="201168" cy="237744"/>
          </a:xfrm>
          <a:prstGeom prst="rect">
            <a:avLst/>
          </a:prstGeom>
          <a:noFill/>
        </p:spPr>
        <p:txBody>
          <a:bodyPr wrap="square" anchor="t" lIns="0" rIns="0" tIns="0" bIns="0">
            <a:spAutoFit/>
          </a:bodyPr>
          <a:lstStyle/>
          <a:p>
            <a:pPr algn="l">
              <a:lnSpc>
                <a:spcPct val="125000"/>
              </a:lnSpc>
            </a:pPr>
            <a:r>
              <a:rPr sz="1150" b="1">
                <a:solidFill>
                  <a:srgbClr val="F96167"/>
                </a:solidFill>
                <a:latin typeface="Meiryo"/>
                <a:ea typeface="Meiryo"/>
                <a:cs typeface="Meiryo"/>
              </a:rPr>
              <a:t>✓</a:t>
            </a:r>
          </a:p>
        </p:txBody>
      </p:sp>
      <p:sp>
        <p:nvSpPr>
          <p:cNvPr id="41" name="TextBox 40"/>
          <p:cNvSpPr txBox="1"/>
          <p:nvPr/>
        </p:nvSpPr>
        <p:spPr>
          <a:xfrm>
            <a:off x="7690104" y="3840480"/>
            <a:ext cx="3639312" cy="237744"/>
          </a:xfrm>
          <a:prstGeom prst="rect">
            <a:avLst/>
          </a:prstGeom>
          <a:noFill/>
        </p:spPr>
        <p:txBody>
          <a:bodyPr wrap="square" anchor="t" lIns="0" rIns="0" tIns="0" bIns="0">
            <a:spAutoFit/>
          </a:bodyPr>
          <a:lstStyle/>
          <a:p>
            <a:pPr algn="l">
              <a:lnSpc>
                <a:spcPct val="125000"/>
              </a:lnSpc>
            </a:pPr>
            <a:r>
              <a:rPr sz="1150" b="0">
                <a:solidFill>
                  <a:srgbClr val="1E293B"/>
                </a:solidFill>
                <a:latin typeface="Meiryo"/>
                <a:ea typeface="Meiryo"/>
                <a:cs typeface="Meiryo"/>
              </a:rPr>
              <a:t>継続できる頻度・運用だったか</a:t>
            </a:r>
          </a:p>
        </p:txBody>
      </p:sp>
      <p:sp>
        <p:nvSpPr>
          <p:cNvPr id="42" name="TextBox 41"/>
          <p:cNvSpPr txBox="1"/>
          <p:nvPr/>
        </p:nvSpPr>
        <p:spPr>
          <a:xfrm>
            <a:off x="7452360" y="4462272"/>
            <a:ext cx="201168" cy="237744"/>
          </a:xfrm>
          <a:prstGeom prst="rect">
            <a:avLst/>
          </a:prstGeom>
          <a:noFill/>
        </p:spPr>
        <p:txBody>
          <a:bodyPr wrap="square" anchor="t" lIns="0" rIns="0" tIns="0" bIns="0">
            <a:spAutoFit/>
          </a:bodyPr>
          <a:lstStyle/>
          <a:p>
            <a:pPr algn="l">
              <a:lnSpc>
                <a:spcPct val="125000"/>
              </a:lnSpc>
            </a:pPr>
            <a:r>
              <a:rPr sz="1150" b="1">
                <a:solidFill>
                  <a:srgbClr val="F96167"/>
                </a:solidFill>
                <a:latin typeface="Meiryo"/>
                <a:ea typeface="Meiryo"/>
                <a:cs typeface="Meiryo"/>
              </a:rPr>
              <a:t>✓</a:t>
            </a:r>
          </a:p>
        </p:txBody>
      </p:sp>
      <p:sp>
        <p:nvSpPr>
          <p:cNvPr id="43" name="TextBox 42"/>
          <p:cNvSpPr txBox="1"/>
          <p:nvPr/>
        </p:nvSpPr>
        <p:spPr>
          <a:xfrm>
            <a:off x="7690104" y="4462272"/>
            <a:ext cx="3639312" cy="237744"/>
          </a:xfrm>
          <a:prstGeom prst="rect">
            <a:avLst/>
          </a:prstGeom>
          <a:noFill/>
        </p:spPr>
        <p:txBody>
          <a:bodyPr wrap="square" anchor="t" lIns="0" rIns="0" tIns="0" bIns="0">
            <a:spAutoFit/>
          </a:bodyPr>
          <a:lstStyle/>
          <a:p>
            <a:pPr algn="l">
              <a:lnSpc>
                <a:spcPct val="125000"/>
              </a:lnSpc>
            </a:pPr>
            <a:r>
              <a:rPr sz="1150" b="0">
                <a:solidFill>
                  <a:srgbClr val="1E293B"/>
                </a:solidFill>
                <a:latin typeface="Meiryo"/>
                <a:ea typeface="Meiryo"/>
                <a:cs typeface="Meiryo"/>
              </a:rPr>
              <a:t>改善すべき機能・支援は何か</a:t>
            </a:r>
          </a:p>
        </p:txBody>
      </p:sp>
      <p:sp>
        <p:nvSpPr>
          <p:cNvPr id="44" name="Rounded Rectangle 43"/>
          <p:cNvSpPr/>
          <p:nvPr/>
        </p:nvSpPr>
        <p:spPr>
          <a:xfrm>
            <a:off x="566928" y="5504688"/>
            <a:ext cx="11055096" cy="566928"/>
          </a:xfrm>
          <a:prstGeom prst="roundRect">
            <a:avLst>
              <a:gd name="adj" fmla="val 16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804672" y="5669280"/>
            <a:ext cx="10579608" cy="274320"/>
          </a:xfrm>
          <a:prstGeom prst="rect">
            <a:avLst/>
          </a:prstGeom>
          <a:noFill/>
        </p:spPr>
        <p:txBody>
          <a:bodyPr wrap="square" anchor="t" lIns="0" rIns="0" tIns="0" bIns="0">
            <a:spAutoFit/>
          </a:bodyPr>
          <a:lstStyle/>
          <a:p>
            <a:pPr algn="l">
              <a:lnSpc>
                <a:spcPct val="125000"/>
              </a:lnSpc>
            </a:pPr>
            <a:r>
              <a:rPr sz="1200" b="1">
                <a:solidFill>
                  <a:srgbClr val="144B7F"/>
                </a:solidFill>
                <a:latin typeface="Meiryo"/>
                <a:ea typeface="Meiryo"/>
                <a:cs typeface="Meiryo"/>
              </a:rPr>
              <a:t>本人と管理職の声をもとに、次の運用とサービス改善を判断します。</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9683496" cy="384048"/>
          </a:xfrm>
          <a:prstGeom prst="rect">
            <a:avLst/>
          </a:prstGeom>
          <a:noFill/>
        </p:spPr>
        <p:txBody>
          <a:bodyPr wrap="square" anchor="t" lIns="0" rIns="0" tIns="0" bIns="0">
            <a:spAutoFit/>
          </a:bodyPr>
          <a:lstStyle/>
          <a:p>
            <a:pPr algn="l">
              <a:lnSpc>
                <a:spcPct val="125000"/>
              </a:lnSpc>
            </a:pPr>
            <a:r>
              <a:rPr sz="2100" b="1">
                <a:solidFill>
                  <a:srgbClr val="144B7F"/>
                </a:solidFill>
                <a:latin typeface="Meiryo"/>
                <a:ea typeface="Meiryo"/>
                <a:cs typeface="Meiryo"/>
              </a:rPr>
              <a:t>NEXT ACTION｜本日、合意したい4点</a:t>
            </a:r>
          </a:p>
        </p:txBody>
      </p:sp>
      <p:pic>
        <p:nvPicPr>
          <p:cNvPr id="3" name="Picture 2" descr="lock.png"/>
          <p:cNvPicPr>
            <a:picLocks noChangeAspect="1"/>
          </p:cNvPicPr>
          <p:nvPr/>
        </p:nvPicPr>
        <p:blipFill>
          <a:blip r:embed="rId2"/>
          <a:stretch>
            <a:fillRect/>
          </a:stretch>
        </p:blipFill>
        <p:spPr>
          <a:xfrm>
            <a:off x="10488168" y="365760"/>
            <a:ext cx="1123340" cy="237744"/>
          </a:xfrm>
          <a:prstGeom prst="rect">
            <a:avLst/>
          </a:prstGeom>
        </p:spPr>
      </p:pic>
      <p:sp>
        <p:nvSpPr>
          <p:cNvPr id="4" name="Rectangle 3"/>
          <p:cNvSpPr/>
          <p:nvPr/>
        </p:nvSpPr>
        <p:spPr>
          <a:xfrm>
            <a:off x="566928" y="868680"/>
            <a:ext cx="11055096" cy="12801"/>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566928" y="1060704"/>
            <a:ext cx="50292" cy="274320"/>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749808" y="1042415"/>
            <a:ext cx="10872216" cy="310896"/>
          </a:xfrm>
          <a:prstGeom prst="rect">
            <a:avLst/>
          </a:prstGeom>
          <a:noFill/>
        </p:spPr>
        <p:txBody>
          <a:bodyPr wrap="square" anchor="t" lIns="0" rIns="0" tIns="0" bIns="0">
            <a:spAutoFit/>
          </a:bodyPr>
          <a:lstStyle/>
          <a:p>
            <a:pPr algn="l">
              <a:lnSpc>
                <a:spcPct val="125000"/>
              </a:lnSpc>
            </a:pPr>
            <a:r>
              <a:rPr sz="1450" b="1">
                <a:solidFill>
                  <a:srgbClr val="144B7F"/>
                </a:solidFill>
                <a:latin typeface="Meiryo"/>
                <a:ea typeface="Meiryo"/>
                <a:cs typeface="Meiryo"/>
              </a:rPr>
              <a:t>POCの対象者・期間・着眼点・次回日程をこの場で確定する</a:t>
            </a:r>
          </a:p>
        </p:txBody>
      </p:sp>
      <p:sp>
        <p:nvSpPr>
          <p:cNvPr id="7" name="Rectangle 6"/>
          <p:cNvSpPr/>
          <p:nvPr/>
        </p:nvSpPr>
        <p:spPr>
          <a:xfrm>
            <a:off x="566928" y="6419088"/>
            <a:ext cx="11055096" cy="10972"/>
          </a:xfrm>
          <a:prstGeom prst="rect">
            <a:avLst/>
          </a:prstGeom>
          <a:solidFill>
            <a:srgbClr val="D8E0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566928" y="6519672"/>
            <a:ext cx="10735056" cy="182880"/>
          </a:xfrm>
          <a:prstGeom prst="rect">
            <a:avLst/>
          </a:prstGeom>
          <a:noFill/>
        </p:spPr>
        <p:txBody>
          <a:bodyPr wrap="square" anchor="t" lIns="0" rIns="0" tIns="0" bIns="0">
            <a:spAutoFit/>
          </a:bodyPr>
          <a:lstStyle/>
          <a:p>
            <a:pPr algn="r">
              <a:lnSpc>
                <a:spcPct val="125000"/>
              </a:lnSpc>
            </a:pPr>
            <a:r>
              <a:rPr sz="750" b="0">
                <a:solidFill>
                  <a:srgbClr val="939EAC"/>
                </a:solidFill>
                <a:latin typeface="Meiryo"/>
                <a:ea typeface="Meiryo"/>
                <a:cs typeface="Meiryo"/>
              </a:rPr>
              <a:t>© Givin' Back Inc. All Rights Reserved.  |  Confidential</a:t>
            </a:r>
          </a:p>
        </p:txBody>
      </p:sp>
      <p:sp>
        <p:nvSpPr>
          <p:cNvPr id="9" name="TextBox 8"/>
          <p:cNvSpPr txBox="1"/>
          <p:nvPr/>
        </p:nvSpPr>
        <p:spPr>
          <a:xfrm>
            <a:off x="11329416" y="6501384"/>
            <a:ext cx="292608" cy="201168"/>
          </a:xfrm>
          <a:prstGeom prst="rect">
            <a:avLst/>
          </a:prstGeom>
          <a:noFill/>
        </p:spPr>
        <p:txBody>
          <a:bodyPr wrap="square" anchor="t" lIns="0" rIns="0" tIns="0" bIns="0">
            <a:spAutoFit/>
          </a:bodyPr>
          <a:lstStyle/>
          <a:p>
            <a:pPr algn="r">
              <a:lnSpc>
                <a:spcPct val="125000"/>
              </a:lnSpc>
            </a:pPr>
            <a:r>
              <a:rPr sz="900" b="1">
                <a:solidFill>
                  <a:srgbClr val="144B7F"/>
                </a:solidFill>
                <a:latin typeface="Meiryo"/>
                <a:ea typeface="Meiryo"/>
                <a:cs typeface="Meiryo"/>
              </a:rPr>
              <a:t>11</a:t>
            </a:r>
          </a:p>
        </p:txBody>
      </p:sp>
      <p:sp>
        <p:nvSpPr>
          <p:cNvPr id="10" name="Rounded Rectangle 9"/>
          <p:cNvSpPr/>
          <p:nvPr/>
        </p:nvSpPr>
        <p:spPr>
          <a:xfrm>
            <a:off x="566928" y="1755648"/>
            <a:ext cx="5198364" cy="1316736"/>
          </a:xfrm>
          <a:prstGeom prst="roundRect">
            <a:avLst>
              <a:gd name="adj" fmla="val 3500"/>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566928" y="1755648"/>
            <a:ext cx="91440" cy="1316736"/>
          </a:xfrm>
          <a:prstGeom prst="rect">
            <a:avLst/>
          </a:prstGeom>
          <a:solidFill>
            <a:srgbClr val="144B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896112" y="1975104"/>
            <a:ext cx="548640" cy="274320"/>
          </a:xfrm>
          <a:prstGeom prst="rect">
            <a:avLst/>
          </a:prstGeom>
          <a:noFill/>
        </p:spPr>
        <p:txBody>
          <a:bodyPr wrap="square" anchor="t" lIns="0" rIns="0" tIns="0" bIns="0">
            <a:spAutoFit/>
          </a:bodyPr>
          <a:lstStyle/>
          <a:p>
            <a:pPr algn="l">
              <a:lnSpc>
                <a:spcPct val="125000"/>
              </a:lnSpc>
            </a:pPr>
            <a:r>
              <a:rPr sz="1300" b="1">
                <a:solidFill>
                  <a:srgbClr val="144B7F"/>
                </a:solidFill>
                <a:latin typeface="Meiryo"/>
                <a:ea typeface="Meiryo"/>
                <a:cs typeface="Meiryo"/>
              </a:rPr>
              <a:t>01</a:t>
            </a:r>
          </a:p>
        </p:txBody>
      </p:sp>
      <p:sp>
        <p:nvSpPr>
          <p:cNvPr id="13" name="TextBox 12"/>
          <p:cNvSpPr txBox="1"/>
          <p:nvPr/>
        </p:nvSpPr>
        <p:spPr>
          <a:xfrm>
            <a:off x="1536192" y="1938528"/>
            <a:ext cx="3918204" cy="329184"/>
          </a:xfrm>
          <a:prstGeom prst="rect">
            <a:avLst/>
          </a:prstGeom>
          <a:noFill/>
        </p:spPr>
        <p:txBody>
          <a:bodyPr wrap="square" anchor="t" lIns="0" rIns="0" tIns="0" bIns="0">
            <a:spAutoFit/>
          </a:bodyPr>
          <a:lstStyle/>
          <a:p>
            <a:pPr algn="l">
              <a:lnSpc>
                <a:spcPct val="125000"/>
              </a:lnSpc>
            </a:pPr>
            <a:r>
              <a:rPr sz="1500" b="1">
                <a:solidFill>
                  <a:srgbClr val="144B7F"/>
                </a:solidFill>
                <a:latin typeface="Meiryo"/>
                <a:ea typeface="Meiryo"/>
                <a:cs typeface="Meiryo"/>
              </a:rPr>
              <a:t>POCの対象者</a:t>
            </a:r>
          </a:p>
        </p:txBody>
      </p:sp>
      <p:sp>
        <p:nvSpPr>
          <p:cNvPr id="14" name="TextBox 13"/>
          <p:cNvSpPr txBox="1"/>
          <p:nvPr/>
        </p:nvSpPr>
        <p:spPr>
          <a:xfrm>
            <a:off x="1536192" y="2432304"/>
            <a:ext cx="3918204" cy="420624"/>
          </a:xfrm>
          <a:prstGeom prst="rect">
            <a:avLst/>
          </a:prstGeom>
          <a:noFill/>
        </p:spPr>
        <p:txBody>
          <a:bodyPr wrap="square" anchor="t" lIns="0" rIns="0" tIns="0" bIns="0">
            <a:spAutoFit/>
          </a:bodyPr>
          <a:lstStyle/>
          <a:p>
            <a:pPr algn="l">
              <a:lnSpc>
                <a:spcPct val="125000"/>
              </a:lnSpc>
            </a:pPr>
            <a:r>
              <a:rPr sz="1150" b="0">
                <a:solidFill>
                  <a:srgbClr val="1E293B"/>
                </a:solidFill>
                <a:latin typeface="Meiryo"/>
                <a:ea typeface="Meiryo"/>
                <a:cs typeface="Meiryo"/>
              </a:rPr>
              <a:t>どの部門の、どのメンバーと管理職で検証するか</a:t>
            </a:r>
          </a:p>
        </p:txBody>
      </p:sp>
      <p:sp>
        <p:nvSpPr>
          <p:cNvPr id="15" name="Rounded Rectangle 14"/>
          <p:cNvSpPr/>
          <p:nvPr/>
        </p:nvSpPr>
        <p:spPr>
          <a:xfrm>
            <a:off x="6423660" y="1755648"/>
            <a:ext cx="5198364" cy="1316736"/>
          </a:xfrm>
          <a:prstGeom prst="roundRect">
            <a:avLst>
              <a:gd name="adj" fmla="val 3500"/>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ectangle 15"/>
          <p:cNvSpPr/>
          <p:nvPr/>
        </p:nvSpPr>
        <p:spPr>
          <a:xfrm>
            <a:off x="6423660" y="1755648"/>
            <a:ext cx="91440" cy="1316736"/>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752844" y="1975104"/>
            <a:ext cx="548640" cy="274320"/>
          </a:xfrm>
          <a:prstGeom prst="rect">
            <a:avLst/>
          </a:prstGeom>
          <a:noFill/>
        </p:spPr>
        <p:txBody>
          <a:bodyPr wrap="square" anchor="t" lIns="0" rIns="0" tIns="0" bIns="0">
            <a:spAutoFit/>
          </a:bodyPr>
          <a:lstStyle/>
          <a:p>
            <a:pPr algn="l">
              <a:lnSpc>
                <a:spcPct val="125000"/>
              </a:lnSpc>
            </a:pPr>
            <a:r>
              <a:rPr sz="1300" b="1">
                <a:solidFill>
                  <a:srgbClr val="F96167"/>
                </a:solidFill>
                <a:latin typeface="Meiryo"/>
                <a:ea typeface="Meiryo"/>
                <a:cs typeface="Meiryo"/>
              </a:rPr>
              <a:t>02</a:t>
            </a:r>
          </a:p>
        </p:txBody>
      </p:sp>
      <p:sp>
        <p:nvSpPr>
          <p:cNvPr id="18" name="TextBox 17"/>
          <p:cNvSpPr txBox="1"/>
          <p:nvPr/>
        </p:nvSpPr>
        <p:spPr>
          <a:xfrm>
            <a:off x="7392924" y="1938528"/>
            <a:ext cx="3918204" cy="329184"/>
          </a:xfrm>
          <a:prstGeom prst="rect">
            <a:avLst/>
          </a:prstGeom>
          <a:noFill/>
        </p:spPr>
        <p:txBody>
          <a:bodyPr wrap="square" anchor="t" lIns="0" rIns="0" tIns="0" bIns="0">
            <a:spAutoFit/>
          </a:bodyPr>
          <a:lstStyle/>
          <a:p>
            <a:pPr algn="l">
              <a:lnSpc>
                <a:spcPct val="125000"/>
              </a:lnSpc>
            </a:pPr>
            <a:r>
              <a:rPr sz="1500" b="1">
                <a:solidFill>
                  <a:srgbClr val="144B7F"/>
                </a:solidFill>
                <a:latin typeface="Meiryo"/>
                <a:ea typeface="Meiryo"/>
                <a:cs typeface="Meiryo"/>
              </a:rPr>
              <a:t>スケジュール</a:t>
            </a:r>
          </a:p>
        </p:txBody>
      </p:sp>
      <p:sp>
        <p:nvSpPr>
          <p:cNvPr id="19" name="TextBox 18"/>
          <p:cNvSpPr txBox="1"/>
          <p:nvPr/>
        </p:nvSpPr>
        <p:spPr>
          <a:xfrm>
            <a:off x="7392924" y="2432304"/>
            <a:ext cx="3918204" cy="420624"/>
          </a:xfrm>
          <a:prstGeom prst="rect">
            <a:avLst/>
          </a:prstGeom>
          <a:noFill/>
        </p:spPr>
        <p:txBody>
          <a:bodyPr wrap="square" anchor="t" lIns="0" rIns="0" tIns="0" bIns="0">
            <a:spAutoFit/>
          </a:bodyPr>
          <a:lstStyle/>
          <a:p>
            <a:pPr algn="l">
              <a:lnSpc>
                <a:spcPct val="125000"/>
              </a:lnSpc>
            </a:pPr>
            <a:r>
              <a:rPr sz="1150" b="0">
                <a:solidFill>
                  <a:srgbClr val="1E293B"/>
                </a:solidFill>
                <a:latin typeface="Meiryo"/>
                <a:ea typeface="Meiryo"/>
                <a:cs typeface="Meiryo"/>
              </a:rPr>
              <a:t>利用開始日と、いつまでを検証期間とするか</a:t>
            </a:r>
          </a:p>
        </p:txBody>
      </p:sp>
      <p:sp>
        <p:nvSpPr>
          <p:cNvPr id="20" name="Rounded Rectangle 19"/>
          <p:cNvSpPr/>
          <p:nvPr/>
        </p:nvSpPr>
        <p:spPr>
          <a:xfrm>
            <a:off x="566928" y="3328415"/>
            <a:ext cx="5198364" cy="1316736"/>
          </a:xfrm>
          <a:prstGeom prst="roundRect">
            <a:avLst>
              <a:gd name="adj" fmla="val 3500"/>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566928" y="3328415"/>
            <a:ext cx="91440" cy="1316736"/>
          </a:xfrm>
          <a:prstGeom prst="rect">
            <a:avLst/>
          </a:prstGeom>
          <a:solidFill>
            <a:srgbClr val="144B7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896112" y="3547872"/>
            <a:ext cx="548640" cy="274320"/>
          </a:xfrm>
          <a:prstGeom prst="rect">
            <a:avLst/>
          </a:prstGeom>
          <a:noFill/>
        </p:spPr>
        <p:txBody>
          <a:bodyPr wrap="square" anchor="t" lIns="0" rIns="0" tIns="0" bIns="0">
            <a:spAutoFit/>
          </a:bodyPr>
          <a:lstStyle/>
          <a:p>
            <a:pPr algn="l">
              <a:lnSpc>
                <a:spcPct val="125000"/>
              </a:lnSpc>
            </a:pPr>
            <a:r>
              <a:rPr sz="1300" b="1">
                <a:solidFill>
                  <a:srgbClr val="144B7F"/>
                </a:solidFill>
                <a:latin typeface="Meiryo"/>
                <a:ea typeface="Meiryo"/>
                <a:cs typeface="Meiryo"/>
              </a:rPr>
              <a:t>03</a:t>
            </a:r>
          </a:p>
        </p:txBody>
      </p:sp>
      <p:sp>
        <p:nvSpPr>
          <p:cNvPr id="23" name="TextBox 22"/>
          <p:cNvSpPr txBox="1"/>
          <p:nvPr/>
        </p:nvSpPr>
        <p:spPr>
          <a:xfrm>
            <a:off x="1536192" y="3511296"/>
            <a:ext cx="3918204" cy="329184"/>
          </a:xfrm>
          <a:prstGeom prst="rect">
            <a:avLst/>
          </a:prstGeom>
          <a:noFill/>
        </p:spPr>
        <p:txBody>
          <a:bodyPr wrap="square" anchor="t" lIns="0" rIns="0" tIns="0" bIns="0">
            <a:spAutoFit/>
          </a:bodyPr>
          <a:lstStyle/>
          <a:p>
            <a:pPr algn="l">
              <a:lnSpc>
                <a:spcPct val="125000"/>
              </a:lnSpc>
            </a:pPr>
            <a:r>
              <a:rPr sz="1500" b="1">
                <a:solidFill>
                  <a:srgbClr val="144B7F"/>
                </a:solidFill>
                <a:latin typeface="Meiryo"/>
                <a:ea typeface="Meiryo"/>
                <a:cs typeface="Meiryo"/>
              </a:rPr>
              <a:t>検証の着眼点</a:t>
            </a:r>
          </a:p>
        </p:txBody>
      </p:sp>
      <p:sp>
        <p:nvSpPr>
          <p:cNvPr id="24" name="TextBox 23"/>
          <p:cNvSpPr txBox="1"/>
          <p:nvPr/>
        </p:nvSpPr>
        <p:spPr>
          <a:xfrm>
            <a:off x="1536192" y="4005072"/>
            <a:ext cx="3918204" cy="420624"/>
          </a:xfrm>
          <a:prstGeom prst="rect">
            <a:avLst/>
          </a:prstGeom>
          <a:noFill/>
        </p:spPr>
        <p:txBody>
          <a:bodyPr wrap="square" anchor="t" lIns="0" rIns="0" tIns="0" bIns="0">
            <a:spAutoFit/>
          </a:bodyPr>
          <a:lstStyle/>
          <a:p>
            <a:pPr algn="l">
              <a:lnSpc>
                <a:spcPct val="125000"/>
              </a:lnSpc>
            </a:pPr>
            <a:r>
              <a:rPr sz="1150" b="0">
                <a:solidFill>
                  <a:srgbClr val="1E293B"/>
                </a:solidFill>
                <a:latin typeface="Meiryo"/>
                <a:ea typeface="Meiryo"/>
                <a:cs typeface="Meiryo"/>
              </a:rPr>
              <a:t>特にご確認されたい変化・課題を追加でいただく</a:t>
            </a:r>
          </a:p>
        </p:txBody>
      </p:sp>
      <p:sp>
        <p:nvSpPr>
          <p:cNvPr id="25" name="Rounded Rectangle 24"/>
          <p:cNvSpPr/>
          <p:nvPr/>
        </p:nvSpPr>
        <p:spPr>
          <a:xfrm>
            <a:off x="6423660" y="3328415"/>
            <a:ext cx="5198364" cy="1316736"/>
          </a:xfrm>
          <a:prstGeom prst="roundRect">
            <a:avLst>
              <a:gd name="adj" fmla="val 3500"/>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ectangle 25"/>
          <p:cNvSpPr/>
          <p:nvPr/>
        </p:nvSpPr>
        <p:spPr>
          <a:xfrm>
            <a:off x="6423660" y="3328415"/>
            <a:ext cx="91440" cy="1316736"/>
          </a:xfrm>
          <a:prstGeom prst="rect">
            <a:avLst/>
          </a:prstGeom>
          <a:solidFill>
            <a:srgbClr val="F9616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752844" y="3547872"/>
            <a:ext cx="548640" cy="274320"/>
          </a:xfrm>
          <a:prstGeom prst="rect">
            <a:avLst/>
          </a:prstGeom>
          <a:noFill/>
        </p:spPr>
        <p:txBody>
          <a:bodyPr wrap="square" anchor="t" lIns="0" rIns="0" tIns="0" bIns="0">
            <a:spAutoFit/>
          </a:bodyPr>
          <a:lstStyle/>
          <a:p>
            <a:pPr algn="l">
              <a:lnSpc>
                <a:spcPct val="125000"/>
              </a:lnSpc>
            </a:pPr>
            <a:r>
              <a:rPr sz="1300" b="1">
                <a:solidFill>
                  <a:srgbClr val="F96167"/>
                </a:solidFill>
                <a:latin typeface="Meiryo"/>
                <a:ea typeface="Meiryo"/>
                <a:cs typeface="Meiryo"/>
              </a:rPr>
              <a:t>04</a:t>
            </a:r>
          </a:p>
        </p:txBody>
      </p:sp>
      <p:sp>
        <p:nvSpPr>
          <p:cNvPr id="28" name="TextBox 27"/>
          <p:cNvSpPr txBox="1"/>
          <p:nvPr/>
        </p:nvSpPr>
        <p:spPr>
          <a:xfrm>
            <a:off x="7392924" y="3511296"/>
            <a:ext cx="3918204" cy="329184"/>
          </a:xfrm>
          <a:prstGeom prst="rect">
            <a:avLst/>
          </a:prstGeom>
          <a:noFill/>
        </p:spPr>
        <p:txBody>
          <a:bodyPr wrap="square" anchor="t" lIns="0" rIns="0" tIns="0" bIns="0">
            <a:spAutoFit/>
          </a:bodyPr>
          <a:lstStyle/>
          <a:p>
            <a:pPr algn="l">
              <a:lnSpc>
                <a:spcPct val="125000"/>
              </a:lnSpc>
            </a:pPr>
            <a:r>
              <a:rPr sz="1500" b="1">
                <a:solidFill>
                  <a:srgbClr val="144B7F"/>
                </a:solidFill>
                <a:latin typeface="Meiryo"/>
                <a:ea typeface="Meiryo"/>
                <a:cs typeface="Meiryo"/>
              </a:rPr>
              <a:t>ネクストアクション</a:t>
            </a:r>
          </a:p>
        </p:txBody>
      </p:sp>
      <p:sp>
        <p:nvSpPr>
          <p:cNvPr id="29" name="TextBox 28"/>
          <p:cNvSpPr txBox="1"/>
          <p:nvPr/>
        </p:nvSpPr>
        <p:spPr>
          <a:xfrm>
            <a:off x="7392924" y="4005072"/>
            <a:ext cx="3918204" cy="420624"/>
          </a:xfrm>
          <a:prstGeom prst="rect">
            <a:avLst/>
          </a:prstGeom>
          <a:noFill/>
        </p:spPr>
        <p:txBody>
          <a:bodyPr wrap="square" anchor="t" lIns="0" rIns="0" tIns="0" bIns="0">
            <a:spAutoFit/>
          </a:bodyPr>
          <a:lstStyle/>
          <a:p>
            <a:pPr algn="l">
              <a:lnSpc>
                <a:spcPct val="125000"/>
              </a:lnSpc>
            </a:pPr>
            <a:r>
              <a:rPr sz="1150" b="0">
                <a:solidFill>
                  <a:srgbClr val="1E293B"/>
                </a:solidFill>
                <a:latin typeface="Meiryo"/>
                <a:ea typeface="Meiryo"/>
                <a:cs typeface="Meiryo"/>
              </a:rPr>
              <a:t>中間確認、または次回打ち合わせの日程を確保する</a:t>
            </a:r>
          </a:p>
        </p:txBody>
      </p:sp>
      <p:sp>
        <p:nvSpPr>
          <p:cNvPr id="30" name="Rounded Rectangle 29"/>
          <p:cNvSpPr/>
          <p:nvPr/>
        </p:nvSpPr>
        <p:spPr>
          <a:xfrm>
            <a:off x="566928" y="5138928"/>
            <a:ext cx="11055096" cy="859536"/>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841247" y="5321808"/>
            <a:ext cx="10506456" cy="548640"/>
          </a:xfrm>
          <a:prstGeom prst="rect">
            <a:avLst/>
          </a:prstGeom>
          <a:noFill/>
        </p:spPr>
        <p:txBody>
          <a:bodyPr wrap="square" anchor="t" lIns="0" rIns="0" tIns="0" bIns="0">
            <a:spAutoFit/>
          </a:bodyPr>
          <a:lstStyle/>
          <a:p>
            <a:pPr algn="l">
              <a:lnSpc>
                <a:spcPct val="140000"/>
              </a:lnSpc>
            </a:pPr>
            <a:r>
              <a:rPr sz="1250" b="1">
                <a:solidFill>
                  <a:srgbClr val="144B7F"/>
                </a:solidFill>
                <a:latin typeface="Meiryo"/>
                <a:ea typeface="Meiryo"/>
                <a:cs typeface="Meiryo"/>
              </a:rPr>
              <a:t>次回は、実際の利用状況と改善点を一緒に振り返らせてください。</a:t>
            </a:r>
          </a:p>
          <a:p>
            <a:pPr algn="l">
              <a:lnSpc>
                <a:spcPct val="140000"/>
              </a:lnSpc>
            </a:pPr>
            <a:r>
              <a:rPr sz="1100" b="0">
                <a:solidFill>
                  <a:srgbClr val="6B7787"/>
                </a:solidFill>
                <a:latin typeface="Meiryo"/>
                <a:ea typeface="Meiryo"/>
                <a:cs typeface="Meiryo"/>
              </a:rPr>
              <a:t>顧客企業への展開は、社内POCの学びを整理したうえで改めて協議します。</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E355C"/>
              </a:gs>
              <a:gs pos="100000">
                <a:srgbClr val="F96167"/>
              </a:gs>
            </a:gsLst>
            <a:lin scaled="0" ang="201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ckw.png"/>
          <p:cNvPicPr>
            <a:picLocks noChangeAspect="1"/>
          </p:cNvPicPr>
          <p:nvPr/>
        </p:nvPicPr>
        <p:blipFill>
          <a:blip r:embed="rId2"/>
          <a:stretch>
            <a:fillRect/>
          </a:stretch>
        </p:blipFill>
        <p:spPr>
          <a:xfrm>
            <a:off x="566928" y="621792"/>
            <a:ext cx="1814627" cy="384048"/>
          </a:xfrm>
          <a:prstGeom prst="rect">
            <a:avLst/>
          </a:prstGeom>
        </p:spPr>
      </p:pic>
      <p:sp>
        <p:nvSpPr>
          <p:cNvPr id="4" name="TextBox 3"/>
          <p:cNvSpPr txBox="1"/>
          <p:nvPr/>
        </p:nvSpPr>
        <p:spPr>
          <a:xfrm>
            <a:off x="566928" y="2103120"/>
            <a:ext cx="8229600" cy="310896"/>
          </a:xfrm>
          <a:prstGeom prst="rect">
            <a:avLst/>
          </a:prstGeom>
          <a:noFill/>
        </p:spPr>
        <p:txBody>
          <a:bodyPr wrap="square" anchor="t" lIns="0" rIns="0" tIns="0" bIns="0">
            <a:spAutoFit/>
          </a:bodyPr>
          <a:lstStyle/>
          <a:p>
            <a:pPr algn="l">
              <a:lnSpc>
                <a:spcPct val="125000"/>
              </a:lnSpc>
            </a:pPr>
            <a:r>
              <a:rPr sz="1300" b="1">
                <a:solidFill>
                  <a:srgbClr val="FFD9DB"/>
                </a:solidFill>
                <a:latin typeface="Meiryo"/>
                <a:ea typeface="Meiryo"/>
                <a:cs typeface="Meiryo"/>
              </a:rPr>
              <a:t>CoreUniq｜若手活躍支援サービス</a:t>
            </a:r>
          </a:p>
        </p:txBody>
      </p:sp>
      <p:sp>
        <p:nvSpPr>
          <p:cNvPr id="5" name="TextBox 4"/>
          <p:cNvSpPr txBox="1"/>
          <p:nvPr/>
        </p:nvSpPr>
        <p:spPr>
          <a:xfrm>
            <a:off x="566928" y="2615184"/>
            <a:ext cx="9509760" cy="1371600"/>
          </a:xfrm>
          <a:prstGeom prst="rect">
            <a:avLst/>
          </a:prstGeom>
          <a:noFill/>
        </p:spPr>
        <p:txBody>
          <a:bodyPr wrap="square" anchor="t" lIns="0" rIns="0" tIns="0" bIns="0">
            <a:spAutoFit/>
          </a:bodyPr>
          <a:lstStyle/>
          <a:p>
            <a:pPr algn="l">
              <a:lnSpc>
                <a:spcPct val="120000"/>
              </a:lnSpc>
            </a:pPr>
            <a:r>
              <a:rPr sz="3400" b="1">
                <a:solidFill>
                  <a:srgbClr val="FFFFFF"/>
                </a:solidFill>
                <a:latin typeface="Meiryo"/>
                <a:ea typeface="Meiryo"/>
                <a:cs typeface="Meiryo"/>
              </a:rPr>
              <a:t>自分を知る。仕事で試す。</a:t>
            </a:r>
          </a:p>
          <a:p>
            <a:pPr algn="l">
              <a:lnSpc>
                <a:spcPct val="120000"/>
              </a:lnSpc>
            </a:pPr>
            <a:r>
              <a:rPr sz="3400" b="1">
                <a:solidFill>
                  <a:srgbClr val="FFFFFF"/>
                </a:solidFill>
                <a:latin typeface="Meiryo"/>
                <a:ea typeface="Meiryo"/>
                <a:cs typeface="Meiryo"/>
              </a:rPr>
              <a:t>挑戦と貢献を、継続的に広げる。</a:t>
            </a:r>
          </a:p>
        </p:txBody>
      </p:sp>
      <p:sp>
        <p:nvSpPr>
          <p:cNvPr id="6" name="Rectangle 5"/>
          <p:cNvSpPr/>
          <p:nvPr/>
        </p:nvSpPr>
        <p:spPr>
          <a:xfrm>
            <a:off x="566928" y="4462272"/>
            <a:ext cx="1371600" cy="457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566928" y="4773168"/>
            <a:ext cx="5669280" cy="822960"/>
          </a:xfrm>
          <a:prstGeom prst="rect">
            <a:avLst/>
          </a:prstGeom>
          <a:noFill/>
        </p:spPr>
        <p:txBody>
          <a:bodyPr wrap="square" anchor="t" lIns="0" rIns="0" tIns="0" bIns="0">
            <a:spAutoFit/>
          </a:bodyPr>
          <a:lstStyle/>
          <a:p>
            <a:pPr algn="l">
              <a:lnSpc>
                <a:spcPct val="150000"/>
              </a:lnSpc>
            </a:pPr>
            <a:r>
              <a:rPr sz="1400" b="1">
                <a:solidFill>
                  <a:srgbClr val="EFF4FA"/>
                </a:solidFill>
                <a:latin typeface="Meiryo"/>
                <a:ea typeface="Meiryo"/>
                <a:cs typeface="Meiryo"/>
              </a:rPr>
              <a:t>Givin' Back株式会社</a:t>
            </a:r>
          </a:p>
          <a:p>
            <a:pPr algn="l">
              <a:lnSpc>
                <a:spcPct val="150000"/>
              </a:lnSpc>
            </a:pPr>
            <a:r>
              <a:rPr sz="1200" b="0">
                <a:solidFill>
                  <a:srgbClr val="EFF4FA"/>
                </a:solidFill>
                <a:latin typeface="Meiryo"/>
                <a:ea typeface="Meiryo"/>
                <a:cs typeface="Meiryo"/>
              </a:rPr>
              <a:t>info@givinback.co.jp　|　https://givinback.co.jp/</a:t>
            </a:r>
          </a:p>
        </p:txBody>
      </p:sp>
      <p:sp>
        <p:nvSpPr>
          <p:cNvPr id="8" name="TextBox 7"/>
          <p:cNvSpPr txBox="1"/>
          <p:nvPr/>
        </p:nvSpPr>
        <p:spPr>
          <a:xfrm>
            <a:off x="6949440" y="6053328"/>
            <a:ext cx="4663440" cy="274320"/>
          </a:xfrm>
          <a:prstGeom prst="rect">
            <a:avLst/>
          </a:prstGeom>
          <a:noFill/>
        </p:spPr>
        <p:txBody>
          <a:bodyPr wrap="square" anchor="t" lIns="0" rIns="0" tIns="0" bIns="0">
            <a:spAutoFit/>
          </a:bodyPr>
          <a:lstStyle/>
          <a:p>
            <a:pPr algn="r">
              <a:lnSpc>
                <a:spcPct val="125000"/>
              </a:lnSpc>
            </a:pPr>
            <a:r>
              <a:rPr sz="1000" b="0">
                <a:solidFill>
                  <a:srgbClr val="E6EEF7"/>
                </a:solidFill>
                <a:latin typeface="Meiryo"/>
                <a:ea typeface="Meiryo"/>
                <a:cs typeface="Meiryo"/>
              </a:rPr>
              <a:t>お問い合わせ</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