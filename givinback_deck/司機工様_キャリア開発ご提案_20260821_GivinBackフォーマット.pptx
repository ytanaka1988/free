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本日は、これまで伺ってきた現状認識を合わせたうえで、次の一手の方向性と、スモールスタートの範囲までを一緒に決めさせてください。</a:t>
            </a:r>
          </a:p>
          <a:p>
            <a:r>
              <a:t>全体を通じて「今の世代がダメ」ではなく「同じ良い状態を無理なく引き継ぐ」という文脈でお話しします。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本日のゴールは3つです。前回までの現状認識を合わせること、対話とキャリア開発がいま採用・定着の両面でなぜ必要かを共有すること、そしてスモールスタートの対象範囲をこの場で仮決めすることです。</a:t>
            </a:r>
          </a:p>
          <a:p>
            <a:r>
              <a:t>冒頭でこの着地点を合意してから進めます。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時間配分は、①14:00-14:10 現在地の確認、②14:10-14:25 外部環境と他社動向、③14:25-14:40 キャリア開発と対話の仕組み、④14:40-14:50 スモールスタートの進め方、⑤14:50-15:00 質疑応答とネクストアクション、です。</a:t>
            </a:r>
          </a:p>
          <a:p>
            <a:r>
              <a:t>④で対象範囲を決めきることを優先し、時間が押した場合は②を短縮します。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離職率の低さ、社長ご自身が各拠点に足を運ばれていること、浦安での指導係の配置、田中総務部長の3カ月面談と記録の共有。すでに良い状態と型があります。</a:t>
            </a:r>
          </a:p>
          <a:p>
            <a:r>
              <a:t>9月にご長男が入社されるいま、この良い状態を無理なく引き継ぐ土台づくりの好機だと考えています。</a:t>
            </a:r>
          </a:p>
          <a:p>
            <a:r>
              <a:t>質問：この現状認識で、ずれているところはありますか。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複数企業98名の受講前アンケートです。周囲と協力できるは8.02、率先して提案できるは5.38。協働の土台はあっても、自分から動くところにギャップがあります。</a:t>
            </a:r>
          </a:p>
          <a:p>
            <a:r>
              <a:t>悩みの上位も、やりたいことが見えない、強みの活かし方が分からない、という入口の課題です。</a:t>
            </a:r>
          </a:p>
          <a:p>
            <a:r>
              <a:t>質問：御社の若手にも、似た傾向はありますか。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少子化で若手の獲得競争は今後さらに強まります。求職者は入社後にキャリアが描けるか、対話や教育の環境があるかを見ています。</a:t>
            </a:r>
          </a:p>
          <a:p>
            <a:r>
              <a:t>他社では入社3年目までの若手層に教育予算を最も大きく投下している例もあります。</a:t>
            </a:r>
          </a:p>
          <a:p>
            <a:r>
              <a:t>厳しくなってから始めるのでは手遅れになりやすい、というのが正直な実感です。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意見が固まっていない相手から引き出すのは難しい、というのが実務からの学びです。</a:t>
            </a:r>
          </a:p>
          <a:p>
            <a:r>
              <a:t>管理職の面談スキルだけを鍛えても、若手側が自分の考えを言語化できていないと対話が成立しません。</a:t>
            </a:r>
          </a:p>
          <a:p>
            <a:r>
              <a:t>だから両面を同時に進める設計にしています。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ゼロから作るのではなく、すでに回っている3カ月面談を起点にします。</a:t>
            </a:r>
          </a:p>
          <a:p>
            <a:r>
              <a:t>まずは各拠点に、対話ができる人を1人でもつくる。そのうえで対話の質をそろえる型を用意します。</a:t>
            </a:r>
          </a:p>
          <a:p>
            <a:r>
              <a:t>日々の変化を可視化する仕組みは、あくまで管理職の負担を下げるための後段の話として触れます。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2日間の研修だけではなく、あいだの約3カ月の実践と、その振り返りまでを一体で設計します。</a:t>
            </a:r>
          </a:p>
          <a:p>
            <a:r>
              <a:t>ここからは御社の現場に合わせた設計・実施を伴う有償のトライアルという位置づけになります。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実施前にアンケートで状態を把握し、実施後に同じ観点で変化を見ます。</a:t>
            </a:r>
          </a:p>
          <a:p>
            <a:r>
              <a:t>数値だけでなく、若手と管理職の声をあわせてご報告し、全社へ広げるかどうかの判断材料にしていただきます。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全社一斉ではなく、まずは効果検証のための小さく確実な一歩から。</a:t>
            </a:r>
          </a:p>
          <a:p>
            <a:r>
              <a:t>本日この場で、対象拠点・対象年次・頻度の3つを仮決めさせてください。</a:t>
            </a:r>
          </a:p>
          <a:p>
            <a:r>
              <a:t>ゴールは、管理職が部下の考えを理解でき、若手がこの会社での自分の未来を描ける状態を、まず一拠点でつくることです。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司機工様_キャリア開発ご提案_20260821 / 司機工_agenda_0821</a:t>
            </a:r>
          </a:p>
          <a:p>
            <a:r>
              <a:t>- Givin' Back キャリア開発研修 受講前アンケート（複数企業・98回答）</a:t>
            </a:r>
          </a:p>
          <a:p/>
          <a:p>
            <a:r>
              <a:t>[Talk Track]</a:t>
            </a:r>
          </a:p>
          <a:p>
            <a:r>
              <a:t>本日決めたいのは、スモールスタートの対象拠点・対象年次・頻度です。</a:t>
            </a:r>
          </a:p>
          <a:p>
            <a:r>
              <a:t>次回、仮決めした範囲をもとにトライアルの具体設計とお見積りをご提示します。</a:t>
            </a:r>
          </a:p>
          <a:p>
            <a:r>
              <a:t>あわせて、次回日程と、可能であれば現場見学の段取りをご相談させてください。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E355C"/>
              </a:gs>
              <a:gs pos="100000">
                <a:srgbClr val="F96167"/>
              </a:gs>
            </a:gsLst>
            <a:lin scaled="0" ang="201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ckw.png"/>
          <p:cNvPicPr>
            <a:picLocks noChangeAspect="1"/>
          </p:cNvPicPr>
          <p:nvPr/>
        </p:nvPicPr>
        <p:blipFill>
          <a:blip r:embed="rId2"/>
          <a:stretch>
            <a:fillRect/>
          </a:stretch>
        </p:blipFill>
        <p:spPr>
          <a:xfrm>
            <a:off x="566928" y="566928"/>
            <a:ext cx="1814627" cy="384048"/>
          </a:xfrm>
          <a:prstGeom prst="rect">
            <a:avLst/>
          </a:prstGeom>
        </p:spPr>
      </p:pic>
      <p:sp>
        <p:nvSpPr>
          <p:cNvPr id="4" name="TextBox 3"/>
          <p:cNvSpPr txBox="1"/>
          <p:nvPr/>
        </p:nvSpPr>
        <p:spPr>
          <a:xfrm>
            <a:off x="566928" y="1691640"/>
            <a:ext cx="8778240" cy="310896"/>
          </a:xfrm>
          <a:prstGeom prst="rect">
            <a:avLst/>
          </a:prstGeom>
          <a:noFill/>
        </p:spPr>
        <p:txBody>
          <a:bodyPr wrap="square" anchor="t" lIns="0" rIns="0" tIns="0" bIns="0">
            <a:spAutoFit/>
          </a:bodyPr>
          <a:lstStyle/>
          <a:p>
            <a:pPr algn="l">
              <a:lnSpc>
                <a:spcPct val="125000"/>
              </a:lnSpc>
            </a:pPr>
            <a:r>
              <a:rPr sz="1300" b="1">
                <a:solidFill>
                  <a:srgbClr val="FFD9DB"/>
                </a:solidFill>
                <a:latin typeface="Zen Kaku Gothic Antique"/>
                <a:ea typeface="Zen Kaku Gothic Antique"/>
                <a:cs typeface="Zen Kaku Gothic Antique"/>
              </a:rPr>
              <a:t>司機工株式会社様｜採用・定着と承継の土台づくり</a:t>
            </a:r>
          </a:p>
        </p:txBody>
      </p:sp>
      <p:sp>
        <p:nvSpPr>
          <p:cNvPr id="5" name="TextBox 4"/>
          <p:cNvSpPr txBox="1"/>
          <p:nvPr/>
        </p:nvSpPr>
        <p:spPr>
          <a:xfrm>
            <a:off x="566928" y="2212848"/>
            <a:ext cx="9692640" cy="1920240"/>
          </a:xfrm>
          <a:prstGeom prst="rect">
            <a:avLst/>
          </a:prstGeom>
          <a:noFill/>
        </p:spPr>
        <p:txBody>
          <a:bodyPr wrap="square" anchor="t" lIns="0" rIns="0" tIns="0" bIns="0">
            <a:spAutoFit/>
          </a:bodyPr>
          <a:lstStyle/>
          <a:p>
            <a:pPr algn="l">
              <a:lnSpc>
                <a:spcPct val="122000"/>
              </a:lnSpc>
            </a:pPr>
            <a:r>
              <a:rPr sz="4000" b="1">
                <a:solidFill>
                  <a:srgbClr val="FFFFFF"/>
                </a:solidFill>
                <a:latin typeface="Zen Kaku Gothic Antique"/>
                <a:ea typeface="Zen Kaku Gothic Antique"/>
                <a:cs typeface="Zen Kaku Gothic Antique"/>
              </a:rPr>
              <a:t>今ある「良い会社」を、</a:t>
            </a:r>
          </a:p>
          <a:p>
            <a:pPr algn="l">
              <a:lnSpc>
                <a:spcPct val="122000"/>
              </a:lnSpc>
            </a:pPr>
            <a:r>
              <a:rPr sz="2600" b="1">
                <a:solidFill>
                  <a:srgbClr val="FFFFFF"/>
                </a:solidFill>
                <a:latin typeface="Zen Kaku Gothic Antique"/>
                <a:ea typeface="Zen Kaku Gothic Antique"/>
                <a:cs typeface="Zen Kaku Gothic Antique"/>
              </a:rPr>
              <a:t>次の世代へつなぐために。</a:t>
            </a:r>
          </a:p>
        </p:txBody>
      </p:sp>
      <p:sp>
        <p:nvSpPr>
          <p:cNvPr id="6" name="Rectangle 5"/>
          <p:cNvSpPr/>
          <p:nvPr/>
        </p:nvSpPr>
        <p:spPr>
          <a:xfrm>
            <a:off x="566928" y="4315968"/>
            <a:ext cx="13716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66928" y="4590288"/>
            <a:ext cx="9326880" cy="822960"/>
          </a:xfrm>
          <a:prstGeom prst="rect">
            <a:avLst/>
          </a:prstGeom>
          <a:noFill/>
        </p:spPr>
        <p:txBody>
          <a:bodyPr wrap="square" anchor="t" lIns="0" rIns="0" tIns="0" bIns="0">
            <a:spAutoFit/>
          </a:bodyPr>
          <a:lstStyle/>
          <a:p>
            <a:pPr algn="l">
              <a:lnSpc>
                <a:spcPct val="150000"/>
              </a:lnSpc>
            </a:pPr>
            <a:r>
              <a:rPr sz="1500" b="1">
                <a:solidFill>
                  <a:srgbClr val="EFF4FA"/>
                </a:solidFill>
                <a:latin typeface="Zen Kaku Gothic Antique"/>
                <a:ea typeface="Zen Kaku Gothic Antique"/>
                <a:cs typeface="Zen Kaku Gothic Antique"/>
              </a:rPr>
              <a:t>若手のキャリア開発 × 管理職の対話支援</a:t>
            </a:r>
          </a:p>
          <a:p>
            <a:pPr algn="l">
              <a:lnSpc>
                <a:spcPct val="150000"/>
              </a:lnSpc>
            </a:pPr>
            <a:r>
              <a:rPr sz="1300" b="0">
                <a:solidFill>
                  <a:srgbClr val="EFF4FA"/>
                </a:solidFill>
                <a:latin typeface="Zen Kaku Gothic Antique"/>
                <a:ea typeface="Zen Kaku Gothic Antique"/>
                <a:cs typeface="Zen Kaku Gothic Antique"/>
              </a:rPr>
              <a:t>採用力を高める。若手を育てる。会社の思いと技術を受け継ぐ。</a:t>
            </a:r>
          </a:p>
        </p:txBody>
      </p:sp>
      <p:sp>
        <p:nvSpPr>
          <p:cNvPr id="8" name="TextBox 7"/>
          <p:cNvSpPr txBox="1"/>
          <p:nvPr/>
        </p:nvSpPr>
        <p:spPr>
          <a:xfrm>
            <a:off x="566928" y="6053328"/>
            <a:ext cx="5486400" cy="274320"/>
          </a:xfrm>
          <a:prstGeom prst="rect">
            <a:avLst/>
          </a:prstGeom>
          <a:noFill/>
        </p:spPr>
        <p:txBody>
          <a:bodyPr wrap="square" anchor="t" lIns="0" rIns="0" tIns="0" bIns="0">
            <a:spAutoFit/>
          </a:bodyPr>
          <a:lstStyle/>
          <a:p>
            <a:pPr algn="l">
              <a:lnSpc>
                <a:spcPct val="125000"/>
              </a:lnSpc>
            </a:pPr>
            <a:r>
              <a:rPr sz="1100" b="0">
                <a:solidFill>
                  <a:srgbClr val="EFF4FA"/>
                </a:solidFill>
                <a:latin typeface="Zen Kaku Gothic Antique"/>
                <a:ea typeface="Zen Kaku Gothic Antique"/>
                <a:cs typeface="Zen Kaku Gothic Antique"/>
              </a:rPr>
              <a:t>スモールスタートの範囲を仮決めする回</a:t>
            </a:r>
          </a:p>
        </p:txBody>
      </p:sp>
      <p:sp>
        <p:nvSpPr>
          <p:cNvPr id="9" name="TextBox 8"/>
          <p:cNvSpPr txBox="1"/>
          <p:nvPr/>
        </p:nvSpPr>
        <p:spPr>
          <a:xfrm>
            <a:off x="6949440" y="6053328"/>
            <a:ext cx="4663440" cy="274320"/>
          </a:xfrm>
          <a:prstGeom prst="rect">
            <a:avLst/>
          </a:prstGeom>
          <a:noFill/>
        </p:spPr>
        <p:txBody>
          <a:bodyPr wrap="square" anchor="t" lIns="0" rIns="0" tIns="0" bIns="0">
            <a:spAutoFit/>
          </a:bodyPr>
          <a:lstStyle/>
          <a:p>
            <a:pPr algn="r">
              <a:lnSpc>
                <a:spcPct val="125000"/>
              </a:lnSpc>
            </a:pPr>
            <a:r>
              <a:rPr sz="1000" b="0">
                <a:solidFill>
                  <a:srgbClr val="EFF4FA"/>
                </a:solidFill>
                <a:latin typeface="Zen Kaku Gothic Antique"/>
                <a:ea typeface="Zen Kaku Gothic Antique"/>
                <a:cs typeface="Zen Kaku Gothic Antique"/>
              </a:rPr>
              <a:t>Givin' Back株式会社　|　2026.08.21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886053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Zen Kaku Gothic Antique"/>
                <a:ea typeface="Zen Kaku Gothic Antique"/>
                <a:cs typeface="Zen Kaku Gothic Antique"/>
              </a:rPr>
              <a:t>TODAY｜本日のゴール</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Zen Kaku Gothic Antique"/>
                <a:ea typeface="Zen Kaku Gothic Antique"/>
                <a:cs typeface="Zen Kaku Gothic Antique"/>
              </a:rPr>
              <a:t>© Givin' Back Inc. All Rights Reserved.  |  Confidential</a:t>
            </a:r>
          </a:p>
        </p:txBody>
      </p:sp>
      <p:sp>
        <p:nvSpPr>
          <p:cNvPr id="7" name="TextBox 6"/>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Zen Kaku Gothic Antique"/>
                <a:ea typeface="Zen Kaku Gothic Antique"/>
                <a:cs typeface="Zen Kaku Gothic Antique"/>
              </a:rPr>
              <a:t>2</a:t>
            </a:r>
          </a:p>
        </p:txBody>
      </p:sp>
      <p:sp>
        <p:nvSpPr>
          <p:cNvPr id="8" name="TextBox 7"/>
          <p:cNvSpPr txBox="1"/>
          <p:nvPr/>
        </p:nvSpPr>
        <p:spPr>
          <a:xfrm>
            <a:off x="749808" y="1069848"/>
            <a:ext cx="10872216" cy="457200"/>
          </a:xfrm>
          <a:prstGeom prst="rect">
            <a:avLst/>
          </a:prstGeom>
          <a:noFill/>
        </p:spPr>
        <p:txBody>
          <a:bodyPr wrap="square" anchor="t" lIns="0" rIns="0" tIns="0" bIns="0">
            <a:spAutoFit/>
          </a:bodyPr>
          <a:lstStyle/>
          <a:p>
            <a:pPr algn="l">
              <a:lnSpc>
                <a:spcPct val="125000"/>
              </a:lnSpc>
            </a:pPr>
            <a:r>
              <a:rPr sz="2400" b="1">
                <a:solidFill>
                  <a:srgbClr val="144B7F"/>
                </a:solidFill>
                <a:latin typeface="Zen Kaku Gothic Antique"/>
                <a:ea typeface="Zen Kaku Gothic Antique"/>
                <a:cs typeface="Zen Kaku Gothic Antique"/>
              </a:rPr>
              <a:t>現状認識を合わせ、スモールスタートの範囲を仮決めします</a:t>
            </a:r>
          </a:p>
        </p:txBody>
      </p:sp>
      <p:sp>
        <p:nvSpPr>
          <p:cNvPr id="9" name="Rounded Rectangle 8"/>
          <p:cNvSpPr/>
          <p:nvPr/>
        </p:nvSpPr>
        <p:spPr>
          <a:xfrm>
            <a:off x="566928"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1847088"/>
            <a:ext cx="2475738"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1521333" y="2212848"/>
            <a:ext cx="566928" cy="566928"/>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521333"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1</a:t>
            </a:r>
          </a:p>
        </p:txBody>
      </p:sp>
      <p:sp>
        <p:nvSpPr>
          <p:cNvPr id="13" name="TextBox 12"/>
          <p:cNvSpPr txBox="1"/>
          <p:nvPr/>
        </p:nvSpPr>
        <p:spPr>
          <a:xfrm>
            <a:off x="731520"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現在地を確認</a:t>
            </a:r>
          </a:p>
        </p:txBody>
      </p:sp>
      <p:sp>
        <p:nvSpPr>
          <p:cNvPr id="14" name="Rectangle 13"/>
          <p:cNvSpPr/>
          <p:nvPr/>
        </p:nvSpPr>
        <p:spPr>
          <a:xfrm>
            <a:off x="1301877"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御社の強みと、承継に向けた</a:t>
            </a:r>
          </a:p>
          <a:p>
            <a:pPr algn="ctr">
              <a:lnSpc>
                <a:spcPct val="145000"/>
              </a:lnSpc>
            </a:pPr>
            <a:r>
              <a:rPr sz="1400" b="0">
                <a:solidFill>
                  <a:srgbClr val="1E293B"/>
                </a:solidFill>
                <a:latin typeface="Zen Kaku Gothic Antique"/>
                <a:ea typeface="Zen Kaku Gothic Antique"/>
                <a:cs typeface="Zen Kaku Gothic Antique"/>
              </a:rPr>
              <a:t>課題を確認する</a:t>
            </a:r>
          </a:p>
        </p:txBody>
      </p:sp>
      <p:sp>
        <p:nvSpPr>
          <p:cNvPr id="16" name="Rounded Rectangle 15"/>
          <p:cNvSpPr/>
          <p:nvPr/>
        </p:nvSpPr>
        <p:spPr>
          <a:xfrm>
            <a:off x="3426714"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426714" y="1847088"/>
            <a:ext cx="2475738"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381119" y="2212848"/>
            <a:ext cx="566928" cy="566928"/>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381119"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2</a:t>
            </a:r>
          </a:p>
        </p:txBody>
      </p:sp>
      <p:sp>
        <p:nvSpPr>
          <p:cNvPr id="20" name="TextBox 19"/>
          <p:cNvSpPr txBox="1"/>
          <p:nvPr/>
        </p:nvSpPr>
        <p:spPr>
          <a:xfrm>
            <a:off x="3591306"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外部環境を共有</a:t>
            </a:r>
          </a:p>
        </p:txBody>
      </p:sp>
      <p:sp>
        <p:nvSpPr>
          <p:cNvPr id="21" name="Rectangle 20"/>
          <p:cNvSpPr/>
          <p:nvPr/>
        </p:nvSpPr>
        <p:spPr>
          <a:xfrm>
            <a:off x="4161663"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91306"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なぜ今、採用・定着に</a:t>
            </a:r>
          </a:p>
          <a:p>
            <a:pPr algn="ctr">
              <a:lnSpc>
                <a:spcPct val="145000"/>
              </a:lnSpc>
            </a:pPr>
            <a:r>
              <a:rPr sz="1400" b="0">
                <a:solidFill>
                  <a:srgbClr val="1E293B"/>
                </a:solidFill>
                <a:latin typeface="Zen Kaku Gothic Antique"/>
                <a:ea typeface="Zen Kaku Gothic Antique"/>
                <a:cs typeface="Zen Kaku Gothic Antique"/>
              </a:rPr>
              <a:t>キャリア開発が必要か</a:t>
            </a:r>
          </a:p>
        </p:txBody>
      </p:sp>
      <p:sp>
        <p:nvSpPr>
          <p:cNvPr id="23" name="Rounded Rectangle 22"/>
          <p:cNvSpPr/>
          <p:nvPr/>
        </p:nvSpPr>
        <p:spPr>
          <a:xfrm>
            <a:off x="6286500"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86500" y="1847088"/>
            <a:ext cx="2475738"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40905" y="2212848"/>
            <a:ext cx="566928" cy="566928"/>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240905"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3</a:t>
            </a:r>
          </a:p>
        </p:txBody>
      </p:sp>
      <p:sp>
        <p:nvSpPr>
          <p:cNvPr id="27" name="TextBox 26"/>
          <p:cNvSpPr txBox="1"/>
          <p:nvPr/>
        </p:nvSpPr>
        <p:spPr>
          <a:xfrm>
            <a:off x="6451092"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方向性を確認</a:t>
            </a:r>
          </a:p>
        </p:txBody>
      </p:sp>
      <p:sp>
        <p:nvSpPr>
          <p:cNvPr id="28" name="Rectangle 27"/>
          <p:cNvSpPr/>
          <p:nvPr/>
        </p:nvSpPr>
        <p:spPr>
          <a:xfrm>
            <a:off x="7021449"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51092"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若手と管理職、両面から</a:t>
            </a:r>
          </a:p>
          <a:p>
            <a:pPr algn="ctr">
              <a:lnSpc>
                <a:spcPct val="145000"/>
              </a:lnSpc>
            </a:pPr>
            <a:r>
              <a:rPr sz="1400" b="0">
                <a:solidFill>
                  <a:srgbClr val="1E293B"/>
                </a:solidFill>
                <a:latin typeface="Zen Kaku Gothic Antique"/>
                <a:ea typeface="Zen Kaku Gothic Antique"/>
                <a:cs typeface="Zen Kaku Gothic Antique"/>
              </a:rPr>
              <a:t>対話の仕組みをつくる</a:t>
            </a:r>
          </a:p>
        </p:txBody>
      </p:sp>
      <p:sp>
        <p:nvSpPr>
          <p:cNvPr id="30" name="Rounded Rectangle 29"/>
          <p:cNvSpPr/>
          <p:nvPr/>
        </p:nvSpPr>
        <p:spPr>
          <a:xfrm>
            <a:off x="9146286"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146286" y="1847088"/>
            <a:ext cx="2475738"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10100691" y="2212848"/>
            <a:ext cx="566928" cy="566928"/>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100691"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4</a:t>
            </a:r>
          </a:p>
        </p:txBody>
      </p:sp>
      <p:sp>
        <p:nvSpPr>
          <p:cNvPr id="34" name="TextBox 33"/>
          <p:cNvSpPr txBox="1"/>
          <p:nvPr/>
        </p:nvSpPr>
        <p:spPr>
          <a:xfrm>
            <a:off x="9310878"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範囲を仮決め</a:t>
            </a:r>
          </a:p>
        </p:txBody>
      </p:sp>
      <p:sp>
        <p:nvSpPr>
          <p:cNvPr id="35" name="Rectangle 34"/>
          <p:cNvSpPr/>
          <p:nvPr/>
        </p:nvSpPr>
        <p:spPr>
          <a:xfrm>
            <a:off x="9881235"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310878"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対象拠点・対象年次・頻度を</a:t>
            </a:r>
          </a:p>
          <a:p>
            <a:pPr algn="ctr">
              <a:lnSpc>
                <a:spcPct val="145000"/>
              </a:lnSpc>
            </a:pPr>
            <a:r>
              <a:rPr sz="1400" b="0">
                <a:solidFill>
                  <a:srgbClr val="1E293B"/>
                </a:solidFill>
                <a:latin typeface="Zen Kaku Gothic Antique"/>
                <a:ea typeface="Zen Kaku Gothic Antique"/>
                <a:cs typeface="Zen Kaku Gothic Antique"/>
              </a:rPr>
              <a:t>すり合わせる</a:t>
            </a:r>
          </a:p>
        </p:txBody>
      </p:sp>
      <p:sp>
        <p:nvSpPr>
          <p:cNvPr id="37" name="TextBox 36"/>
          <p:cNvSpPr txBox="1"/>
          <p:nvPr/>
        </p:nvSpPr>
        <p:spPr>
          <a:xfrm>
            <a:off x="804672" y="5230368"/>
            <a:ext cx="10817352" cy="548640"/>
          </a:xfrm>
          <a:prstGeom prst="rect">
            <a:avLst/>
          </a:prstGeom>
          <a:noFill/>
        </p:spPr>
        <p:txBody>
          <a:bodyPr wrap="square" anchor="t" lIns="0" rIns="0" tIns="0" bIns="0">
            <a:spAutoFit/>
          </a:bodyPr>
          <a:lstStyle/>
          <a:p>
            <a:pPr algn="l">
              <a:lnSpc>
                <a:spcPct val="125000"/>
              </a:lnSpc>
            </a:pPr>
            <a:r>
              <a:rPr sz="2200" b="1">
                <a:solidFill>
                  <a:srgbClr val="144B7F"/>
                </a:solidFill>
                <a:latin typeface="Zen Kaku Gothic Antique"/>
                <a:ea typeface="Zen Kaku Gothic Antique"/>
                <a:cs typeface="Zen Kaku Gothic Antique"/>
              </a:rPr>
              <a:t>最後に、対象拠点・対象年次・頻度を仮決めするところまでを本日の到達点にします。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886053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Zen Kaku Gothic Antique"/>
                <a:ea typeface="Zen Kaku Gothic Antique"/>
                <a:cs typeface="Zen Kaku Gothic Antique"/>
              </a:rPr>
              <a:t>AGENDA｜本日の進め方（60分）</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Zen Kaku Gothic Antique"/>
                <a:ea typeface="Zen Kaku Gothic Antique"/>
                <a:cs typeface="Zen Kaku Gothic Antique"/>
              </a:rPr>
              <a:t>© Givin' Back Inc. All Rights Reserved.  |  Confidential</a:t>
            </a:r>
          </a:p>
        </p:txBody>
      </p:sp>
      <p:sp>
        <p:nvSpPr>
          <p:cNvPr id="7" name="TextBox 6"/>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Zen Kaku Gothic Antique"/>
                <a:ea typeface="Zen Kaku Gothic Antique"/>
                <a:cs typeface="Zen Kaku Gothic Antique"/>
              </a:rPr>
              <a:t>3</a:t>
            </a:r>
          </a:p>
        </p:txBody>
      </p:sp>
      <p:sp>
        <p:nvSpPr>
          <p:cNvPr id="8" name="Rectangle 7"/>
          <p:cNvSpPr/>
          <p:nvPr/>
        </p:nvSpPr>
        <p:spPr>
          <a:xfrm>
            <a:off x="566928" y="1920240"/>
            <a:ext cx="11055096" cy="36576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865376" y="1948815"/>
            <a:ext cx="9756648" cy="365760"/>
          </a:xfrm>
          <a:prstGeom prst="rect">
            <a:avLst/>
          </a:prstGeom>
          <a:noFill/>
        </p:spPr>
        <p:txBody>
          <a:bodyPr wrap="square" anchor="t" lIns="0" rIns="0" tIns="0" bIns="0">
            <a:spAutoFit/>
          </a:bodyPr>
          <a:lstStyle/>
          <a:p>
            <a:pPr algn="l">
              <a:lnSpc>
                <a:spcPct val="125000"/>
              </a:lnSpc>
            </a:pPr>
            <a:r>
              <a:rPr sz="1800" b="1">
                <a:solidFill>
                  <a:srgbClr val="FFFFFF"/>
                </a:solidFill>
                <a:latin typeface="Zen Kaku Gothic Antique"/>
                <a:ea typeface="Zen Kaku Gothic Antique"/>
                <a:cs typeface="Zen Kaku Gothic Antique"/>
              </a:rPr>
              <a:t>アジェンダ</a:t>
            </a:r>
          </a:p>
        </p:txBody>
      </p:sp>
      <p:sp>
        <p:nvSpPr>
          <p:cNvPr id="10" name="Rectangle 9"/>
          <p:cNvSpPr/>
          <p:nvPr/>
        </p:nvSpPr>
        <p:spPr>
          <a:xfrm>
            <a:off x="566928" y="2286000"/>
            <a:ext cx="11055096" cy="60350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882188"/>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865376" y="2433447"/>
            <a:ext cx="9518904" cy="603504"/>
          </a:xfrm>
          <a:prstGeom prst="rect">
            <a:avLst/>
          </a:prstGeom>
          <a:noFill/>
        </p:spPr>
        <p:txBody>
          <a:bodyPr wrap="square" anchor="t" lIns="0" rIns="0" tIns="0" bIns="0">
            <a:spAutoFit/>
          </a:bodyPr>
          <a:lstStyle/>
          <a:p>
            <a:pPr algn="l">
              <a:lnSpc>
                <a:spcPct val="125000"/>
              </a:lnSpc>
            </a:pPr>
            <a:r>
              <a:rPr sz="1800" b="1">
                <a:solidFill>
                  <a:srgbClr val="144B7F"/>
                </a:solidFill>
                <a:latin typeface="Zen Kaku Gothic Antique"/>
                <a:ea typeface="Zen Kaku Gothic Antique"/>
                <a:cs typeface="Zen Kaku Gothic Antique"/>
              </a:rPr>
              <a:t>① 前回の振り返りと現在地の確認</a:t>
            </a:r>
          </a:p>
        </p:txBody>
      </p:sp>
      <p:sp>
        <p:nvSpPr>
          <p:cNvPr id="13" name="Rectangle 12"/>
          <p:cNvSpPr/>
          <p:nvPr/>
        </p:nvSpPr>
        <p:spPr>
          <a:xfrm>
            <a:off x="566928" y="3485692"/>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65376" y="3036951"/>
            <a:ext cx="9518904" cy="603504"/>
          </a:xfrm>
          <a:prstGeom prst="rect">
            <a:avLst/>
          </a:prstGeom>
          <a:noFill/>
        </p:spPr>
        <p:txBody>
          <a:bodyPr wrap="square" anchor="t" lIns="0" rIns="0" tIns="0" bIns="0">
            <a:spAutoFit/>
          </a:bodyPr>
          <a:lstStyle/>
          <a:p>
            <a:pPr algn="l">
              <a:lnSpc>
                <a:spcPct val="125000"/>
              </a:lnSpc>
            </a:pPr>
            <a:r>
              <a:rPr sz="1800" b="1">
                <a:solidFill>
                  <a:srgbClr val="144B7F"/>
                </a:solidFill>
                <a:latin typeface="Zen Kaku Gothic Antique"/>
                <a:ea typeface="Zen Kaku Gothic Antique"/>
                <a:cs typeface="Zen Kaku Gothic Antique"/>
              </a:rPr>
              <a:t>② 採用・定着を取り巻く外部環境・他社動向</a:t>
            </a:r>
          </a:p>
        </p:txBody>
      </p:sp>
      <p:sp>
        <p:nvSpPr>
          <p:cNvPr id="15" name="Rectangle 14"/>
          <p:cNvSpPr/>
          <p:nvPr/>
        </p:nvSpPr>
        <p:spPr>
          <a:xfrm>
            <a:off x="566928" y="3493008"/>
            <a:ext cx="11055096" cy="60350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4089196"/>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865376" y="3640455"/>
            <a:ext cx="9518904" cy="603504"/>
          </a:xfrm>
          <a:prstGeom prst="rect">
            <a:avLst/>
          </a:prstGeom>
          <a:noFill/>
        </p:spPr>
        <p:txBody>
          <a:bodyPr wrap="square" anchor="t" lIns="0" rIns="0" tIns="0" bIns="0">
            <a:spAutoFit/>
          </a:bodyPr>
          <a:lstStyle/>
          <a:p>
            <a:pPr algn="l">
              <a:lnSpc>
                <a:spcPct val="125000"/>
              </a:lnSpc>
            </a:pPr>
            <a:r>
              <a:rPr sz="1800" b="1">
                <a:solidFill>
                  <a:srgbClr val="144B7F"/>
                </a:solidFill>
                <a:latin typeface="Zen Kaku Gothic Antique"/>
                <a:ea typeface="Zen Kaku Gothic Antique"/>
                <a:cs typeface="Zen Kaku Gothic Antique"/>
              </a:rPr>
              <a:t>③ 組織の土台づくり：キャリア開発と対話の仕組み</a:t>
            </a:r>
          </a:p>
        </p:txBody>
      </p:sp>
      <p:sp>
        <p:nvSpPr>
          <p:cNvPr id="18" name="Rectangle 17"/>
          <p:cNvSpPr/>
          <p:nvPr/>
        </p:nvSpPr>
        <p:spPr>
          <a:xfrm>
            <a:off x="566928" y="4692700"/>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865376" y="4243959"/>
            <a:ext cx="9518904" cy="603504"/>
          </a:xfrm>
          <a:prstGeom prst="rect">
            <a:avLst/>
          </a:prstGeom>
          <a:noFill/>
        </p:spPr>
        <p:txBody>
          <a:bodyPr wrap="square" anchor="t" lIns="0" rIns="0" tIns="0" bIns="0">
            <a:spAutoFit/>
          </a:bodyPr>
          <a:lstStyle/>
          <a:p>
            <a:pPr algn="l">
              <a:lnSpc>
                <a:spcPct val="125000"/>
              </a:lnSpc>
            </a:pPr>
            <a:r>
              <a:rPr sz="1800" b="1">
                <a:solidFill>
                  <a:srgbClr val="144B7F"/>
                </a:solidFill>
                <a:latin typeface="Zen Kaku Gothic Antique"/>
                <a:ea typeface="Zen Kaku Gothic Antique"/>
                <a:cs typeface="Zen Kaku Gothic Antique"/>
              </a:rPr>
              <a:t>④ スモールスタートの具体的な進め方</a:t>
            </a:r>
          </a:p>
        </p:txBody>
      </p:sp>
      <p:sp>
        <p:nvSpPr>
          <p:cNvPr id="20" name="Rectangle 19"/>
          <p:cNvSpPr/>
          <p:nvPr/>
        </p:nvSpPr>
        <p:spPr>
          <a:xfrm>
            <a:off x="566928" y="4700016"/>
            <a:ext cx="11055096" cy="60350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66928" y="5296204"/>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865376" y="4847463"/>
            <a:ext cx="9518904" cy="603504"/>
          </a:xfrm>
          <a:prstGeom prst="rect">
            <a:avLst/>
          </a:prstGeom>
          <a:noFill/>
        </p:spPr>
        <p:txBody>
          <a:bodyPr wrap="square" anchor="t" lIns="0" rIns="0" tIns="0" bIns="0">
            <a:spAutoFit/>
          </a:bodyPr>
          <a:lstStyle/>
          <a:p>
            <a:pPr algn="l">
              <a:lnSpc>
                <a:spcPct val="125000"/>
              </a:lnSpc>
            </a:pPr>
            <a:r>
              <a:rPr sz="1800" b="1">
                <a:solidFill>
                  <a:srgbClr val="144B7F"/>
                </a:solidFill>
                <a:latin typeface="Zen Kaku Gothic Antique"/>
                <a:ea typeface="Zen Kaku Gothic Antique"/>
                <a:cs typeface="Zen Kaku Gothic Antique"/>
              </a:rPr>
              <a:t>⑤ 質疑応答・ネクストアクション</a:t>
            </a:r>
          </a:p>
        </p:txBody>
      </p:sp>
      <p:sp>
        <p:nvSpPr>
          <p:cNvPr id="23" name="TextBox 22"/>
          <p:cNvSpPr txBox="1"/>
          <p:nvPr/>
        </p:nvSpPr>
        <p:spPr>
          <a:xfrm>
            <a:off x="804672" y="5532120"/>
            <a:ext cx="10817352" cy="548640"/>
          </a:xfrm>
          <a:prstGeom prst="rect">
            <a:avLst/>
          </a:prstGeom>
          <a:noFill/>
        </p:spPr>
        <p:txBody>
          <a:bodyPr wrap="square" anchor="t" lIns="0" rIns="0" tIns="0" bIns="0">
            <a:spAutoFit/>
          </a:bodyPr>
          <a:lstStyle/>
          <a:p>
            <a:pPr algn="l">
              <a:lnSpc>
                <a:spcPct val="125000"/>
              </a:lnSpc>
            </a:pPr>
            <a:r>
              <a:rPr sz="2000" b="1">
                <a:solidFill>
                  <a:srgbClr val="144B7F"/>
                </a:solidFill>
                <a:latin typeface="Zen Kaku Gothic Antique"/>
                <a:ea typeface="Zen Kaku Gothic Antique"/>
                <a:cs typeface="Zen Kaku Gothic Antique"/>
              </a:rPr>
              <a:t>最後の10分は、次回日程と現場見学の段取りのご相談に充てさせてください。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886053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Zen Kaku Gothic Antique"/>
                <a:ea typeface="Zen Kaku Gothic Antique"/>
                <a:cs typeface="Zen Kaku Gothic Antique"/>
              </a:rPr>
              <a:t>CURRENT｜御社には、承継したい強みがすでにあります</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Zen Kaku Gothic Antique"/>
                <a:ea typeface="Zen Kaku Gothic Antique"/>
                <a:cs typeface="Zen Kaku Gothic Antique"/>
              </a:rPr>
              <a:t>© Givin' Back Inc. All Rights Reserved.  |  Confidential</a:t>
            </a:r>
          </a:p>
        </p:txBody>
      </p:sp>
      <p:sp>
        <p:nvSpPr>
          <p:cNvPr id="7" name="TextBox 6"/>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Zen Kaku Gothic Antique"/>
                <a:ea typeface="Zen Kaku Gothic Antique"/>
                <a:cs typeface="Zen Kaku Gothic Antique"/>
              </a:rPr>
              <a:t>4</a:t>
            </a:r>
          </a:p>
        </p:txBody>
      </p:sp>
      <p:sp>
        <p:nvSpPr>
          <p:cNvPr id="8" name="TextBox 7"/>
          <p:cNvSpPr txBox="1"/>
          <p:nvPr/>
        </p:nvSpPr>
        <p:spPr>
          <a:xfrm>
            <a:off x="749808" y="1069848"/>
            <a:ext cx="10872216" cy="457200"/>
          </a:xfrm>
          <a:prstGeom prst="rect">
            <a:avLst/>
          </a:prstGeom>
          <a:noFill/>
        </p:spPr>
        <p:txBody>
          <a:bodyPr wrap="square" anchor="t" lIns="0" rIns="0" tIns="0" bIns="0">
            <a:spAutoFit/>
          </a:bodyPr>
          <a:lstStyle/>
          <a:p>
            <a:pPr algn="l">
              <a:lnSpc>
                <a:spcPct val="125000"/>
              </a:lnSpc>
            </a:pPr>
            <a:r>
              <a:rPr sz="2400" b="1">
                <a:solidFill>
                  <a:srgbClr val="144B7F"/>
                </a:solidFill>
                <a:latin typeface="Zen Kaku Gothic Antique"/>
                <a:ea typeface="Zen Kaku Gothic Antique"/>
                <a:cs typeface="Zen Kaku Gothic Antique"/>
              </a:rPr>
              <a:t>ゼロから変えるのではなく、今ある良さを「続く仕組み」にします</a:t>
            </a:r>
          </a:p>
        </p:txBody>
      </p:sp>
      <p:sp>
        <p:nvSpPr>
          <p:cNvPr id="9" name="Rounded Rectangle 8"/>
          <p:cNvSpPr/>
          <p:nvPr/>
        </p:nvSpPr>
        <p:spPr>
          <a:xfrm>
            <a:off x="566928"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1847088"/>
            <a:ext cx="2475738"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1521333" y="2212848"/>
            <a:ext cx="566928" cy="566928"/>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521333"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1</a:t>
            </a:r>
          </a:p>
        </p:txBody>
      </p:sp>
      <p:sp>
        <p:nvSpPr>
          <p:cNvPr id="13" name="TextBox 12"/>
          <p:cNvSpPr txBox="1"/>
          <p:nvPr/>
        </p:nvSpPr>
        <p:spPr>
          <a:xfrm>
            <a:off x="731520"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温かい社風</a:t>
            </a:r>
          </a:p>
        </p:txBody>
      </p:sp>
      <p:sp>
        <p:nvSpPr>
          <p:cNvPr id="14" name="Rectangle 13"/>
          <p:cNvSpPr/>
          <p:nvPr/>
        </p:nvSpPr>
        <p:spPr>
          <a:xfrm>
            <a:off x="1301877"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離職率が低く、退職者が</a:t>
            </a:r>
          </a:p>
          <a:p>
            <a:pPr algn="ctr">
              <a:lnSpc>
                <a:spcPct val="145000"/>
              </a:lnSpc>
            </a:pPr>
            <a:r>
              <a:rPr sz="1400" b="0">
                <a:solidFill>
                  <a:srgbClr val="1E293B"/>
                </a:solidFill>
                <a:latin typeface="Zen Kaku Gothic Antique"/>
                <a:ea typeface="Zen Kaku Gothic Antique"/>
                <a:cs typeface="Zen Kaku Gothic Antique"/>
              </a:rPr>
              <a:t>戻るほどの関係性がある</a:t>
            </a:r>
          </a:p>
        </p:txBody>
      </p:sp>
      <p:sp>
        <p:nvSpPr>
          <p:cNvPr id="16" name="Rounded Rectangle 15"/>
          <p:cNvSpPr/>
          <p:nvPr/>
        </p:nvSpPr>
        <p:spPr>
          <a:xfrm>
            <a:off x="3426714"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426714" y="1847088"/>
            <a:ext cx="2475738"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381119" y="2212848"/>
            <a:ext cx="566928" cy="566928"/>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381119"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2</a:t>
            </a:r>
          </a:p>
        </p:txBody>
      </p:sp>
      <p:sp>
        <p:nvSpPr>
          <p:cNvPr id="20" name="TextBox 19"/>
          <p:cNvSpPr txBox="1"/>
          <p:nvPr/>
        </p:nvSpPr>
        <p:spPr>
          <a:xfrm>
            <a:off x="3591306"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社長の対話</a:t>
            </a:r>
          </a:p>
        </p:txBody>
      </p:sp>
      <p:sp>
        <p:nvSpPr>
          <p:cNvPr id="21" name="Rectangle 20"/>
          <p:cNvSpPr/>
          <p:nvPr/>
        </p:nvSpPr>
        <p:spPr>
          <a:xfrm>
            <a:off x="4161663"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91306"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各拠点へ足を運び、</a:t>
            </a:r>
          </a:p>
          <a:p>
            <a:pPr algn="ctr">
              <a:lnSpc>
                <a:spcPct val="145000"/>
              </a:lnSpc>
            </a:pPr>
            <a:r>
              <a:rPr sz="1400" b="0">
                <a:solidFill>
                  <a:srgbClr val="1E293B"/>
                </a:solidFill>
                <a:latin typeface="Zen Kaku Gothic Antique"/>
                <a:ea typeface="Zen Kaku Gothic Antique"/>
                <a:cs typeface="Zen Kaku Gothic Antique"/>
              </a:rPr>
              <a:t>社員の声を直接聞いている</a:t>
            </a:r>
          </a:p>
        </p:txBody>
      </p:sp>
      <p:sp>
        <p:nvSpPr>
          <p:cNvPr id="23" name="Rounded Rectangle 22"/>
          <p:cNvSpPr/>
          <p:nvPr/>
        </p:nvSpPr>
        <p:spPr>
          <a:xfrm>
            <a:off x="6286500"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86500" y="1847088"/>
            <a:ext cx="2475738"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40905" y="2212848"/>
            <a:ext cx="566928" cy="566928"/>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240905"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3</a:t>
            </a:r>
          </a:p>
        </p:txBody>
      </p:sp>
      <p:sp>
        <p:nvSpPr>
          <p:cNvPr id="27" name="TextBox 26"/>
          <p:cNvSpPr txBox="1"/>
          <p:nvPr/>
        </p:nvSpPr>
        <p:spPr>
          <a:xfrm>
            <a:off x="6451092"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育成の実践</a:t>
            </a:r>
          </a:p>
        </p:txBody>
      </p:sp>
      <p:sp>
        <p:nvSpPr>
          <p:cNvPr id="28" name="Rectangle 27"/>
          <p:cNvSpPr/>
          <p:nvPr/>
        </p:nvSpPr>
        <p:spPr>
          <a:xfrm>
            <a:off x="7021449"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51092"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浦安の指導係など、</a:t>
            </a:r>
          </a:p>
          <a:p>
            <a:pPr algn="ctr">
              <a:lnSpc>
                <a:spcPct val="145000"/>
              </a:lnSpc>
            </a:pPr>
            <a:r>
              <a:rPr sz="1400" b="0">
                <a:solidFill>
                  <a:srgbClr val="1E293B"/>
                </a:solidFill>
                <a:latin typeface="Zen Kaku Gothic Antique"/>
                <a:ea typeface="Zen Kaku Gothic Antique"/>
                <a:cs typeface="Zen Kaku Gothic Antique"/>
              </a:rPr>
              <a:t>育成に注力する動きがある</a:t>
            </a:r>
          </a:p>
        </p:txBody>
      </p:sp>
      <p:sp>
        <p:nvSpPr>
          <p:cNvPr id="30" name="Rounded Rectangle 29"/>
          <p:cNvSpPr/>
          <p:nvPr/>
        </p:nvSpPr>
        <p:spPr>
          <a:xfrm>
            <a:off x="9146286"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146286" y="1847088"/>
            <a:ext cx="2475738"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10100691" y="2212848"/>
            <a:ext cx="566928" cy="566928"/>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100691"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4</a:t>
            </a:r>
          </a:p>
        </p:txBody>
      </p:sp>
      <p:sp>
        <p:nvSpPr>
          <p:cNvPr id="34" name="TextBox 33"/>
          <p:cNvSpPr txBox="1"/>
          <p:nvPr/>
        </p:nvSpPr>
        <p:spPr>
          <a:xfrm>
            <a:off x="9310878"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面談の型</a:t>
            </a:r>
          </a:p>
        </p:txBody>
      </p:sp>
      <p:sp>
        <p:nvSpPr>
          <p:cNvPr id="35" name="Rectangle 34"/>
          <p:cNvSpPr/>
          <p:nvPr/>
        </p:nvSpPr>
        <p:spPr>
          <a:xfrm>
            <a:off x="9881235"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310878"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新人との3カ月面談と</a:t>
            </a:r>
          </a:p>
          <a:p>
            <a:pPr algn="ctr">
              <a:lnSpc>
                <a:spcPct val="145000"/>
              </a:lnSpc>
            </a:pPr>
            <a:r>
              <a:rPr sz="1400" b="0">
                <a:solidFill>
                  <a:srgbClr val="1E293B"/>
                </a:solidFill>
                <a:latin typeface="Zen Kaku Gothic Antique"/>
                <a:ea typeface="Zen Kaku Gothic Antique"/>
                <a:cs typeface="Zen Kaku Gothic Antique"/>
              </a:rPr>
              <a:t>記録・共有がすでにある</a:t>
            </a:r>
          </a:p>
        </p:txBody>
      </p:sp>
      <p:sp>
        <p:nvSpPr>
          <p:cNvPr id="37" name="TextBox 36"/>
          <p:cNvSpPr txBox="1"/>
          <p:nvPr/>
        </p:nvSpPr>
        <p:spPr>
          <a:xfrm>
            <a:off x="804672" y="5230368"/>
            <a:ext cx="10817352" cy="548640"/>
          </a:xfrm>
          <a:prstGeom prst="rect">
            <a:avLst/>
          </a:prstGeom>
          <a:noFill/>
        </p:spPr>
        <p:txBody>
          <a:bodyPr wrap="square" anchor="t" lIns="0" rIns="0" tIns="0" bIns="0">
            <a:spAutoFit/>
          </a:bodyPr>
          <a:lstStyle/>
          <a:p>
            <a:pPr algn="l">
              <a:lnSpc>
                <a:spcPct val="125000"/>
              </a:lnSpc>
            </a:pPr>
            <a:r>
              <a:rPr sz="2200" b="1">
                <a:solidFill>
                  <a:srgbClr val="144B7F"/>
                </a:solidFill>
                <a:latin typeface="Zen Kaku Gothic Antique"/>
                <a:ea typeface="Zen Kaku Gothic Antique"/>
                <a:cs typeface="Zen Kaku Gothic Antique"/>
              </a:rPr>
              <a:t>次のテーマは、一部の方の力に頼る対話を、各拠点で続く土台へ広げること。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886053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Zen Kaku Gothic Antique"/>
                <a:ea typeface="Zen Kaku Gothic Antique"/>
                <a:cs typeface="Zen Kaku Gothic Antique"/>
              </a:rPr>
              <a:t>DATA｜若手が行動に移れない背景</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Zen Kaku Gothic Antique"/>
                <a:ea typeface="Zen Kaku Gothic Antique"/>
                <a:cs typeface="Zen Kaku Gothic Antique"/>
              </a:rPr>
              <a:t>© Givin' Back Inc. All Rights Reserved.  |  Confidential</a:t>
            </a:r>
          </a:p>
        </p:txBody>
      </p:sp>
      <p:sp>
        <p:nvSpPr>
          <p:cNvPr id="7" name="TextBox 6"/>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Zen Kaku Gothic Antique"/>
                <a:ea typeface="Zen Kaku Gothic Antique"/>
                <a:cs typeface="Zen Kaku Gothic Antique"/>
              </a:rPr>
              <a:t>5</a:t>
            </a:r>
          </a:p>
        </p:txBody>
      </p:sp>
      <p:sp>
        <p:nvSpPr>
          <p:cNvPr id="8" name="TextBox 7"/>
          <p:cNvSpPr txBox="1"/>
          <p:nvPr/>
        </p:nvSpPr>
        <p:spPr>
          <a:xfrm>
            <a:off x="749808" y="1069848"/>
            <a:ext cx="10872216" cy="457200"/>
          </a:xfrm>
          <a:prstGeom prst="rect">
            <a:avLst/>
          </a:prstGeom>
          <a:noFill/>
        </p:spPr>
        <p:txBody>
          <a:bodyPr wrap="square" anchor="t" lIns="0" rIns="0" tIns="0" bIns="0">
            <a:spAutoFit/>
          </a:bodyPr>
          <a:lstStyle/>
          <a:p>
            <a:pPr algn="l">
              <a:lnSpc>
                <a:spcPct val="125000"/>
              </a:lnSpc>
            </a:pPr>
            <a:r>
              <a:rPr sz="2400" b="1">
                <a:solidFill>
                  <a:srgbClr val="144B7F"/>
                </a:solidFill>
                <a:latin typeface="Zen Kaku Gothic Antique"/>
                <a:ea typeface="Zen Kaku Gothic Antique"/>
                <a:cs typeface="Zen Kaku Gothic Antique"/>
              </a:rPr>
              <a:t>若手は「協働できるが、意思を行動に変えにくい」</a:t>
            </a:r>
          </a:p>
        </p:txBody>
      </p:sp>
      <p:sp>
        <p:nvSpPr>
          <p:cNvPr id="9" name="Rounded Rectangle 8"/>
          <p:cNvSpPr/>
          <p:nvPr/>
        </p:nvSpPr>
        <p:spPr>
          <a:xfrm>
            <a:off x="566928" y="1737360"/>
            <a:ext cx="6144768" cy="329184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1248" y="1975104"/>
            <a:ext cx="5596128" cy="36576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78992" y="2020824"/>
            <a:ext cx="5120640" cy="365760"/>
          </a:xfrm>
          <a:prstGeom prst="rect">
            <a:avLst/>
          </a:prstGeom>
          <a:noFill/>
        </p:spPr>
        <p:txBody>
          <a:bodyPr wrap="square" anchor="t" lIns="0" rIns="0" tIns="0" bIns="0">
            <a:spAutoFit/>
          </a:bodyPr>
          <a:lstStyle/>
          <a:p>
            <a:pPr algn="l">
              <a:lnSpc>
                <a:spcPct val="125000"/>
              </a:lnSpc>
            </a:pPr>
            <a:r>
              <a:rPr sz="1600" b="1">
                <a:solidFill>
                  <a:srgbClr val="FFFFFF"/>
                </a:solidFill>
                <a:latin typeface="Zen Kaku Gothic Antique"/>
                <a:ea typeface="Zen Kaku Gothic Antique"/>
                <a:cs typeface="Zen Kaku Gothic Antique"/>
              </a:rPr>
              <a:t>行動・キャリアに関する傾向（10点満点）</a:t>
            </a:r>
          </a:p>
        </p:txBody>
      </p:sp>
      <p:sp>
        <p:nvSpPr>
          <p:cNvPr id="12" name="Rounded Rectangle 11"/>
          <p:cNvSpPr/>
          <p:nvPr/>
        </p:nvSpPr>
        <p:spPr>
          <a:xfrm>
            <a:off x="841248" y="2578608"/>
            <a:ext cx="5596128" cy="694944"/>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60704" y="2788920"/>
            <a:ext cx="3108960" cy="292608"/>
          </a:xfrm>
          <a:prstGeom prst="rect">
            <a:avLst/>
          </a:prstGeom>
          <a:noFill/>
        </p:spPr>
        <p:txBody>
          <a:bodyPr wrap="square" anchor="t" lIns="0" rIns="0" tIns="0" bIns="0">
            <a:spAutoFit/>
          </a:bodyPr>
          <a:lstStyle/>
          <a:p>
            <a:pPr algn="l">
              <a:lnSpc>
                <a:spcPct val="125000"/>
              </a:lnSpc>
            </a:pPr>
            <a:r>
              <a:rPr sz="1650" b="0">
                <a:solidFill>
                  <a:srgbClr val="1E293B"/>
                </a:solidFill>
                <a:latin typeface="Zen Kaku Gothic Antique"/>
                <a:ea typeface="Zen Kaku Gothic Antique"/>
                <a:cs typeface="Zen Kaku Gothic Antique"/>
              </a:rPr>
              <a:t>周囲と協力できる</a:t>
            </a:r>
          </a:p>
        </p:txBody>
      </p:sp>
      <p:sp>
        <p:nvSpPr>
          <p:cNvPr id="14" name="TextBox 13"/>
          <p:cNvSpPr txBox="1"/>
          <p:nvPr/>
        </p:nvSpPr>
        <p:spPr>
          <a:xfrm>
            <a:off x="4754880" y="2670048"/>
            <a:ext cx="1188720" cy="457200"/>
          </a:xfrm>
          <a:prstGeom prst="rect">
            <a:avLst/>
          </a:prstGeom>
          <a:noFill/>
        </p:spPr>
        <p:txBody>
          <a:bodyPr wrap="square" anchor="t" lIns="0" rIns="0" tIns="0" bIns="0">
            <a:spAutoFit/>
          </a:bodyPr>
          <a:lstStyle/>
          <a:p>
            <a:pPr algn="r">
              <a:lnSpc>
                <a:spcPct val="125000"/>
              </a:lnSpc>
            </a:pPr>
            <a:r>
              <a:rPr sz="2570" b="1">
                <a:solidFill>
                  <a:srgbClr val="144B7F"/>
                </a:solidFill>
                <a:latin typeface="Zen Kaku Gothic Antique"/>
                <a:ea typeface="Zen Kaku Gothic Antique"/>
                <a:cs typeface="Zen Kaku Gothic Antique"/>
              </a:rPr>
              <a:t>8.02</a:t>
            </a:r>
          </a:p>
        </p:txBody>
      </p:sp>
      <p:sp>
        <p:nvSpPr>
          <p:cNvPr id="15" name="TextBox 14"/>
          <p:cNvSpPr txBox="1"/>
          <p:nvPr/>
        </p:nvSpPr>
        <p:spPr>
          <a:xfrm>
            <a:off x="6016752" y="2825496"/>
            <a:ext cx="548640" cy="256032"/>
          </a:xfrm>
          <a:prstGeom prst="rect">
            <a:avLst/>
          </a:prstGeom>
          <a:noFill/>
        </p:spPr>
        <p:txBody>
          <a:bodyPr wrap="square" anchor="t" lIns="0" rIns="0" tIns="0" bIns="0">
            <a:spAutoFit/>
          </a:bodyPr>
          <a:lstStyle/>
          <a:p>
            <a:pPr algn="l">
              <a:lnSpc>
                <a:spcPct val="125000"/>
              </a:lnSpc>
            </a:pPr>
            <a:r>
              <a:rPr sz="1200" b="0">
                <a:solidFill>
                  <a:srgbClr val="6B7787"/>
                </a:solidFill>
                <a:latin typeface="Zen Kaku Gothic Antique"/>
                <a:ea typeface="Zen Kaku Gothic Antique"/>
                <a:cs typeface="Zen Kaku Gothic Antique"/>
              </a:rPr>
              <a:t>／10</a:t>
            </a:r>
          </a:p>
        </p:txBody>
      </p:sp>
      <p:sp>
        <p:nvSpPr>
          <p:cNvPr id="16" name="Rounded Rectangle 15"/>
          <p:cNvSpPr/>
          <p:nvPr/>
        </p:nvSpPr>
        <p:spPr>
          <a:xfrm>
            <a:off x="841248" y="3419856"/>
            <a:ext cx="5596128" cy="694944"/>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60704" y="3630168"/>
            <a:ext cx="3108960" cy="292608"/>
          </a:xfrm>
          <a:prstGeom prst="rect">
            <a:avLst/>
          </a:prstGeom>
          <a:noFill/>
        </p:spPr>
        <p:txBody>
          <a:bodyPr wrap="square" anchor="t" lIns="0" rIns="0" tIns="0" bIns="0">
            <a:spAutoFit/>
          </a:bodyPr>
          <a:lstStyle/>
          <a:p>
            <a:pPr algn="l">
              <a:lnSpc>
                <a:spcPct val="125000"/>
              </a:lnSpc>
            </a:pPr>
            <a:r>
              <a:rPr sz="1650" b="0">
                <a:solidFill>
                  <a:srgbClr val="1E293B"/>
                </a:solidFill>
                <a:latin typeface="Zen Kaku Gothic Antique"/>
                <a:ea typeface="Zen Kaku Gothic Antique"/>
                <a:cs typeface="Zen Kaku Gothic Antique"/>
              </a:rPr>
              <a:t>率先して提案できる</a:t>
            </a:r>
          </a:p>
        </p:txBody>
      </p:sp>
      <p:sp>
        <p:nvSpPr>
          <p:cNvPr id="18" name="TextBox 17"/>
          <p:cNvSpPr txBox="1"/>
          <p:nvPr/>
        </p:nvSpPr>
        <p:spPr>
          <a:xfrm>
            <a:off x="4754880" y="3511296"/>
            <a:ext cx="1188720" cy="457200"/>
          </a:xfrm>
          <a:prstGeom prst="rect">
            <a:avLst/>
          </a:prstGeom>
          <a:noFill/>
        </p:spPr>
        <p:txBody>
          <a:bodyPr wrap="square" anchor="t" lIns="0" rIns="0" tIns="0" bIns="0">
            <a:spAutoFit/>
          </a:bodyPr>
          <a:lstStyle/>
          <a:p>
            <a:pPr algn="r">
              <a:lnSpc>
                <a:spcPct val="125000"/>
              </a:lnSpc>
            </a:pPr>
            <a:r>
              <a:rPr sz="2570" b="1">
                <a:solidFill>
                  <a:srgbClr val="F96167"/>
                </a:solidFill>
                <a:latin typeface="Zen Kaku Gothic Antique"/>
                <a:ea typeface="Zen Kaku Gothic Antique"/>
                <a:cs typeface="Zen Kaku Gothic Antique"/>
              </a:rPr>
              <a:t>5.38</a:t>
            </a:r>
          </a:p>
        </p:txBody>
      </p:sp>
      <p:sp>
        <p:nvSpPr>
          <p:cNvPr id="19" name="TextBox 18"/>
          <p:cNvSpPr txBox="1"/>
          <p:nvPr/>
        </p:nvSpPr>
        <p:spPr>
          <a:xfrm>
            <a:off x="6016752" y="3666744"/>
            <a:ext cx="548640" cy="256032"/>
          </a:xfrm>
          <a:prstGeom prst="rect">
            <a:avLst/>
          </a:prstGeom>
          <a:noFill/>
        </p:spPr>
        <p:txBody>
          <a:bodyPr wrap="square" anchor="t" lIns="0" rIns="0" tIns="0" bIns="0">
            <a:spAutoFit/>
          </a:bodyPr>
          <a:lstStyle/>
          <a:p>
            <a:pPr algn="l">
              <a:lnSpc>
                <a:spcPct val="125000"/>
              </a:lnSpc>
            </a:pPr>
            <a:r>
              <a:rPr sz="1200" b="0">
                <a:solidFill>
                  <a:srgbClr val="6B7787"/>
                </a:solidFill>
                <a:latin typeface="Zen Kaku Gothic Antique"/>
                <a:ea typeface="Zen Kaku Gothic Antique"/>
                <a:cs typeface="Zen Kaku Gothic Antique"/>
              </a:rPr>
              <a:t>／10</a:t>
            </a:r>
          </a:p>
        </p:txBody>
      </p:sp>
      <p:sp>
        <p:nvSpPr>
          <p:cNvPr id="20" name="TextBox 19"/>
          <p:cNvSpPr txBox="1"/>
          <p:nvPr/>
        </p:nvSpPr>
        <p:spPr>
          <a:xfrm>
            <a:off x="859536" y="4315968"/>
            <a:ext cx="237744" cy="274320"/>
          </a:xfrm>
          <a:prstGeom prst="rect">
            <a:avLst/>
          </a:prstGeom>
          <a:noFill/>
        </p:spPr>
        <p:txBody>
          <a:bodyPr wrap="square" anchor="t" lIns="0" rIns="0" tIns="0" bIns="0">
            <a:spAutoFit/>
          </a:bodyPr>
          <a:lstStyle/>
          <a:p>
            <a:pPr algn="l">
              <a:lnSpc>
                <a:spcPct val="125000"/>
              </a:lnSpc>
            </a:pPr>
            <a:r>
              <a:rPr sz="1150" b="1">
                <a:solidFill>
                  <a:srgbClr val="F96167"/>
                </a:solidFill>
                <a:latin typeface="Zen Kaku Gothic Antique"/>
                <a:ea typeface="Zen Kaku Gothic Antique"/>
                <a:cs typeface="Zen Kaku Gothic Antique"/>
              </a:rPr>
              <a:t>✓</a:t>
            </a:r>
          </a:p>
        </p:txBody>
      </p:sp>
      <p:sp>
        <p:nvSpPr>
          <p:cNvPr id="21" name="TextBox 20"/>
          <p:cNvSpPr txBox="1"/>
          <p:nvPr/>
        </p:nvSpPr>
        <p:spPr>
          <a:xfrm>
            <a:off x="1097280" y="4288536"/>
            <a:ext cx="5321808" cy="292608"/>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協力8点以上・提案5点以下が 38.8%</a:t>
            </a:r>
          </a:p>
        </p:txBody>
      </p:sp>
      <p:sp>
        <p:nvSpPr>
          <p:cNvPr id="22" name="Rectangle 21"/>
          <p:cNvSpPr/>
          <p:nvPr/>
        </p:nvSpPr>
        <p:spPr>
          <a:xfrm>
            <a:off x="7223760" y="1975104"/>
            <a:ext cx="4123944" cy="36576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461504" y="2020824"/>
            <a:ext cx="3648456" cy="365760"/>
          </a:xfrm>
          <a:prstGeom prst="rect">
            <a:avLst/>
          </a:prstGeom>
          <a:noFill/>
        </p:spPr>
        <p:txBody>
          <a:bodyPr wrap="square" anchor="t" lIns="0" rIns="0" tIns="0" bIns="0">
            <a:spAutoFit/>
          </a:bodyPr>
          <a:lstStyle/>
          <a:p>
            <a:pPr algn="l">
              <a:lnSpc>
                <a:spcPct val="125000"/>
              </a:lnSpc>
            </a:pPr>
            <a:r>
              <a:rPr sz="1600" b="1">
                <a:solidFill>
                  <a:srgbClr val="FFFFFF"/>
                </a:solidFill>
                <a:latin typeface="Zen Kaku Gothic Antique"/>
                <a:ea typeface="Zen Kaku Gothic Antique"/>
                <a:cs typeface="Zen Kaku Gothic Antique"/>
              </a:rPr>
              <a:t>若手の悩み上位（複数回答）</a:t>
            </a:r>
          </a:p>
        </p:txBody>
      </p:sp>
      <p:sp>
        <p:nvSpPr>
          <p:cNvPr id="24" name="TextBox 23"/>
          <p:cNvSpPr txBox="1"/>
          <p:nvPr/>
        </p:nvSpPr>
        <p:spPr>
          <a:xfrm>
            <a:off x="7242048" y="2633472"/>
            <a:ext cx="2148840" cy="274320"/>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やりたいことが見えない</a:t>
            </a:r>
          </a:p>
        </p:txBody>
      </p:sp>
      <p:sp>
        <p:nvSpPr>
          <p:cNvPr id="25" name="Rectangle 24"/>
          <p:cNvSpPr/>
          <p:nvPr/>
        </p:nvSpPr>
        <p:spPr>
          <a:xfrm>
            <a:off x="9482328" y="2660903"/>
            <a:ext cx="1097279" cy="219456"/>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9482328" y="2660903"/>
            <a:ext cx="1006754" cy="21945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671048" y="2642615"/>
            <a:ext cx="658368" cy="256032"/>
          </a:xfrm>
          <a:prstGeom prst="rect">
            <a:avLst/>
          </a:prstGeom>
          <a:noFill/>
        </p:spPr>
        <p:txBody>
          <a:bodyPr wrap="square" anchor="t" lIns="0" rIns="0" tIns="0" bIns="0">
            <a:spAutoFit/>
          </a:bodyPr>
          <a:lstStyle/>
          <a:p>
            <a:pPr algn="l">
              <a:lnSpc>
                <a:spcPct val="125000"/>
              </a:lnSpc>
            </a:pPr>
            <a:r>
              <a:rPr sz="1400" b="1">
                <a:solidFill>
                  <a:srgbClr val="144B7F"/>
                </a:solidFill>
                <a:latin typeface="Zen Kaku Gothic Antique"/>
                <a:ea typeface="Zen Kaku Gothic Antique"/>
                <a:cs typeface="Zen Kaku Gothic Antique"/>
              </a:rPr>
              <a:t>36.7%</a:t>
            </a:r>
          </a:p>
        </p:txBody>
      </p:sp>
      <p:sp>
        <p:nvSpPr>
          <p:cNvPr id="28" name="TextBox 27"/>
          <p:cNvSpPr txBox="1"/>
          <p:nvPr/>
        </p:nvSpPr>
        <p:spPr>
          <a:xfrm>
            <a:off x="7242048" y="3182112"/>
            <a:ext cx="2148840" cy="274320"/>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強みの活かし方が不明</a:t>
            </a:r>
          </a:p>
        </p:txBody>
      </p:sp>
      <p:sp>
        <p:nvSpPr>
          <p:cNvPr id="29" name="Rectangle 28"/>
          <p:cNvSpPr/>
          <p:nvPr/>
        </p:nvSpPr>
        <p:spPr>
          <a:xfrm>
            <a:off x="9482328" y="3209544"/>
            <a:ext cx="1097279" cy="219456"/>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482328" y="3209544"/>
            <a:ext cx="951890" cy="21945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0671048" y="3191256"/>
            <a:ext cx="658368" cy="256032"/>
          </a:xfrm>
          <a:prstGeom prst="rect">
            <a:avLst/>
          </a:prstGeom>
          <a:noFill/>
        </p:spPr>
        <p:txBody>
          <a:bodyPr wrap="square" anchor="t" lIns="0" rIns="0" tIns="0" bIns="0">
            <a:spAutoFit/>
          </a:bodyPr>
          <a:lstStyle/>
          <a:p>
            <a:pPr algn="l">
              <a:lnSpc>
                <a:spcPct val="125000"/>
              </a:lnSpc>
            </a:pPr>
            <a:r>
              <a:rPr sz="1400" b="1">
                <a:solidFill>
                  <a:srgbClr val="144B7F"/>
                </a:solidFill>
                <a:latin typeface="Zen Kaku Gothic Antique"/>
                <a:ea typeface="Zen Kaku Gothic Antique"/>
                <a:cs typeface="Zen Kaku Gothic Antique"/>
              </a:rPr>
              <a:t>34.7%</a:t>
            </a:r>
          </a:p>
        </p:txBody>
      </p:sp>
      <p:sp>
        <p:nvSpPr>
          <p:cNvPr id="32" name="TextBox 31"/>
          <p:cNvSpPr txBox="1"/>
          <p:nvPr/>
        </p:nvSpPr>
        <p:spPr>
          <a:xfrm>
            <a:off x="7242048" y="3767328"/>
            <a:ext cx="4087368" cy="731520"/>
          </a:xfrm>
          <a:prstGeom prst="rect">
            <a:avLst/>
          </a:prstGeom>
          <a:noFill/>
        </p:spPr>
        <p:txBody>
          <a:bodyPr wrap="square" anchor="t" lIns="0" rIns="0" tIns="0" bIns="0">
            <a:spAutoFit/>
          </a:bodyPr>
          <a:lstStyle/>
          <a:p>
            <a:pPr algn="l">
              <a:lnSpc>
                <a:spcPct val="145000"/>
              </a:lnSpc>
            </a:pPr>
            <a:r>
              <a:rPr sz="1400" b="0">
                <a:solidFill>
                  <a:srgbClr val="1E293B"/>
                </a:solidFill>
                <a:latin typeface="Zen Kaku Gothic Antique"/>
                <a:ea typeface="Zen Kaku Gothic Antique"/>
                <a:cs typeface="Zen Kaku Gothic Antique"/>
              </a:rPr>
              <a:t>方向性と強みの活かし方という、</a:t>
            </a:r>
          </a:p>
          <a:p>
            <a:pPr algn="l">
              <a:lnSpc>
                <a:spcPct val="145000"/>
              </a:lnSpc>
            </a:pPr>
            <a:r>
              <a:rPr sz="1400" b="0">
                <a:solidFill>
                  <a:srgbClr val="1E293B"/>
                </a:solidFill>
                <a:latin typeface="Zen Kaku Gothic Antique"/>
                <a:ea typeface="Zen Kaku Gothic Antique"/>
                <a:cs typeface="Zen Kaku Gothic Antique"/>
              </a:rPr>
              <a:t>入口の2つに悩みが集中しています。</a:t>
            </a:r>
          </a:p>
        </p:txBody>
      </p:sp>
      <p:sp>
        <p:nvSpPr>
          <p:cNvPr id="33" name="TextBox 32"/>
          <p:cNvSpPr txBox="1"/>
          <p:nvPr/>
        </p:nvSpPr>
        <p:spPr>
          <a:xfrm>
            <a:off x="566928" y="5138928"/>
            <a:ext cx="11055096" cy="237744"/>
          </a:xfrm>
          <a:prstGeom prst="rect">
            <a:avLst/>
          </a:prstGeom>
          <a:noFill/>
        </p:spPr>
        <p:txBody>
          <a:bodyPr wrap="square" anchor="t" lIns="0" rIns="0" tIns="0" bIns="0">
            <a:spAutoFit/>
          </a:bodyPr>
          <a:lstStyle/>
          <a:p>
            <a:pPr algn="l">
              <a:lnSpc>
                <a:spcPct val="125000"/>
              </a:lnSpc>
            </a:pPr>
            <a:r>
              <a:rPr sz="1100" b="0">
                <a:solidFill>
                  <a:srgbClr val="939EAC"/>
                </a:solidFill>
                <a:latin typeface="Zen Kaku Gothic Antique"/>
                <a:ea typeface="Zen Kaku Gothic Antique"/>
                <a:cs typeface="Zen Kaku Gothic Antique"/>
              </a:rPr>
              <a:t>出典：Givin' Back キャリア開発研修 受講前アンケート（複数企業・98回答）</a:t>
            </a:r>
          </a:p>
        </p:txBody>
      </p:sp>
      <p:sp>
        <p:nvSpPr>
          <p:cNvPr id="34" name="TextBox 33"/>
          <p:cNvSpPr txBox="1"/>
          <p:nvPr/>
        </p:nvSpPr>
        <p:spPr>
          <a:xfrm>
            <a:off x="804672" y="5577840"/>
            <a:ext cx="10817352" cy="548640"/>
          </a:xfrm>
          <a:prstGeom prst="rect">
            <a:avLst/>
          </a:prstGeom>
          <a:noFill/>
        </p:spPr>
        <p:txBody>
          <a:bodyPr wrap="square" anchor="t" lIns="0" rIns="0" tIns="0" bIns="0">
            <a:spAutoFit/>
          </a:bodyPr>
          <a:lstStyle/>
          <a:p>
            <a:pPr algn="l">
              <a:lnSpc>
                <a:spcPct val="125000"/>
              </a:lnSpc>
            </a:pPr>
            <a:r>
              <a:rPr sz="2000" b="1">
                <a:solidFill>
                  <a:srgbClr val="144B7F"/>
                </a:solidFill>
                <a:latin typeface="Zen Kaku Gothic Antique"/>
                <a:ea typeface="Zen Kaku Gothic Antique"/>
                <a:cs typeface="Zen Kaku Gothic Antique"/>
              </a:rPr>
              <a:t>主体性の不足ではなく、方向性を言葉にし、仕事で試す方法が見えていない可能性があります。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886053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Zen Kaku Gothic Antique"/>
                <a:ea typeface="Zen Kaku Gothic Antique"/>
                <a:cs typeface="Zen Kaku Gothic Antique"/>
              </a:rPr>
              <a:t>IMPLICATION｜採用力は、入社後の「成長の見通し」で差がつきます</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Zen Kaku Gothic Antique"/>
                <a:ea typeface="Zen Kaku Gothic Antique"/>
                <a:cs typeface="Zen Kaku Gothic Antique"/>
              </a:rPr>
              <a:t>© Givin' Back Inc. All Rights Reserved.  |  Confidential</a:t>
            </a:r>
          </a:p>
        </p:txBody>
      </p:sp>
      <p:sp>
        <p:nvSpPr>
          <p:cNvPr id="7" name="TextBox 6"/>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Zen Kaku Gothic Antique"/>
                <a:ea typeface="Zen Kaku Gothic Antique"/>
                <a:cs typeface="Zen Kaku Gothic Antique"/>
              </a:rPr>
              <a:t>6</a:t>
            </a:r>
          </a:p>
        </p:txBody>
      </p:sp>
      <p:sp>
        <p:nvSpPr>
          <p:cNvPr id="8" name="TextBox 7"/>
          <p:cNvSpPr txBox="1"/>
          <p:nvPr/>
        </p:nvSpPr>
        <p:spPr>
          <a:xfrm>
            <a:off x="749808" y="1069848"/>
            <a:ext cx="10872216" cy="457200"/>
          </a:xfrm>
          <a:prstGeom prst="rect">
            <a:avLst/>
          </a:prstGeom>
          <a:noFill/>
        </p:spPr>
        <p:txBody>
          <a:bodyPr wrap="square" anchor="t" lIns="0" rIns="0" tIns="0" bIns="0">
            <a:spAutoFit/>
          </a:bodyPr>
          <a:lstStyle/>
          <a:p>
            <a:pPr algn="l">
              <a:lnSpc>
                <a:spcPct val="125000"/>
              </a:lnSpc>
            </a:pPr>
            <a:r>
              <a:rPr sz="2400" b="1">
                <a:solidFill>
                  <a:srgbClr val="144B7F"/>
                </a:solidFill>
                <a:latin typeface="Zen Kaku Gothic Antique"/>
                <a:ea typeface="Zen Kaku Gothic Antique"/>
                <a:cs typeface="Zen Kaku Gothic Antique"/>
              </a:rPr>
              <a:t>採用競争が強まるほど、育成環境そのものが選ばれる理由になります</a:t>
            </a:r>
          </a:p>
        </p:txBody>
      </p:sp>
      <p:sp>
        <p:nvSpPr>
          <p:cNvPr id="9" name="Rounded Rectangle 8"/>
          <p:cNvSpPr/>
          <p:nvPr/>
        </p:nvSpPr>
        <p:spPr>
          <a:xfrm>
            <a:off x="566928" y="1847088"/>
            <a:ext cx="3410712" cy="2596896"/>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1847088"/>
            <a:ext cx="3410712"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2029968"/>
            <a:ext cx="2935224" cy="256032"/>
          </a:xfrm>
          <a:prstGeom prst="rect">
            <a:avLst/>
          </a:prstGeom>
          <a:noFill/>
        </p:spPr>
        <p:txBody>
          <a:bodyPr wrap="square" anchor="t" lIns="0" rIns="0" tIns="0" bIns="0">
            <a:spAutoFit/>
          </a:bodyPr>
          <a:lstStyle/>
          <a:p>
            <a:pPr algn="l">
              <a:lnSpc>
                <a:spcPct val="125000"/>
              </a:lnSpc>
            </a:pPr>
            <a:r>
              <a:rPr sz="1700" b="1">
                <a:solidFill>
                  <a:srgbClr val="144B7F"/>
                </a:solidFill>
                <a:latin typeface="Zen Kaku Gothic Antique"/>
                <a:ea typeface="Zen Kaku Gothic Antique"/>
                <a:cs typeface="Zen Kaku Gothic Antique"/>
              </a:rPr>
              <a:t>POINT 1</a:t>
            </a:r>
          </a:p>
        </p:txBody>
      </p:sp>
      <p:sp>
        <p:nvSpPr>
          <p:cNvPr id="12" name="TextBox 11"/>
          <p:cNvSpPr txBox="1"/>
          <p:nvPr/>
        </p:nvSpPr>
        <p:spPr>
          <a:xfrm>
            <a:off x="804672" y="2395728"/>
            <a:ext cx="2935224" cy="365760"/>
          </a:xfrm>
          <a:prstGeom prst="rect">
            <a:avLst/>
          </a:prstGeom>
          <a:noFill/>
        </p:spPr>
        <p:txBody>
          <a:bodyPr wrap="square" anchor="t" lIns="0" rIns="0" tIns="0" bIns="0">
            <a:spAutoFit/>
          </a:bodyPr>
          <a:lstStyle/>
          <a:p>
            <a:pPr algn="l">
              <a:lnSpc>
                <a:spcPct val="125000"/>
              </a:lnSpc>
            </a:pPr>
            <a:r>
              <a:rPr sz="2300" b="1">
                <a:solidFill>
                  <a:srgbClr val="144B7F"/>
                </a:solidFill>
                <a:latin typeface="Zen Kaku Gothic Antique"/>
                <a:ea typeface="Zen Kaku Gothic Antique"/>
                <a:cs typeface="Zen Kaku Gothic Antique"/>
              </a:rPr>
              <a:t>キャリアの見通し</a:t>
            </a:r>
          </a:p>
        </p:txBody>
      </p:sp>
      <p:sp>
        <p:nvSpPr>
          <p:cNvPr id="13" name="Rectangle 12"/>
          <p:cNvSpPr/>
          <p:nvPr/>
        </p:nvSpPr>
        <p:spPr>
          <a:xfrm>
            <a:off x="804672" y="2926080"/>
            <a:ext cx="293522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2" y="3127248"/>
            <a:ext cx="2935224" cy="1005840"/>
          </a:xfrm>
          <a:prstGeom prst="rect">
            <a:avLst/>
          </a:prstGeom>
          <a:noFill/>
        </p:spPr>
        <p:txBody>
          <a:bodyPr wrap="square" anchor="t" lIns="0" rIns="0" tIns="0" bIns="0">
            <a:spAutoFit/>
          </a:bodyPr>
          <a:lstStyle/>
          <a:p>
            <a:pPr algn="l">
              <a:lnSpc>
                <a:spcPct val="145000"/>
              </a:lnSpc>
            </a:pPr>
            <a:r>
              <a:rPr sz="1400" b="0">
                <a:solidFill>
                  <a:srgbClr val="1E293B"/>
                </a:solidFill>
                <a:latin typeface="Zen Kaku Gothic Antique"/>
                <a:ea typeface="Zen Kaku Gothic Antique"/>
                <a:cs typeface="Zen Kaku Gothic Antique"/>
              </a:rPr>
              <a:t>入社後の役割や成長を、</a:t>
            </a:r>
          </a:p>
          <a:p>
            <a:pPr algn="l">
              <a:lnSpc>
                <a:spcPct val="145000"/>
              </a:lnSpc>
            </a:pPr>
            <a:r>
              <a:rPr sz="1400" b="0">
                <a:solidFill>
                  <a:srgbClr val="1E293B"/>
                </a:solidFill>
                <a:latin typeface="Zen Kaku Gothic Antique"/>
                <a:ea typeface="Zen Kaku Gothic Antique"/>
                <a:cs typeface="Zen Kaku Gothic Antique"/>
              </a:rPr>
              <a:t>本人が具体的に描ける</a:t>
            </a:r>
          </a:p>
        </p:txBody>
      </p:sp>
      <p:sp>
        <p:nvSpPr>
          <p:cNvPr id="15" name="Rounded Rectangle 14"/>
          <p:cNvSpPr/>
          <p:nvPr/>
        </p:nvSpPr>
        <p:spPr>
          <a:xfrm>
            <a:off x="4389120" y="1847088"/>
            <a:ext cx="3410712" cy="2596896"/>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389120" y="1847088"/>
            <a:ext cx="3410712"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626864" y="2029968"/>
            <a:ext cx="2935224" cy="256032"/>
          </a:xfrm>
          <a:prstGeom prst="rect">
            <a:avLst/>
          </a:prstGeom>
          <a:noFill/>
        </p:spPr>
        <p:txBody>
          <a:bodyPr wrap="square" anchor="t" lIns="0" rIns="0" tIns="0" bIns="0">
            <a:spAutoFit/>
          </a:bodyPr>
          <a:lstStyle/>
          <a:p>
            <a:pPr algn="l">
              <a:lnSpc>
                <a:spcPct val="125000"/>
              </a:lnSpc>
            </a:pPr>
            <a:r>
              <a:rPr sz="1700" b="1">
                <a:solidFill>
                  <a:srgbClr val="144B7F"/>
                </a:solidFill>
                <a:latin typeface="Zen Kaku Gothic Antique"/>
                <a:ea typeface="Zen Kaku Gothic Antique"/>
                <a:cs typeface="Zen Kaku Gothic Antique"/>
              </a:rPr>
              <a:t>POINT 2</a:t>
            </a:r>
          </a:p>
        </p:txBody>
      </p:sp>
      <p:sp>
        <p:nvSpPr>
          <p:cNvPr id="18" name="TextBox 17"/>
          <p:cNvSpPr txBox="1"/>
          <p:nvPr/>
        </p:nvSpPr>
        <p:spPr>
          <a:xfrm>
            <a:off x="4626864" y="2395728"/>
            <a:ext cx="2935224" cy="365760"/>
          </a:xfrm>
          <a:prstGeom prst="rect">
            <a:avLst/>
          </a:prstGeom>
          <a:noFill/>
        </p:spPr>
        <p:txBody>
          <a:bodyPr wrap="square" anchor="t" lIns="0" rIns="0" tIns="0" bIns="0">
            <a:spAutoFit/>
          </a:bodyPr>
          <a:lstStyle/>
          <a:p>
            <a:pPr algn="l">
              <a:lnSpc>
                <a:spcPct val="125000"/>
              </a:lnSpc>
            </a:pPr>
            <a:r>
              <a:rPr sz="2300" b="1">
                <a:solidFill>
                  <a:srgbClr val="144B7F"/>
                </a:solidFill>
                <a:latin typeface="Zen Kaku Gothic Antique"/>
                <a:ea typeface="Zen Kaku Gothic Antique"/>
                <a:cs typeface="Zen Kaku Gothic Antique"/>
              </a:rPr>
              <a:t>対話と教育</a:t>
            </a:r>
          </a:p>
        </p:txBody>
      </p:sp>
      <p:sp>
        <p:nvSpPr>
          <p:cNvPr id="19" name="Rectangle 18"/>
          <p:cNvSpPr/>
          <p:nvPr/>
        </p:nvSpPr>
        <p:spPr>
          <a:xfrm>
            <a:off x="4626864" y="2926080"/>
            <a:ext cx="293522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626864" y="3127248"/>
            <a:ext cx="2935224" cy="1005840"/>
          </a:xfrm>
          <a:prstGeom prst="rect">
            <a:avLst/>
          </a:prstGeom>
          <a:noFill/>
        </p:spPr>
        <p:txBody>
          <a:bodyPr wrap="square" anchor="t" lIns="0" rIns="0" tIns="0" bIns="0">
            <a:spAutoFit/>
          </a:bodyPr>
          <a:lstStyle/>
          <a:p>
            <a:pPr algn="l">
              <a:lnSpc>
                <a:spcPct val="145000"/>
              </a:lnSpc>
            </a:pPr>
            <a:r>
              <a:rPr sz="1400" b="0">
                <a:solidFill>
                  <a:srgbClr val="1E293B"/>
                </a:solidFill>
                <a:latin typeface="Zen Kaku Gothic Antique"/>
                <a:ea typeface="Zen Kaku Gothic Antique"/>
                <a:cs typeface="Zen Kaku Gothic Antique"/>
              </a:rPr>
              <a:t>相談できる人と機会が、</a:t>
            </a:r>
          </a:p>
          <a:p>
            <a:pPr algn="l">
              <a:lnSpc>
                <a:spcPct val="145000"/>
              </a:lnSpc>
            </a:pPr>
            <a:r>
              <a:rPr sz="1400" b="0">
                <a:solidFill>
                  <a:srgbClr val="1E293B"/>
                </a:solidFill>
                <a:latin typeface="Zen Kaku Gothic Antique"/>
                <a:ea typeface="Zen Kaku Gothic Antique"/>
                <a:cs typeface="Zen Kaku Gothic Antique"/>
              </a:rPr>
              <a:t>採用時から見えている</a:t>
            </a:r>
          </a:p>
        </p:txBody>
      </p:sp>
      <p:sp>
        <p:nvSpPr>
          <p:cNvPr id="21" name="Rounded Rectangle 20"/>
          <p:cNvSpPr/>
          <p:nvPr/>
        </p:nvSpPr>
        <p:spPr>
          <a:xfrm>
            <a:off x="8211311" y="1847088"/>
            <a:ext cx="3410712" cy="2596896"/>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211311" y="1847088"/>
            <a:ext cx="3410712"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449055" y="2029968"/>
            <a:ext cx="2935224" cy="256032"/>
          </a:xfrm>
          <a:prstGeom prst="rect">
            <a:avLst/>
          </a:prstGeom>
          <a:noFill/>
        </p:spPr>
        <p:txBody>
          <a:bodyPr wrap="square" anchor="t" lIns="0" rIns="0" tIns="0" bIns="0">
            <a:spAutoFit/>
          </a:bodyPr>
          <a:lstStyle/>
          <a:p>
            <a:pPr algn="l">
              <a:lnSpc>
                <a:spcPct val="125000"/>
              </a:lnSpc>
            </a:pPr>
            <a:r>
              <a:rPr sz="1700" b="1">
                <a:solidFill>
                  <a:srgbClr val="F96167"/>
                </a:solidFill>
                <a:latin typeface="Zen Kaku Gothic Antique"/>
                <a:ea typeface="Zen Kaku Gothic Antique"/>
                <a:cs typeface="Zen Kaku Gothic Antique"/>
              </a:rPr>
              <a:t>POINT 3</a:t>
            </a:r>
          </a:p>
        </p:txBody>
      </p:sp>
      <p:sp>
        <p:nvSpPr>
          <p:cNvPr id="24" name="TextBox 23"/>
          <p:cNvSpPr txBox="1"/>
          <p:nvPr/>
        </p:nvSpPr>
        <p:spPr>
          <a:xfrm>
            <a:off x="8449055" y="2395728"/>
            <a:ext cx="2935224" cy="365760"/>
          </a:xfrm>
          <a:prstGeom prst="rect">
            <a:avLst/>
          </a:prstGeom>
          <a:noFill/>
        </p:spPr>
        <p:txBody>
          <a:bodyPr wrap="square" anchor="t" lIns="0" rIns="0" tIns="0" bIns="0">
            <a:spAutoFit/>
          </a:bodyPr>
          <a:lstStyle/>
          <a:p>
            <a:pPr algn="l">
              <a:lnSpc>
                <a:spcPct val="125000"/>
              </a:lnSpc>
            </a:pPr>
            <a:r>
              <a:rPr sz="2300" b="1">
                <a:solidFill>
                  <a:srgbClr val="144B7F"/>
                </a:solidFill>
                <a:latin typeface="Zen Kaku Gothic Antique"/>
                <a:ea typeface="Zen Kaku Gothic Antique"/>
                <a:cs typeface="Zen Kaku Gothic Antique"/>
              </a:rPr>
              <a:t>3年目までの育成</a:t>
            </a:r>
          </a:p>
        </p:txBody>
      </p:sp>
      <p:sp>
        <p:nvSpPr>
          <p:cNvPr id="25" name="Rectangle 24"/>
          <p:cNvSpPr/>
          <p:nvPr/>
        </p:nvSpPr>
        <p:spPr>
          <a:xfrm>
            <a:off x="8449055" y="2926080"/>
            <a:ext cx="293522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449055" y="3127248"/>
            <a:ext cx="2935224" cy="1005840"/>
          </a:xfrm>
          <a:prstGeom prst="rect">
            <a:avLst/>
          </a:prstGeom>
          <a:noFill/>
        </p:spPr>
        <p:txBody>
          <a:bodyPr wrap="square" anchor="t" lIns="0" rIns="0" tIns="0" bIns="0">
            <a:spAutoFit/>
          </a:bodyPr>
          <a:lstStyle/>
          <a:p>
            <a:pPr algn="l">
              <a:lnSpc>
                <a:spcPct val="145000"/>
              </a:lnSpc>
            </a:pPr>
            <a:r>
              <a:rPr sz="1400" b="0">
                <a:solidFill>
                  <a:srgbClr val="1E293B"/>
                </a:solidFill>
                <a:latin typeface="Zen Kaku Gothic Antique"/>
                <a:ea typeface="Zen Kaku Gothic Antique"/>
                <a:cs typeface="Zen Kaku Gothic Antique"/>
              </a:rPr>
              <a:t>若手への継続投資を、</a:t>
            </a:r>
          </a:p>
          <a:p>
            <a:pPr algn="l">
              <a:lnSpc>
                <a:spcPct val="145000"/>
              </a:lnSpc>
            </a:pPr>
            <a:r>
              <a:rPr sz="1400" b="0">
                <a:solidFill>
                  <a:srgbClr val="1E293B"/>
                </a:solidFill>
                <a:latin typeface="Zen Kaku Gothic Antique"/>
                <a:ea typeface="Zen Kaku Gothic Antique"/>
                <a:cs typeface="Zen Kaku Gothic Antique"/>
              </a:rPr>
              <a:t>定着と早期戦力化につなぐ</a:t>
            </a:r>
          </a:p>
        </p:txBody>
      </p:sp>
      <p:sp>
        <p:nvSpPr>
          <p:cNvPr id="27" name="TextBox 26"/>
          <p:cNvSpPr txBox="1"/>
          <p:nvPr/>
        </p:nvSpPr>
        <p:spPr>
          <a:xfrm>
            <a:off x="804672" y="4956048"/>
            <a:ext cx="10817352" cy="548640"/>
          </a:xfrm>
          <a:prstGeom prst="rect">
            <a:avLst/>
          </a:prstGeom>
          <a:noFill/>
        </p:spPr>
        <p:txBody>
          <a:bodyPr wrap="square" anchor="t" lIns="0" rIns="0" tIns="0" bIns="0">
            <a:spAutoFit/>
          </a:bodyPr>
          <a:lstStyle/>
          <a:p>
            <a:pPr algn="l">
              <a:lnSpc>
                <a:spcPct val="125000"/>
              </a:lnSpc>
            </a:pPr>
            <a:r>
              <a:rPr sz="2400" b="1">
                <a:solidFill>
                  <a:srgbClr val="E0454B"/>
                </a:solidFill>
                <a:latin typeface="Zen Kaku Gothic Antique"/>
                <a:ea typeface="Zen Kaku Gothic Antique"/>
                <a:cs typeface="Zen Kaku Gothic Antique"/>
              </a:rPr>
              <a:t>今うまく採用できている時期こそ、次の採用力をつくる好機です。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886053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Zen Kaku Gothic Antique"/>
                <a:ea typeface="Zen Kaku Gothic Antique"/>
                <a:cs typeface="Zen Kaku Gothic Antique"/>
              </a:rPr>
              <a:t>CHALLENGE｜承継には、若手と管理職の両方への働きかけが必要です</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Zen Kaku Gothic Antique"/>
                <a:ea typeface="Zen Kaku Gothic Antique"/>
                <a:cs typeface="Zen Kaku Gothic Antique"/>
              </a:rPr>
              <a:t>© Givin' Back Inc. All Rights Reserved.  |  Confidential</a:t>
            </a:r>
          </a:p>
        </p:txBody>
      </p:sp>
      <p:sp>
        <p:nvSpPr>
          <p:cNvPr id="7" name="TextBox 6"/>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Zen Kaku Gothic Antique"/>
                <a:ea typeface="Zen Kaku Gothic Antique"/>
                <a:cs typeface="Zen Kaku Gothic Antique"/>
              </a:rPr>
              <a:t>7</a:t>
            </a:r>
          </a:p>
        </p:txBody>
      </p:sp>
      <p:sp>
        <p:nvSpPr>
          <p:cNvPr id="8" name="TextBox 7"/>
          <p:cNvSpPr txBox="1"/>
          <p:nvPr/>
        </p:nvSpPr>
        <p:spPr>
          <a:xfrm>
            <a:off x="749808" y="1069848"/>
            <a:ext cx="10872216" cy="457200"/>
          </a:xfrm>
          <a:prstGeom prst="rect">
            <a:avLst/>
          </a:prstGeom>
          <a:noFill/>
        </p:spPr>
        <p:txBody>
          <a:bodyPr wrap="square" anchor="t" lIns="0" rIns="0" tIns="0" bIns="0">
            <a:spAutoFit/>
          </a:bodyPr>
          <a:lstStyle/>
          <a:p>
            <a:pPr algn="l">
              <a:lnSpc>
                <a:spcPct val="125000"/>
              </a:lnSpc>
            </a:pPr>
            <a:r>
              <a:rPr sz="2400" b="1">
                <a:solidFill>
                  <a:srgbClr val="144B7F"/>
                </a:solidFill>
                <a:latin typeface="Zen Kaku Gothic Antique"/>
                <a:ea typeface="Zen Kaku Gothic Antique"/>
                <a:cs typeface="Zen Kaku Gothic Antique"/>
              </a:rPr>
              <a:t>前回までのお打ち合わせをもとにした課題仮説です</a:t>
            </a:r>
          </a:p>
        </p:txBody>
      </p:sp>
      <p:sp>
        <p:nvSpPr>
          <p:cNvPr id="9" name="Rounded Rectangle 8"/>
          <p:cNvSpPr/>
          <p:nvPr/>
        </p:nvSpPr>
        <p:spPr>
          <a:xfrm>
            <a:off x="566928" y="1810512"/>
            <a:ext cx="5321808" cy="3310128"/>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1810512"/>
            <a:ext cx="5321808"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804672" y="2121408"/>
            <a:ext cx="4846320" cy="36576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42416" y="2158555"/>
            <a:ext cx="4370831" cy="365760"/>
          </a:xfrm>
          <a:prstGeom prst="rect">
            <a:avLst/>
          </a:prstGeom>
          <a:noFill/>
        </p:spPr>
        <p:txBody>
          <a:bodyPr wrap="square" anchor="t" lIns="0" rIns="0" tIns="0" bIns="0">
            <a:spAutoFit/>
          </a:bodyPr>
          <a:lstStyle/>
          <a:p>
            <a:pPr algn="l">
              <a:lnSpc>
                <a:spcPct val="125000"/>
              </a:lnSpc>
            </a:pPr>
            <a:r>
              <a:rPr sz="1700" b="1">
                <a:solidFill>
                  <a:srgbClr val="FFFFFF"/>
                </a:solidFill>
                <a:latin typeface="Zen Kaku Gothic Antique"/>
                <a:ea typeface="Zen Kaku Gothic Antique"/>
                <a:cs typeface="Zen Kaku Gothic Antique"/>
              </a:rPr>
              <a:t>若手・メンバー側</a:t>
            </a:r>
          </a:p>
        </p:txBody>
      </p:sp>
      <p:sp>
        <p:nvSpPr>
          <p:cNvPr id="13" name="Oval 12"/>
          <p:cNvSpPr/>
          <p:nvPr/>
        </p:nvSpPr>
        <p:spPr>
          <a:xfrm>
            <a:off x="822960" y="2799080"/>
            <a:ext cx="82296" cy="82296"/>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78992" y="2706624"/>
            <a:ext cx="4553712" cy="310896"/>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強み・目標を言葉にしにくい</a:t>
            </a:r>
          </a:p>
        </p:txBody>
      </p:sp>
      <p:sp>
        <p:nvSpPr>
          <p:cNvPr id="15" name="Oval 14"/>
          <p:cNvSpPr/>
          <p:nvPr/>
        </p:nvSpPr>
        <p:spPr>
          <a:xfrm>
            <a:off x="822960" y="3219704"/>
            <a:ext cx="82296" cy="82296"/>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78992" y="3127248"/>
            <a:ext cx="4553712" cy="310896"/>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会社での将来像が見えにくい</a:t>
            </a:r>
          </a:p>
        </p:txBody>
      </p:sp>
      <p:sp>
        <p:nvSpPr>
          <p:cNvPr id="17" name="Oval 16"/>
          <p:cNvSpPr/>
          <p:nvPr/>
        </p:nvSpPr>
        <p:spPr>
          <a:xfrm>
            <a:off x="822960" y="3640327"/>
            <a:ext cx="82296" cy="82296"/>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78992" y="3547872"/>
            <a:ext cx="4553712" cy="310896"/>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必要な支援を上司へ伝えにくい</a:t>
            </a:r>
          </a:p>
        </p:txBody>
      </p:sp>
      <p:sp>
        <p:nvSpPr>
          <p:cNvPr id="19" name="Oval 18"/>
          <p:cNvSpPr/>
          <p:nvPr/>
        </p:nvSpPr>
        <p:spPr>
          <a:xfrm>
            <a:off x="822960" y="4060951"/>
            <a:ext cx="82296" cy="82296"/>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78992" y="3968496"/>
            <a:ext cx="4553712" cy="310896"/>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目の前の業務が優先される</a:t>
            </a:r>
          </a:p>
        </p:txBody>
      </p:sp>
      <p:sp>
        <p:nvSpPr>
          <p:cNvPr id="21" name="Oval 20"/>
          <p:cNvSpPr/>
          <p:nvPr/>
        </p:nvSpPr>
        <p:spPr>
          <a:xfrm>
            <a:off x="822960" y="4481576"/>
            <a:ext cx="82296" cy="82296"/>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78992" y="4389120"/>
            <a:ext cx="4553712" cy="310896"/>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小さな挑戦の始め方が分からない</a:t>
            </a:r>
          </a:p>
        </p:txBody>
      </p:sp>
      <p:sp>
        <p:nvSpPr>
          <p:cNvPr id="23" name="Rounded Rectangle 22"/>
          <p:cNvSpPr/>
          <p:nvPr/>
        </p:nvSpPr>
        <p:spPr>
          <a:xfrm>
            <a:off x="6300216" y="1810512"/>
            <a:ext cx="5321808" cy="3310128"/>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300216" y="1810512"/>
            <a:ext cx="5321808"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537959" y="2121408"/>
            <a:ext cx="4846320" cy="3657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775703" y="2158555"/>
            <a:ext cx="4370831" cy="365760"/>
          </a:xfrm>
          <a:prstGeom prst="rect">
            <a:avLst/>
          </a:prstGeom>
          <a:noFill/>
        </p:spPr>
        <p:txBody>
          <a:bodyPr wrap="square" anchor="t" lIns="0" rIns="0" tIns="0" bIns="0">
            <a:spAutoFit/>
          </a:bodyPr>
          <a:lstStyle/>
          <a:p>
            <a:pPr algn="l">
              <a:lnSpc>
                <a:spcPct val="125000"/>
              </a:lnSpc>
            </a:pPr>
            <a:r>
              <a:rPr sz="1700" b="1">
                <a:solidFill>
                  <a:srgbClr val="FFFFFF"/>
                </a:solidFill>
                <a:latin typeface="Zen Kaku Gothic Antique"/>
                <a:ea typeface="Zen Kaku Gothic Antique"/>
                <a:cs typeface="Zen Kaku Gothic Antique"/>
              </a:rPr>
              <a:t>管理職・組織側</a:t>
            </a:r>
          </a:p>
        </p:txBody>
      </p:sp>
      <p:sp>
        <p:nvSpPr>
          <p:cNvPr id="27" name="Oval 26"/>
          <p:cNvSpPr/>
          <p:nvPr/>
        </p:nvSpPr>
        <p:spPr>
          <a:xfrm>
            <a:off x="6556248" y="2799080"/>
            <a:ext cx="82296" cy="82296"/>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812280" y="2706624"/>
            <a:ext cx="4553712" cy="310896"/>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プレイング業務で対話時間が限られる</a:t>
            </a:r>
          </a:p>
        </p:txBody>
      </p:sp>
      <p:sp>
        <p:nvSpPr>
          <p:cNvPr id="29" name="Oval 28"/>
          <p:cNvSpPr/>
          <p:nvPr/>
        </p:nvSpPr>
        <p:spPr>
          <a:xfrm>
            <a:off x="6556248" y="3219704"/>
            <a:ext cx="82296" cy="82296"/>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812280" y="3127248"/>
            <a:ext cx="4553712" cy="310896"/>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会社の方向性を若手へ翻訳しにくい</a:t>
            </a:r>
          </a:p>
        </p:txBody>
      </p:sp>
      <p:sp>
        <p:nvSpPr>
          <p:cNvPr id="31" name="Oval 30"/>
          <p:cNvSpPr/>
          <p:nvPr/>
        </p:nvSpPr>
        <p:spPr>
          <a:xfrm>
            <a:off x="6556248" y="3640327"/>
            <a:ext cx="82296" cy="82296"/>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812280" y="3547872"/>
            <a:ext cx="4553712" cy="310896"/>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拠点ごとに対話の質がばらつく</a:t>
            </a:r>
          </a:p>
        </p:txBody>
      </p:sp>
      <p:sp>
        <p:nvSpPr>
          <p:cNvPr id="33" name="Oval 32"/>
          <p:cNvSpPr/>
          <p:nvPr/>
        </p:nvSpPr>
        <p:spPr>
          <a:xfrm>
            <a:off x="6556248" y="4060951"/>
            <a:ext cx="82296" cy="82296"/>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812280" y="3968496"/>
            <a:ext cx="4553712" cy="310896"/>
          </a:xfrm>
          <a:prstGeom prst="rect">
            <a:avLst/>
          </a:prstGeom>
          <a:noFill/>
        </p:spPr>
        <p:txBody>
          <a:bodyPr wrap="square" anchor="t" lIns="0" rIns="0" tIns="0" bIns="0">
            <a:spAutoFit/>
          </a:bodyPr>
          <a:lstStyle/>
          <a:p>
            <a:pPr algn="l">
              <a:lnSpc>
                <a:spcPct val="125000"/>
              </a:lnSpc>
            </a:pPr>
            <a:r>
              <a:rPr sz="1400" b="0">
                <a:solidFill>
                  <a:srgbClr val="1E293B"/>
                </a:solidFill>
                <a:latin typeface="Zen Kaku Gothic Antique"/>
                <a:ea typeface="Zen Kaku Gothic Antique"/>
                <a:cs typeface="Zen Kaku Gothic Antique"/>
              </a:rPr>
              <a:t>技術・歴史・思いの継承が属人的になる</a:t>
            </a:r>
          </a:p>
        </p:txBody>
      </p:sp>
      <p:sp>
        <p:nvSpPr>
          <p:cNvPr id="35" name="TextBox 34"/>
          <p:cNvSpPr txBox="1"/>
          <p:nvPr/>
        </p:nvSpPr>
        <p:spPr>
          <a:xfrm>
            <a:off x="804672" y="5358384"/>
            <a:ext cx="10817352" cy="548640"/>
          </a:xfrm>
          <a:prstGeom prst="rect">
            <a:avLst/>
          </a:prstGeom>
          <a:noFill/>
        </p:spPr>
        <p:txBody>
          <a:bodyPr wrap="square" anchor="t" lIns="0" rIns="0" tIns="0" bIns="0">
            <a:spAutoFit/>
          </a:bodyPr>
          <a:lstStyle/>
          <a:p>
            <a:pPr algn="l">
              <a:lnSpc>
                <a:spcPct val="125000"/>
              </a:lnSpc>
            </a:pPr>
            <a:r>
              <a:rPr sz="2300" b="1">
                <a:solidFill>
                  <a:srgbClr val="144B7F"/>
                </a:solidFill>
                <a:latin typeface="Zen Kaku Gothic Antique"/>
                <a:ea typeface="Zen Kaku Gothic Antique"/>
                <a:cs typeface="Zen Kaku Gothic Antique"/>
              </a:rPr>
              <a:t>管理職への教育だけでは足りず、両面を同時に進める必要があります。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886053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Zen Kaku Gothic Antique"/>
                <a:ea typeface="Zen Kaku Gothic Antique"/>
                <a:cs typeface="Zen Kaku Gothic Antique"/>
              </a:rPr>
              <a:t>SOLUTION｜対話を、一人の力から組織の力へ</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Zen Kaku Gothic Antique"/>
                <a:ea typeface="Zen Kaku Gothic Antique"/>
                <a:cs typeface="Zen Kaku Gothic Antique"/>
              </a:rPr>
              <a:t>© Givin' Back Inc. All Rights Reserved.  |  Confidential</a:t>
            </a:r>
          </a:p>
        </p:txBody>
      </p:sp>
      <p:sp>
        <p:nvSpPr>
          <p:cNvPr id="7" name="TextBox 6"/>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Zen Kaku Gothic Antique"/>
                <a:ea typeface="Zen Kaku Gothic Antique"/>
                <a:cs typeface="Zen Kaku Gothic Antique"/>
              </a:rPr>
              <a:t>8</a:t>
            </a:r>
          </a:p>
        </p:txBody>
      </p:sp>
      <p:sp>
        <p:nvSpPr>
          <p:cNvPr id="8" name="TextBox 7"/>
          <p:cNvSpPr txBox="1"/>
          <p:nvPr/>
        </p:nvSpPr>
        <p:spPr>
          <a:xfrm>
            <a:off x="749808" y="1069848"/>
            <a:ext cx="10872216" cy="457200"/>
          </a:xfrm>
          <a:prstGeom prst="rect">
            <a:avLst/>
          </a:prstGeom>
          <a:noFill/>
        </p:spPr>
        <p:txBody>
          <a:bodyPr wrap="square" anchor="t" lIns="0" rIns="0" tIns="0" bIns="0">
            <a:spAutoFit/>
          </a:bodyPr>
          <a:lstStyle/>
          <a:p>
            <a:pPr algn="l">
              <a:lnSpc>
                <a:spcPct val="125000"/>
              </a:lnSpc>
            </a:pPr>
            <a:r>
              <a:rPr sz="2400" b="1">
                <a:solidFill>
                  <a:srgbClr val="144B7F"/>
                </a:solidFill>
                <a:latin typeface="Zen Kaku Gothic Antique"/>
                <a:ea typeface="Zen Kaku Gothic Antique"/>
                <a:cs typeface="Zen Kaku Gothic Antique"/>
              </a:rPr>
              <a:t>若手が自分の言葉で未来を描き、管理職が経験と役割を一緒に設計する</a:t>
            </a:r>
          </a:p>
        </p:txBody>
      </p:sp>
      <p:sp>
        <p:nvSpPr>
          <p:cNvPr id="9" name="Rectangle 8"/>
          <p:cNvSpPr/>
          <p:nvPr/>
        </p:nvSpPr>
        <p:spPr>
          <a:xfrm>
            <a:off x="566928" y="1700784"/>
            <a:ext cx="11055096" cy="1298448"/>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1975104"/>
            <a:ext cx="9875520" cy="822960"/>
          </a:xfrm>
          <a:prstGeom prst="rect">
            <a:avLst/>
          </a:prstGeom>
          <a:noFill/>
        </p:spPr>
        <p:txBody>
          <a:bodyPr wrap="square" anchor="t" lIns="0" rIns="0" tIns="0" bIns="0">
            <a:spAutoFit/>
          </a:bodyPr>
          <a:lstStyle/>
          <a:p>
            <a:pPr algn="l">
              <a:lnSpc>
                <a:spcPct val="145000"/>
              </a:lnSpc>
            </a:pPr>
            <a:r>
              <a:rPr sz="2000" b="1">
                <a:solidFill>
                  <a:srgbClr val="FFFFFF"/>
                </a:solidFill>
                <a:latin typeface="Zen Kaku Gothic Antique"/>
                <a:ea typeface="Zen Kaku Gothic Antique"/>
                <a:cs typeface="Zen Kaku Gothic Antique"/>
              </a:rPr>
              <a:t>社長おひとりで背負ってこられた対話を、</a:t>
            </a:r>
          </a:p>
          <a:p>
            <a:pPr algn="l">
              <a:lnSpc>
                <a:spcPct val="145000"/>
              </a:lnSpc>
            </a:pPr>
            <a:r>
              <a:rPr sz="2000" b="1">
                <a:solidFill>
                  <a:srgbClr val="FFFFFF"/>
                </a:solidFill>
                <a:latin typeface="Zen Kaku Gothic Antique"/>
                <a:ea typeface="Zen Kaku Gothic Antique"/>
                <a:cs typeface="Zen Kaku Gothic Antique"/>
              </a:rPr>
              <a:t>各拠点で無理なく続く仕組みへ広げます。</a:t>
            </a:r>
          </a:p>
        </p:txBody>
      </p:sp>
      <p:sp>
        <p:nvSpPr>
          <p:cNvPr id="11" name="Rounded Rectangle 10"/>
          <p:cNvSpPr/>
          <p:nvPr/>
        </p:nvSpPr>
        <p:spPr>
          <a:xfrm>
            <a:off x="566928" y="3310128"/>
            <a:ext cx="5120640" cy="1883664"/>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66928" y="3310128"/>
            <a:ext cx="5120640"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2" y="3584448"/>
            <a:ext cx="4645152" cy="365760"/>
          </a:xfrm>
          <a:prstGeom prst="rect">
            <a:avLst/>
          </a:prstGeom>
          <a:noFill/>
        </p:spPr>
        <p:txBody>
          <a:bodyPr wrap="square" anchor="t" lIns="0" rIns="0" tIns="0" bIns="0">
            <a:spAutoFit/>
          </a:bodyPr>
          <a:lstStyle/>
          <a:p>
            <a:pPr algn="l">
              <a:lnSpc>
                <a:spcPct val="125000"/>
              </a:lnSpc>
            </a:pPr>
            <a:r>
              <a:rPr sz="2000" b="1">
                <a:solidFill>
                  <a:srgbClr val="144B7F"/>
                </a:solidFill>
                <a:latin typeface="Zen Kaku Gothic Antique"/>
                <a:ea typeface="Zen Kaku Gothic Antique"/>
                <a:cs typeface="Zen Kaku Gothic Antique"/>
              </a:rPr>
              <a:t>若手のキャリア開発</a:t>
            </a:r>
          </a:p>
        </p:txBody>
      </p:sp>
      <p:sp>
        <p:nvSpPr>
          <p:cNvPr id="14" name="TextBox 13"/>
          <p:cNvSpPr txBox="1"/>
          <p:nvPr/>
        </p:nvSpPr>
        <p:spPr>
          <a:xfrm>
            <a:off x="804672" y="4078224"/>
            <a:ext cx="4645152" cy="1005840"/>
          </a:xfrm>
          <a:prstGeom prst="rect">
            <a:avLst/>
          </a:prstGeom>
          <a:noFill/>
        </p:spPr>
        <p:txBody>
          <a:bodyPr wrap="square" anchor="t" lIns="0" rIns="0" tIns="0" bIns="0">
            <a:spAutoFit/>
          </a:bodyPr>
          <a:lstStyle/>
          <a:p>
            <a:pPr algn="l">
              <a:lnSpc>
                <a:spcPct val="145000"/>
              </a:lnSpc>
            </a:pPr>
            <a:r>
              <a:rPr sz="1400" b="0">
                <a:solidFill>
                  <a:srgbClr val="1E293B"/>
                </a:solidFill>
                <a:latin typeface="Zen Kaku Gothic Antique"/>
                <a:ea typeface="Zen Kaku Gothic Antique"/>
                <a:cs typeface="Zen Kaku Gothic Antique"/>
              </a:rPr>
              <a:t>強み・価値観・目指す姿を言語化し、</a:t>
            </a:r>
          </a:p>
          <a:p>
            <a:pPr algn="l">
              <a:lnSpc>
                <a:spcPct val="145000"/>
              </a:lnSpc>
            </a:pPr>
            <a:r>
              <a:rPr sz="1400" b="0">
                <a:solidFill>
                  <a:srgbClr val="1E293B"/>
                </a:solidFill>
                <a:latin typeface="Zen Kaku Gothic Antique"/>
                <a:ea typeface="Zen Kaku Gothic Antique"/>
                <a:cs typeface="Zen Kaku Gothic Antique"/>
              </a:rPr>
              <a:t>現場で試す小さな一歩を決める</a:t>
            </a:r>
          </a:p>
        </p:txBody>
      </p:sp>
      <p:sp>
        <p:nvSpPr>
          <p:cNvPr id="15" name="TextBox 14"/>
          <p:cNvSpPr txBox="1"/>
          <p:nvPr/>
        </p:nvSpPr>
        <p:spPr>
          <a:xfrm>
            <a:off x="5833872" y="4041648"/>
            <a:ext cx="521207" cy="402336"/>
          </a:xfrm>
          <a:prstGeom prst="rect">
            <a:avLst/>
          </a:prstGeom>
          <a:noFill/>
        </p:spPr>
        <p:txBody>
          <a:bodyPr wrap="square" anchor="t" lIns="0" rIns="0" tIns="0" bIns="0">
            <a:spAutoFit/>
          </a:bodyPr>
          <a:lstStyle/>
          <a:p>
            <a:pPr algn="ctr">
              <a:lnSpc>
                <a:spcPct val="125000"/>
              </a:lnSpc>
            </a:pPr>
            <a:r>
              <a:rPr sz="2200" b="1">
                <a:solidFill>
                  <a:srgbClr val="939EAC"/>
                </a:solidFill>
                <a:latin typeface="Zen Kaku Gothic Antique"/>
                <a:ea typeface="Zen Kaku Gothic Antique"/>
                <a:cs typeface="Zen Kaku Gothic Antique"/>
              </a:rPr>
              <a:t>×</a:t>
            </a:r>
          </a:p>
        </p:txBody>
      </p:sp>
      <p:sp>
        <p:nvSpPr>
          <p:cNvPr id="16" name="Rounded Rectangle 15"/>
          <p:cNvSpPr/>
          <p:nvPr/>
        </p:nvSpPr>
        <p:spPr>
          <a:xfrm>
            <a:off x="6501383" y="3310128"/>
            <a:ext cx="5120640" cy="1883664"/>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501383" y="3310128"/>
            <a:ext cx="512064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739127" y="3584448"/>
            <a:ext cx="4645152" cy="365760"/>
          </a:xfrm>
          <a:prstGeom prst="rect">
            <a:avLst/>
          </a:prstGeom>
          <a:noFill/>
        </p:spPr>
        <p:txBody>
          <a:bodyPr wrap="square" anchor="t" lIns="0" rIns="0" tIns="0" bIns="0">
            <a:spAutoFit/>
          </a:bodyPr>
          <a:lstStyle/>
          <a:p>
            <a:pPr algn="l">
              <a:lnSpc>
                <a:spcPct val="125000"/>
              </a:lnSpc>
            </a:pPr>
            <a:r>
              <a:rPr sz="2000" b="1">
                <a:solidFill>
                  <a:srgbClr val="F96167"/>
                </a:solidFill>
                <a:latin typeface="Zen Kaku Gothic Antique"/>
                <a:ea typeface="Zen Kaku Gothic Antique"/>
                <a:cs typeface="Zen Kaku Gothic Antique"/>
              </a:rPr>
              <a:t>管理職の対話支援</a:t>
            </a:r>
          </a:p>
        </p:txBody>
      </p:sp>
      <p:sp>
        <p:nvSpPr>
          <p:cNvPr id="19" name="TextBox 18"/>
          <p:cNvSpPr txBox="1"/>
          <p:nvPr/>
        </p:nvSpPr>
        <p:spPr>
          <a:xfrm>
            <a:off x="6739127" y="4078224"/>
            <a:ext cx="4645152" cy="1005840"/>
          </a:xfrm>
          <a:prstGeom prst="rect">
            <a:avLst/>
          </a:prstGeom>
          <a:noFill/>
        </p:spPr>
        <p:txBody>
          <a:bodyPr wrap="square" anchor="t" lIns="0" rIns="0" tIns="0" bIns="0">
            <a:spAutoFit/>
          </a:bodyPr>
          <a:lstStyle/>
          <a:p>
            <a:pPr algn="l">
              <a:lnSpc>
                <a:spcPct val="145000"/>
              </a:lnSpc>
            </a:pPr>
            <a:r>
              <a:rPr sz="1400" b="0">
                <a:solidFill>
                  <a:srgbClr val="1E293B"/>
                </a:solidFill>
                <a:latin typeface="Zen Kaku Gothic Antique"/>
                <a:ea typeface="Zen Kaku Gothic Antique"/>
                <a:cs typeface="Zen Kaku Gothic Antique"/>
              </a:rPr>
              <a:t>本人の言葉をもとに、経験付与と</a:t>
            </a:r>
          </a:p>
          <a:p>
            <a:pPr algn="l">
              <a:lnSpc>
                <a:spcPct val="145000"/>
              </a:lnSpc>
            </a:pPr>
            <a:r>
              <a:rPr sz="1400" b="0">
                <a:solidFill>
                  <a:srgbClr val="1E293B"/>
                </a:solidFill>
                <a:latin typeface="Zen Kaku Gothic Antique"/>
                <a:ea typeface="Zen Kaku Gothic Antique"/>
                <a:cs typeface="Zen Kaku Gothic Antique"/>
              </a:rPr>
              <a:t>次の役割を一緒に考える</a:t>
            </a:r>
          </a:p>
        </p:txBody>
      </p:sp>
      <p:sp>
        <p:nvSpPr>
          <p:cNvPr id="20" name="TextBox 19"/>
          <p:cNvSpPr txBox="1"/>
          <p:nvPr/>
        </p:nvSpPr>
        <p:spPr>
          <a:xfrm>
            <a:off x="804672" y="5486400"/>
            <a:ext cx="10817352" cy="548640"/>
          </a:xfrm>
          <a:prstGeom prst="rect">
            <a:avLst/>
          </a:prstGeom>
          <a:noFill/>
        </p:spPr>
        <p:txBody>
          <a:bodyPr wrap="square" anchor="t" lIns="0" rIns="0" tIns="0" bIns="0">
            <a:spAutoFit/>
          </a:bodyPr>
          <a:lstStyle/>
          <a:p>
            <a:pPr algn="l">
              <a:lnSpc>
                <a:spcPct val="125000"/>
              </a:lnSpc>
            </a:pPr>
            <a:r>
              <a:rPr sz="2200" b="1">
                <a:solidFill>
                  <a:srgbClr val="144B7F"/>
                </a:solidFill>
                <a:latin typeface="Zen Kaku Gothic Antique"/>
                <a:ea typeface="Zen Kaku Gothic Antique"/>
                <a:cs typeface="Zen Kaku Gothic Antique"/>
              </a:rPr>
              <a:t>田中部長が回している3カ月面談を起点に、無理なく各拠点へ広げます。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886053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Zen Kaku Gothic Antique"/>
                <a:ea typeface="Zen Kaku Gothic Antique"/>
                <a:cs typeface="Zen Kaku Gothic Antique"/>
              </a:rPr>
              <a:t>TRIAL｜2日間＋約3カ月で、現場の変化まで確かめます</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Zen Kaku Gothic Antique"/>
                <a:ea typeface="Zen Kaku Gothic Antique"/>
                <a:cs typeface="Zen Kaku Gothic Antique"/>
              </a:rPr>
              <a:t>© Givin' Back Inc. All Rights Reserved.  |  Confidential</a:t>
            </a:r>
          </a:p>
        </p:txBody>
      </p:sp>
      <p:sp>
        <p:nvSpPr>
          <p:cNvPr id="7" name="TextBox 6"/>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Zen Kaku Gothic Antique"/>
                <a:ea typeface="Zen Kaku Gothic Antique"/>
                <a:cs typeface="Zen Kaku Gothic Antique"/>
              </a:rPr>
              <a:t>9</a:t>
            </a:r>
          </a:p>
        </p:txBody>
      </p:sp>
      <p:sp>
        <p:nvSpPr>
          <p:cNvPr id="8" name="TextBox 7"/>
          <p:cNvSpPr txBox="1"/>
          <p:nvPr/>
        </p:nvSpPr>
        <p:spPr>
          <a:xfrm>
            <a:off x="749808" y="1069848"/>
            <a:ext cx="10872216" cy="457200"/>
          </a:xfrm>
          <a:prstGeom prst="rect">
            <a:avLst/>
          </a:prstGeom>
          <a:noFill/>
        </p:spPr>
        <p:txBody>
          <a:bodyPr wrap="square" anchor="t" lIns="0" rIns="0" tIns="0" bIns="0">
            <a:spAutoFit/>
          </a:bodyPr>
          <a:lstStyle/>
          <a:p>
            <a:pPr algn="l">
              <a:lnSpc>
                <a:spcPct val="125000"/>
              </a:lnSpc>
            </a:pPr>
            <a:r>
              <a:rPr sz="2400" b="1">
                <a:solidFill>
                  <a:srgbClr val="144B7F"/>
                </a:solidFill>
                <a:latin typeface="Zen Kaku Gothic Antique"/>
                <a:ea typeface="Zen Kaku Gothic Antique"/>
                <a:cs typeface="Zen Kaku Gothic Antique"/>
              </a:rPr>
              <a:t>対象を絞り、設計・実施・振り返りを一体で進めます</a:t>
            </a:r>
          </a:p>
        </p:txBody>
      </p:sp>
      <p:sp>
        <p:nvSpPr>
          <p:cNvPr id="9" name="Rounded Rectangle 8"/>
          <p:cNvSpPr/>
          <p:nvPr/>
        </p:nvSpPr>
        <p:spPr>
          <a:xfrm>
            <a:off x="566928" y="1847088"/>
            <a:ext cx="3291840" cy="2615184"/>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1847088"/>
            <a:ext cx="3291840"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804672" y="2121408"/>
            <a:ext cx="1188720" cy="310896"/>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04672" y="2176272"/>
            <a:ext cx="1188720" cy="237744"/>
          </a:xfrm>
          <a:prstGeom prst="rect">
            <a:avLst/>
          </a:prstGeom>
          <a:noFill/>
        </p:spPr>
        <p:txBody>
          <a:bodyPr wrap="square" anchor="t" lIns="0" rIns="0" tIns="0" bIns="0">
            <a:spAutoFit/>
          </a:bodyPr>
          <a:lstStyle/>
          <a:p>
            <a:pPr algn="ctr">
              <a:lnSpc>
                <a:spcPct val="125000"/>
              </a:lnSpc>
            </a:pPr>
            <a:r>
              <a:rPr sz="1100" b="1">
                <a:solidFill>
                  <a:srgbClr val="FFFFFF"/>
                </a:solidFill>
                <a:latin typeface="Zen Kaku Gothic Antique"/>
                <a:ea typeface="Zen Kaku Gothic Antique"/>
                <a:cs typeface="Zen Kaku Gothic Antique"/>
              </a:rPr>
              <a:t>DAY 1</a:t>
            </a:r>
          </a:p>
        </p:txBody>
      </p:sp>
      <p:sp>
        <p:nvSpPr>
          <p:cNvPr id="13" name="TextBox 12"/>
          <p:cNvSpPr txBox="1"/>
          <p:nvPr/>
        </p:nvSpPr>
        <p:spPr>
          <a:xfrm>
            <a:off x="804672" y="2615184"/>
            <a:ext cx="2816352" cy="365760"/>
          </a:xfrm>
          <a:prstGeom prst="rect">
            <a:avLst/>
          </a:prstGeom>
          <a:noFill/>
        </p:spPr>
        <p:txBody>
          <a:bodyPr wrap="square" anchor="t" lIns="0" rIns="0" tIns="0" bIns="0">
            <a:spAutoFit/>
          </a:bodyPr>
          <a:lstStyle/>
          <a:p>
            <a:pPr algn="l">
              <a:lnSpc>
                <a:spcPct val="125000"/>
              </a:lnSpc>
            </a:pPr>
            <a:r>
              <a:rPr sz="1700" b="1">
                <a:solidFill>
                  <a:srgbClr val="144B7F"/>
                </a:solidFill>
                <a:latin typeface="Zen Kaku Gothic Antique"/>
                <a:ea typeface="Zen Kaku Gothic Antique"/>
                <a:cs typeface="Zen Kaku Gothic Antique"/>
              </a:rPr>
              <a:t>自分を知る</a:t>
            </a:r>
          </a:p>
        </p:txBody>
      </p:sp>
      <p:sp>
        <p:nvSpPr>
          <p:cNvPr id="14" name="Rectangle 13"/>
          <p:cNvSpPr/>
          <p:nvPr/>
        </p:nvSpPr>
        <p:spPr>
          <a:xfrm>
            <a:off x="804672" y="3090672"/>
            <a:ext cx="2816352"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04672" y="3273552"/>
            <a:ext cx="2816352" cy="1005840"/>
          </a:xfrm>
          <a:prstGeom prst="rect">
            <a:avLst/>
          </a:prstGeom>
          <a:noFill/>
        </p:spPr>
        <p:txBody>
          <a:bodyPr wrap="square" anchor="t" lIns="0" rIns="0" tIns="0" bIns="0">
            <a:spAutoFit/>
          </a:bodyPr>
          <a:lstStyle/>
          <a:p>
            <a:pPr algn="l">
              <a:lnSpc>
                <a:spcPct val="145000"/>
              </a:lnSpc>
            </a:pPr>
            <a:r>
              <a:rPr sz="1400" b="0">
                <a:solidFill>
                  <a:srgbClr val="1E293B"/>
                </a:solidFill>
                <a:latin typeface="Zen Kaku Gothic Antique"/>
                <a:ea typeface="Zen Kaku Gothic Antique"/>
                <a:cs typeface="Zen Kaku Gothic Antique"/>
              </a:rPr>
              <a:t>若手が強み・価値観・</a:t>
            </a:r>
          </a:p>
          <a:p>
            <a:pPr algn="l">
              <a:lnSpc>
                <a:spcPct val="145000"/>
              </a:lnSpc>
            </a:pPr>
            <a:r>
              <a:rPr sz="1400" b="0">
                <a:solidFill>
                  <a:srgbClr val="1E293B"/>
                </a:solidFill>
                <a:latin typeface="Zen Kaku Gothic Antique"/>
                <a:ea typeface="Zen Kaku Gothic Antique"/>
                <a:cs typeface="Zen Kaku Gothic Antique"/>
              </a:rPr>
              <a:t>目指す姿を言葉にする</a:t>
            </a:r>
          </a:p>
        </p:txBody>
      </p:sp>
      <p:sp>
        <p:nvSpPr>
          <p:cNvPr id="16" name="TextBox 15"/>
          <p:cNvSpPr txBox="1"/>
          <p:nvPr/>
        </p:nvSpPr>
        <p:spPr>
          <a:xfrm>
            <a:off x="3950207" y="2834640"/>
            <a:ext cx="411480" cy="365760"/>
          </a:xfrm>
          <a:prstGeom prst="rect">
            <a:avLst/>
          </a:prstGeom>
          <a:noFill/>
        </p:spPr>
        <p:txBody>
          <a:bodyPr wrap="square" anchor="t" lIns="0" rIns="0" tIns="0" bIns="0">
            <a:spAutoFit/>
          </a:bodyPr>
          <a:lstStyle/>
          <a:p>
            <a:pPr algn="ctr">
              <a:lnSpc>
                <a:spcPct val="125000"/>
              </a:lnSpc>
            </a:pPr>
            <a:r>
              <a:rPr sz="1800" b="1">
                <a:solidFill>
                  <a:srgbClr val="939EAC"/>
                </a:solidFill>
                <a:latin typeface="Zen Kaku Gothic Antique"/>
                <a:ea typeface="Zen Kaku Gothic Antique"/>
                <a:cs typeface="Zen Kaku Gothic Antique"/>
              </a:rPr>
              <a:t>→</a:t>
            </a:r>
          </a:p>
        </p:txBody>
      </p:sp>
      <p:sp>
        <p:nvSpPr>
          <p:cNvPr id="17" name="Rounded Rectangle 16"/>
          <p:cNvSpPr/>
          <p:nvPr/>
        </p:nvSpPr>
        <p:spPr>
          <a:xfrm>
            <a:off x="4453128" y="1847088"/>
            <a:ext cx="3291840" cy="2615184"/>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453128" y="1847088"/>
            <a:ext cx="3291840"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690872" y="2121408"/>
            <a:ext cx="1188720" cy="31089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690872" y="2176272"/>
            <a:ext cx="1188720" cy="237744"/>
          </a:xfrm>
          <a:prstGeom prst="rect">
            <a:avLst/>
          </a:prstGeom>
          <a:noFill/>
        </p:spPr>
        <p:txBody>
          <a:bodyPr wrap="square" anchor="t" lIns="0" rIns="0" tIns="0" bIns="0">
            <a:spAutoFit/>
          </a:bodyPr>
          <a:lstStyle/>
          <a:p>
            <a:pPr algn="ctr">
              <a:lnSpc>
                <a:spcPct val="125000"/>
              </a:lnSpc>
            </a:pPr>
            <a:r>
              <a:rPr sz="1100" b="1">
                <a:solidFill>
                  <a:srgbClr val="FFFFFF"/>
                </a:solidFill>
                <a:latin typeface="Zen Kaku Gothic Antique"/>
                <a:ea typeface="Zen Kaku Gothic Antique"/>
                <a:cs typeface="Zen Kaku Gothic Antique"/>
              </a:rPr>
              <a:t>約3カ月</a:t>
            </a:r>
          </a:p>
        </p:txBody>
      </p:sp>
      <p:sp>
        <p:nvSpPr>
          <p:cNvPr id="21" name="TextBox 20"/>
          <p:cNvSpPr txBox="1"/>
          <p:nvPr/>
        </p:nvSpPr>
        <p:spPr>
          <a:xfrm>
            <a:off x="4690872" y="2615184"/>
            <a:ext cx="2816352" cy="365760"/>
          </a:xfrm>
          <a:prstGeom prst="rect">
            <a:avLst/>
          </a:prstGeom>
          <a:noFill/>
        </p:spPr>
        <p:txBody>
          <a:bodyPr wrap="square" anchor="t" lIns="0" rIns="0" tIns="0" bIns="0">
            <a:spAutoFit/>
          </a:bodyPr>
          <a:lstStyle/>
          <a:p>
            <a:pPr algn="l">
              <a:lnSpc>
                <a:spcPct val="125000"/>
              </a:lnSpc>
            </a:pPr>
            <a:r>
              <a:rPr sz="1700" b="1">
                <a:solidFill>
                  <a:srgbClr val="144B7F"/>
                </a:solidFill>
                <a:latin typeface="Zen Kaku Gothic Antique"/>
                <a:ea typeface="Zen Kaku Gothic Antique"/>
                <a:cs typeface="Zen Kaku Gothic Antique"/>
              </a:rPr>
              <a:t>現場で試す</a:t>
            </a:r>
          </a:p>
        </p:txBody>
      </p:sp>
      <p:sp>
        <p:nvSpPr>
          <p:cNvPr id="22" name="Rectangle 21"/>
          <p:cNvSpPr/>
          <p:nvPr/>
        </p:nvSpPr>
        <p:spPr>
          <a:xfrm>
            <a:off x="4690872" y="3090672"/>
            <a:ext cx="2816352"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690872" y="3273552"/>
            <a:ext cx="2816352" cy="1005840"/>
          </a:xfrm>
          <a:prstGeom prst="rect">
            <a:avLst/>
          </a:prstGeom>
          <a:noFill/>
        </p:spPr>
        <p:txBody>
          <a:bodyPr wrap="square" anchor="t" lIns="0" rIns="0" tIns="0" bIns="0">
            <a:spAutoFit/>
          </a:bodyPr>
          <a:lstStyle/>
          <a:p>
            <a:pPr algn="l">
              <a:lnSpc>
                <a:spcPct val="145000"/>
              </a:lnSpc>
            </a:pPr>
            <a:r>
              <a:rPr sz="1400" b="0">
                <a:solidFill>
                  <a:srgbClr val="1E293B"/>
                </a:solidFill>
                <a:latin typeface="Zen Kaku Gothic Antique"/>
                <a:ea typeface="Zen Kaku Gothic Antique"/>
                <a:cs typeface="Zen Kaku Gothic Antique"/>
              </a:rPr>
              <a:t>自分で決めた小さな一歩を</a:t>
            </a:r>
          </a:p>
          <a:p>
            <a:pPr algn="l">
              <a:lnSpc>
                <a:spcPct val="145000"/>
              </a:lnSpc>
            </a:pPr>
            <a:r>
              <a:rPr sz="1400" b="0">
                <a:solidFill>
                  <a:srgbClr val="1E293B"/>
                </a:solidFill>
                <a:latin typeface="Zen Kaku Gothic Antique"/>
                <a:ea typeface="Zen Kaku Gothic Antique"/>
                <a:cs typeface="Zen Kaku Gothic Antique"/>
              </a:rPr>
              <a:t>日常業務で実践する</a:t>
            </a:r>
          </a:p>
        </p:txBody>
      </p:sp>
      <p:sp>
        <p:nvSpPr>
          <p:cNvPr id="24" name="TextBox 23"/>
          <p:cNvSpPr txBox="1"/>
          <p:nvPr/>
        </p:nvSpPr>
        <p:spPr>
          <a:xfrm>
            <a:off x="7836408" y="2834640"/>
            <a:ext cx="411480" cy="365760"/>
          </a:xfrm>
          <a:prstGeom prst="rect">
            <a:avLst/>
          </a:prstGeom>
          <a:noFill/>
        </p:spPr>
        <p:txBody>
          <a:bodyPr wrap="square" anchor="t" lIns="0" rIns="0" tIns="0" bIns="0">
            <a:spAutoFit/>
          </a:bodyPr>
          <a:lstStyle/>
          <a:p>
            <a:pPr algn="ctr">
              <a:lnSpc>
                <a:spcPct val="125000"/>
              </a:lnSpc>
            </a:pPr>
            <a:r>
              <a:rPr sz="1800" b="1">
                <a:solidFill>
                  <a:srgbClr val="939EAC"/>
                </a:solidFill>
                <a:latin typeface="Zen Kaku Gothic Antique"/>
                <a:ea typeface="Zen Kaku Gothic Antique"/>
                <a:cs typeface="Zen Kaku Gothic Antique"/>
              </a:rPr>
              <a:t>→</a:t>
            </a:r>
          </a:p>
        </p:txBody>
      </p:sp>
      <p:sp>
        <p:nvSpPr>
          <p:cNvPr id="25" name="Rounded Rectangle 24"/>
          <p:cNvSpPr/>
          <p:nvPr/>
        </p:nvSpPr>
        <p:spPr>
          <a:xfrm>
            <a:off x="8339327" y="1847088"/>
            <a:ext cx="3291840" cy="2615184"/>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339327" y="1847088"/>
            <a:ext cx="3291840"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577072" y="2121408"/>
            <a:ext cx="1188720" cy="310896"/>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577072" y="2176272"/>
            <a:ext cx="1188720" cy="237744"/>
          </a:xfrm>
          <a:prstGeom prst="rect">
            <a:avLst/>
          </a:prstGeom>
          <a:noFill/>
        </p:spPr>
        <p:txBody>
          <a:bodyPr wrap="square" anchor="t" lIns="0" rIns="0" tIns="0" bIns="0">
            <a:spAutoFit/>
          </a:bodyPr>
          <a:lstStyle/>
          <a:p>
            <a:pPr algn="ctr">
              <a:lnSpc>
                <a:spcPct val="125000"/>
              </a:lnSpc>
            </a:pPr>
            <a:r>
              <a:rPr sz="1100" b="1">
                <a:solidFill>
                  <a:srgbClr val="FFFFFF"/>
                </a:solidFill>
                <a:latin typeface="Zen Kaku Gothic Antique"/>
                <a:ea typeface="Zen Kaku Gothic Antique"/>
                <a:cs typeface="Zen Kaku Gothic Antique"/>
              </a:rPr>
              <a:t>DAY 2</a:t>
            </a:r>
          </a:p>
        </p:txBody>
      </p:sp>
      <p:sp>
        <p:nvSpPr>
          <p:cNvPr id="29" name="TextBox 28"/>
          <p:cNvSpPr txBox="1"/>
          <p:nvPr/>
        </p:nvSpPr>
        <p:spPr>
          <a:xfrm>
            <a:off x="8577072" y="2615184"/>
            <a:ext cx="2816352" cy="365760"/>
          </a:xfrm>
          <a:prstGeom prst="rect">
            <a:avLst/>
          </a:prstGeom>
          <a:noFill/>
        </p:spPr>
        <p:txBody>
          <a:bodyPr wrap="square" anchor="t" lIns="0" rIns="0" tIns="0" bIns="0">
            <a:spAutoFit/>
          </a:bodyPr>
          <a:lstStyle/>
          <a:p>
            <a:pPr algn="l">
              <a:lnSpc>
                <a:spcPct val="125000"/>
              </a:lnSpc>
            </a:pPr>
            <a:r>
              <a:rPr sz="1700" b="1">
                <a:solidFill>
                  <a:srgbClr val="144B7F"/>
                </a:solidFill>
                <a:latin typeface="Zen Kaku Gothic Antique"/>
                <a:ea typeface="Zen Kaku Gothic Antique"/>
                <a:cs typeface="Zen Kaku Gothic Antique"/>
              </a:rPr>
              <a:t>対話し、更新する</a:t>
            </a:r>
          </a:p>
        </p:txBody>
      </p:sp>
      <p:sp>
        <p:nvSpPr>
          <p:cNvPr id="30" name="Rectangle 29"/>
          <p:cNvSpPr/>
          <p:nvPr/>
        </p:nvSpPr>
        <p:spPr>
          <a:xfrm>
            <a:off x="8577072" y="3090672"/>
            <a:ext cx="2816352"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577072" y="3273552"/>
            <a:ext cx="2816352" cy="1005840"/>
          </a:xfrm>
          <a:prstGeom prst="rect">
            <a:avLst/>
          </a:prstGeom>
          <a:noFill/>
        </p:spPr>
        <p:txBody>
          <a:bodyPr wrap="square" anchor="t" lIns="0" rIns="0" tIns="0" bIns="0">
            <a:spAutoFit/>
          </a:bodyPr>
          <a:lstStyle/>
          <a:p>
            <a:pPr algn="l">
              <a:lnSpc>
                <a:spcPct val="145000"/>
              </a:lnSpc>
            </a:pPr>
            <a:r>
              <a:rPr sz="1400" b="0">
                <a:solidFill>
                  <a:srgbClr val="1E293B"/>
                </a:solidFill>
                <a:latin typeface="Zen Kaku Gothic Antique"/>
                <a:ea typeface="Zen Kaku Gothic Antique"/>
                <a:cs typeface="Zen Kaku Gothic Antique"/>
              </a:rPr>
              <a:t>上司と振り返り、次の</a:t>
            </a:r>
          </a:p>
          <a:p>
            <a:pPr algn="l">
              <a:lnSpc>
                <a:spcPct val="145000"/>
              </a:lnSpc>
            </a:pPr>
            <a:r>
              <a:rPr sz="1400" b="0">
                <a:solidFill>
                  <a:srgbClr val="1E293B"/>
                </a:solidFill>
                <a:latin typeface="Zen Kaku Gothic Antique"/>
                <a:ea typeface="Zen Kaku Gothic Antique"/>
                <a:cs typeface="Zen Kaku Gothic Antique"/>
              </a:rPr>
              <a:t>経験・役割を一緒に決める</a:t>
            </a:r>
          </a:p>
        </p:txBody>
      </p:sp>
      <p:sp>
        <p:nvSpPr>
          <p:cNvPr id="32" name="Rectangle 31"/>
          <p:cNvSpPr/>
          <p:nvPr/>
        </p:nvSpPr>
        <p:spPr>
          <a:xfrm>
            <a:off x="566928" y="4754880"/>
            <a:ext cx="11055096" cy="566928"/>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66928" y="4901184"/>
            <a:ext cx="11055096" cy="310896"/>
          </a:xfrm>
          <a:prstGeom prst="rect">
            <a:avLst/>
          </a:prstGeom>
          <a:noFill/>
        </p:spPr>
        <p:txBody>
          <a:bodyPr wrap="square" anchor="t" lIns="0" rIns="0" tIns="0" bIns="0">
            <a:spAutoFit/>
          </a:bodyPr>
          <a:lstStyle/>
          <a:p>
            <a:pPr algn="ctr">
              <a:lnSpc>
                <a:spcPct val="125000"/>
              </a:lnSpc>
            </a:pPr>
            <a:r>
              <a:rPr sz="2250" b="1">
                <a:solidFill>
                  <a:srgbClr val="144B7F"/>
                </a:solidFill>
                <a:latin typeface="Zen Kaku Gothic Antique"/>
                <a:ea typeface="Zen Kaku Gothic Antique"/>
                <a:cs typeface="Zen Kaku Gothic Antique"/>
              </a:rPr>
              <a:t>自己理解　→　現場実践　→　対話・更新</a:t>
            </a:r>
          </a:p>
        </p:txBody>
      </p:sp>
      <p:sp>
        <p:nvSpPr>
          <p:cNvPr id="34" name="TextBox 33"/>
          <p:cNvSpPr txBox="1"/>
          <p:nvPr/>
        </p:nvSpPr>
        <p:spPr>
          <a:xfrm>
            <a:off x="804672" y="5632704"/>
            <a:ext cx="10817352" cy="548640"/>
          </a:xfrm>
          <a:prstGeom prst="rect">
            <a:avLst/>
          </a:prstGeom>
          <a:noFill/>
        </p:spPr>
        <p:txBody>
          <a:bodyPr wrap="square" anchor="t" lIns="0" rIns="0" tIns="0" bIns="0">
            <a:spAutoFit/>
          </a:bodyPr>
          <a:lstStyle/>
          <a:p>
            <a:pPr algn="l">
              <a:lnSpc>
                <a:spcPct val="125000"/>
              </a:lnSpc>
            </a:pPr>
            <a:r>
              <a:rPr sz="2100" b="1">
                <a:solidFill>
                  <a:srgbClr val="144B7F"/>
                </a:solidFill>
                <a:latin typeface="Zen Kaku Gothic Antique"/>
                <a:ea typeface="Zen Kaku Gothic Antique"/>
                <a:cs typeface="Zen Kaku Gothic Antique"/>
              </a:rPr>
              <a:t>研修単体で終わらせず、設計・実施・振り返りをひとつのパッケージで進めます。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886053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Zen Kaku Gothic Antique"/>
                <a:ea typeface="Zen Kaku Gothic Antique"/>
                <a:cs typeface="Zen Kaku Gothic Antique"/>
              </a:rPr>
              <a:t>MEASUREMENT｜変化を測り、次の施策につなげます</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Zen Kaku Gothic Antique"/>
                <a:ea typeface="Zen Kaku Gothic Antique"/>
                <a:cs typeface="Zen Kaku Gothic Antique"/>
              </a:rPr>
              <a:t>© Givin' Back Inc. All Rights Reserved.  |  Confidential</a:t>
            </a:r>
          </a:p>
        </p:txBody>
      </p:sp>
      <p:sp>
        <p:nvSpPr>
          <p:cNvPr id="7" name="TextBox 6"/>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Zen Kaku Gothic Antique"/>
                <a:ea typeface="Zen Kaku Gothic Antique"/>
                <a:cs typeface="Zen Kaku Gothic Antique"/>
              </a:rPr>
              <a:t>10</a:t>
            </a:r>
          </a:p>
        </p:txBody>
      </p:sp>
      <p:sp>
        <p:nvSpPr>
          <p:cNvPr id="8" name="TextBox 7"/>
          <p:cNvSpPr txBox="1"/>
          <p:nvPr/>
        </p:nvSpPr>
        <p:spPr>
          <a:xfrm>
            <a:off x="749808" y="1069848"/>
            <a:ext cx="10872216" cy="457200"/>
          </a:xfrm>
          <a:prstGeom prst="rect">
            <a:avLst/>
          </a:prstGeom>
          <a:noFill/>
        </p:spPr>
        <p:txBody>
          <a:bodyPr wrap="square" anchor="t" lIns="0" rIns="0" tIns="0" bIns="0">
            <a:spAutoFit/>
          </a:bodyPr>
          <a:lstStyle/>
          <a:p>
            <a:pPr algn="l">
              <a:lnSpc>
                <a:spcPct val="125000"/>
              </a:lnSpc>
            </a:pPr>
            <a:r>
              <a:rPr sz="2400" b="1">
                <a:solidFill>
                  <a:srgbClr val="144B7F"/>
                </a:solidFill>
                <a:latin typeface="Zen Kaku Gothic Antique"/>
                <a:ea typeface="Zen Kaku Gothic Antique"/>
                <a:cs typeface="Zen Kaku Gothic Antique"/>
              </a:rPr>
              <a:t>実施前の状態把握から、実践・振り返りまで一気通貫</a:t>
            </a:r>
          </a:p>
        </p:txBody>
      </p:sp>
      <p:sp>
        <p:nvSpPr>
          <p:cNvPr id="9" name="Rectangle 8"/>
          <p:cNvSpPr/>
          <p:nvPr/>
        </p:nvSpPr>
        <p:spPr>
          <a:xfrm>
            <a:off x="841248" y="1938528"/>
            <a:ext cx="5806440" cy="36576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78992" y="1975675"/>
            <a:ext cx="5330952" cy="365760"/>
          </a:xfrm>
          <a:prstGeom prst="rect">
            <a:avLst/>
          </a:prstGeom>
          <a:noFill/>
        </p:spPr>
        <p:txBody>
          <a:bodyPr wrap="square" anchor="t" lIns="0" rIns="0" tIns="0" bIns="0">
            <a:spAutoFit/>
          </a:bodyPr>
          <a:lstStyle/>
          <a:p>
            <a:pPr algn="l">
              <a:lnSpc>
                <a:spcPct val="125000"/>
              </a:lnSpc>
            </a:pPr>
            <a:r>
              <a:rPr sz="1700" b="1">
                <a:solidFill>
                  <a:srgbClr val="FFFFFF"/>
                </a:solidFill>
                <a:latin typeface="Zen Kaku Gothic Antique"/>
                <a:ea typeface="Zen Kaku Gothic Antique"/>
                <a:cs typeface="Zen Kaku Gothic Antique"/>
              </a:rPr>
              <a:t>本人・管理職と確認すること</a:t>
            </a:r>
          </a:p>
        </p:txBody>
      </p:sp>
      <p:sp>
        <p:nvSpPr>
          <p:cNvPr id="11" name="Rectangle 10"/>
          <p:cNvSpPr/>
          <p:nvPr/>
        </p:nvSpPr>
        <p:spPr>
          <a:xfrm>
            <a:off x="841248" y="2542032"/>
            <a:ext cx="5806440"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960120" y="2601468"/>
            <a:ext cx="301752" cy="301752"/>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2636773"/>
            <a:ext cx="301752" cy="301752"/>
          </a:xfrm>
          <a:prstGeom prst="rect">
            <a:avLst/>
          </a:prstGeom>
          <a:noFill/>
        </p:spPr>
        <p:txBody>
          <a:bodyPr wrap="square" anchor="t" lIns="0" rIns="0" tIns="0" bIns="0">
            <a:spAutoFit/>
          </a:bodyPr>
          <a:lstStyle/>
          <a:p>
            <a:pPr algn="ctr">
              <a:lnSpc>
                <a:spcPct val="125000"/>
              </a:lnSpc>
            </a:pPr>
            <a:r>
              <a:rPr sz="1300" b="1">
                <a:solidFill>
                  <a:srgbClr val="FFFFFF"/>
                </a:solidFill>
                <a:latin typeface="Zen Kaku Gothic Antique"/>
                <a:ea typeface="Zen Kaku Gothic Antique"/>
                <a:cs typeface="Zen Kaku Gothic Antique"/>
              </a:rPr>
              <a:t>1</a:t>
            </a:r>
          </a:p>
        </p:txBody>
      </p:sp>
      <p:sp>
        <p:nvSpPr>
          <p:cNvPr id="14" name="TextBox 13"/>
          <p:cNvSpPr txBox="1"/>
          <p:nvPr/>
        </p:nvSpPr>
        <p:spPr>
          <a:xfrm>
            <a:off x="1426464" y="2585180"/>
            <a:ext cx="4983480" cy="420624"/>
          </a:xfrm>
          <a:prstGeom prst="rect">
            <a:avLst/>
          </a:prstGeom>
          <a:noFill/>
        </p:spPr>
        <p:txBody>
          <a:bodyPr wrap="square" anchor="t" lIns="0" rIns="0" tIns="0" bIns="0">
            <a:spAutoFit/>
          </a:bodyPr>
          <a:lstStyle/>
          <a:p>
            <a:pPr algn="l">
              <a:lnSpc>
                <a:spcPct val="125000"/>
              </a:lnSpc>
            </a:pPr>
            <a:r>
              <a:rPr sz="1950" b="0">
                <a:solidFill>
                  <a:srgbClr val="1E293B"/>
                </a:solidFill>
                <a:latin typeface="Zen Kaku Gothic Antique"/>
                <a:ea typeface="Zen Kaku Gothic Antique"/>
                <a:cs typeface="Zen Kaku Gothic Antique"/>
              </a:rPr>
              <a:t>強み・価値観を言語化できたか</a:t>
            </a:r>
          </a:p>
        </p:txBody>
      </p:sp>
      <p:sp>
        <p:nvSpPr>
          <p:cNvPr id="15" name="Rectangle 14"/>
          <p:cNvSpPr/>
          <p:nvPr/>
        </p:nvSpPr>
        <p:spPr>
          <a:xfrm>
            <a:off x="841248" y="3072384"/>
            <a:ext cx="5806440"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960120" y="3131820"/>
            <a:ext cx="301752" cy="301752"/>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60120" y="3167125"/>
            <a:ext cx="301752" cy="301752"/>
          </a:xfrm>
          <a:prstGeom prst="rect">
            <a:avLst/>
          </a:prstGeom>
          <a:noFill/>
        </p:spPr>
        <p:txBody>
          <a:bodyPr wrap="square" anchor="t" lIns="0" rIns="0" tIns="0" bIns="0">
            <a:spAutoFit/>
          </a:bodyPr>
          <a:lstStyle/>
          <a:p>
            <a:pPr algn="ctr">
              <a:lnSpc>
                <a:spcPct val="125000"/>
              </a:lnSpc>
            </a:pPr>
            <a:r>
              <a:rPr sz="1300" b="1">
                <a:solidFill>
                  <a:srgbClr val="FFFFFF"/>
                </a:solidFill>
                <a:latin typeface="Zen Kaku Gothic Antique"/>
                <a:ea typeface="Zen Kaku Gothic Antique"/>
                <a:cs typeface="Zen Kaku Gothic Antique"/>
              </a:rPr>
              <a:t>2</a:t>
            </a:r>
          </a:p>
        </p:txBody>
      </p:sp>
      <p:sp>
        <p:nvSpPr>
          <p:cNvPr id="18" name="TextBox 17"/>
          <p:cNvSpPr txBox="1"/>
          <p:nvPr/>
        </p:nvSpPr>
        <p:spPr>
          <a:xfrm>
            <a:off x="1426464" y="3115532"/>
            <a:ext cx="4983480" cy="420624"/>
          </a:xfrm>
          <a:prstGeom prst="rect">
            <a:avLst/>
          </a:prstGeom>
          <a:noFill/>
        </p:spPr>
        <p:txBody>
          <a:bodyPr wrap="square" anchor="t" lIns="0" rIns="0" tIns="0" bIns="0">
            <a:spAutoFit/>
          </a:bodyPr>
          <a:lstStyle/>
          <a:p>
            <a:pPr algn="l">
              <a:lnSpc>
                <a:spcPct val="125000"/>
              </a:lnSpc>
            </a:pPr>
            <a:r>
              <a:rPr sz="1950" b="0">
                <a:solidFill>
                  <a:srgbClr val="1E293B"/>
                </a:solidFill>
                <a:latin typeface="Zen Kaku Gothic Antique"/>
                <a:ea typeface="Zen Kaku Gothic Antique"/>
                <a:cs typeface="Zen Kaku Gothic Antique"/>
              </a:rPr>
              <a:t>会社での将来像が描けたか</a:t>
            </a:r>
          </a:p>
        </p:txBody>
      </p:sp>
      <p:sp>
        <p:nvSpPr>
          <p:cNvPr id="19" name="Rectangle 18"/>
          <p:cNvSpPr/>
          <p:nvPr/>
        </p:nvSpPr>
        <p:spPr>
          <a:xfrm>
            <a:off x="841248" y="3602735"/>
            <a:ext cx="5806440"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960120" y="3662172"/>
            <a:ext cx="301752" cy="301752"/>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60120" y="3697477"/>
            <a:ext cx="301752" cy="301752"/>
          </a:xfrm>
          <a:prstGeom prst="rect">
            <a:avLst/>
          </a:prstGeom>
          <a:noFill/>
        </p:spPr>
        <p:txBody>
          <a:bodyPr wrap="square" anchor="t" lIns="0" rIns="0" tIns="0" bIns="0">
            <a:spAutoFit/>
          </a:bodyPr>
          <a:lstStyle/>
          <a:p>
            <a:pPr algn="ctr">
              <a:lnSpc>
                <a:spcPct val="125000"/>
              </a:lnSpc>
            </a:pPr>
            <a:r>
              <a:rPr sz="1300" b="1">
                <a:solidFill>
                  <a:srgbClr val="FFFFFF"/>
                </a:solidFill>
                <a:latin typeface="Zen Kaku Gothic Antique"/>
                <a:ea typeface="Zen Kaku Gothic Antique"/>
                <a:cs typeface="Zen Kaku Gothic Antique"/>
              </a:rPr>
              <a:t>3</a:t>
            </a:r>
          </a:p>
        </p:txBody>
      </p:sp>
      <p:sp>
        <p:nvSpPr>
          <p:cNvPr id="22" name="TextBox 21"/>
          <p:cNvSpPr txBox="1"/>
          <p:nvPr/>
        </p:nvSpPr>
        <p:spPr>
          <a:xfrm>
            <a:off x="1426464" y="3645884"/>
            <a:ext cx="4983480" cy="420624"/>
          </a:xfrm>
          <a:prstGeom prst="rect">
            <a:avLst/>
          </a:prstGeom>
          <a:noFill/>
        </p:spPr>
        <p:txBody>
          <a:bodyPr wrap="square" anchor="t" lIns="0" rIns="0" tIns="0" bIns="0">
            <a:spAutoFit/>
          </a:bodyPr>
          <a:lstStyle/>
          <a:p>
            <a:pPr algn="l">
              <a:lnSpc>
                <a:spcPct val="125000"/>
              </a:lnSpc>
            </a:pPr>
            <a:r>
              <a:rPr sz="1950" b="0">
                <a:solidFill>
                  <a:srgbClr val="1E293B"/>
                </a:solidFill>
                <a:latin typeface="Zen Kaku Gothic Antique"/>
                <a:ea typeface="Zen Kaku Gothic Antique"/>
                <a:cs typeface="Zen Kaku Gothic Antique"/>
              </a:rPr>
              <a:t>現場で小さな実践ができたか</a:t>
            </a:r>
          </a:p>
        </p:txBody>
      </p:sp>
      <p:sp>
        <p:nvSpPr>
          <p:cNvPr id="23" name="Rectangle 22"/>
          <p:cNvSpPr/>
          <p:nvPr/>
        </p:nvSpPr>
        <p:spPr>
          <a:xfrm>
            <a:off x="841248" y="4133087"/>
            <a:ext cx="5806440"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960120" y="4192524"/>
            <a:ext cx="301752" cy="301752"/>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0120" y="4227830"/>
            <a:ext cx="301752" cy="301752"/>
          </a:xfrm>
          <a:prstGeom prst="rect">
            <a:avLst/>
          </a:prstGeom>
          <a:noFill/>
        </p:spPr>
        <p:txBody>
          <a:bodyPr wrap="square" anchor="t" lIns="0" rIns="0" tIns="0" bIns="0">
            <a:spAutoFit/>
          </a:bodyPr>
          <a:lstStyle/>
          <a:p>
            <a:pPr algn="ctr">
              <a:lnSpc>
                <a:spcPct val="125000"/>
              </a:lnSpc>
            </a:pPr>
            <a:r>
              <a:rPr sz="1300" b="1">
                <a:solidFill>
                  <a:srgbClr val="FFFFFF"/>
                </a:solidFill>
                <a:latin typeface="Zen Kaku Gothic Antique"/>
                <a:ea typeface="Zen Kaku Gothic Antique"/>
                <a:cs typeface="Zen Kaku Gothic Antique"/>
              </a:rPr>
              <a:t>4</a:t>
            </a:r>
          </a:p>
        </p:txBody>
      </p:sp>
      <p:sp>
        <p:nvSpPr>
          <p:cNvPr id="26" name="TextBox 25"/>
          <p:cNvSpPr txBox="1"/>
          <p:nvPr/>
        </p:nvSpPr>
        <p:spPr>
          <a:xfrm>
            <a:off x="1426464" y="4176236"/>
            <a:ext cx="4983480" cy="420624"/>
          </a:xfrm>
          <a:prstGeom prst="rect">
            <a:avLst/>
          </a:prstGeom>
          <a:noFill/>
        </p:spPr>
        <p:txBody>
          <a:bodyPr wrap="square" anchor="t" lIns="0" rIns="0" tIns="0" bIns="0">
            <a:spAutoFit/>
          </a:bodyPr>
          <a:lstStyle/>
          <a:p>
            <a:pPr algn="l">
              <a:lnSpc>
                <a:spcPct val="125000"/>
              </a:lnSpc>
            </a:pPr>
            <a:r>
              <a:rPr sz="1950" b="0">
                <a:solidFill>
                  <a:srgbClr val="1E293B"/>
                </a:solidFill>
                <a:latin typeface="Zen Kaku Gothic Antique"/>
                <a:ea typeface="Zen Kaku Gothic Antique"/>
                <a:cs typeface="Zen Kaku Gothic Antique"/>
              </a:rPr>
              <a:t>上司との対話が深まったか</a:t>
            </a:r>
          </a:p>
        </p:txBody>
      </p:sp>
      <p:sp>
        <p:nvSpPr>
          <p:cNvPr id="27" name="Rectangle 26"/>
          <p:cNvSpPr/>
          <p:nvPr/>
        </p:nvSpPr>
        <p:spPr>
          <a:xfrm>
            <a:off x="841248" y="4663440"/>
            <a:ext cx="5806440" cy="42062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60120" y="4722876"/>
            <a:ext cx="301752" cy="301752"/>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60120" y="4758182"/>
            <a:ext cx="301752" cy="301752"/>
          </a:xfrm>
          <a:prstGeom prst="rect">
            <a:avLst/>
          </a:prstGeom>
          <a:noFill/>
        </p:spPr>
        <p:txBody>
          <a:bodyPr wrap="square" anchor="t" lIns="0" rIns="0" tIns="0" bIns="0">
            <a:spAutoFit/>
          </a:bodyPr>
          <a:lstStyle/>
          <a:p>
            <a:pPr algn="ctr">
              <a:lnSpc>
                <a:spcPct val="125000"/>
              </a:lnSpc>
            </a:pPr>
            <a:r>
              <a:rPr sz="1300" b="1">
                <a:solidFill>
                  <a:srgbClr val="FFFFFF"/>
                </a:solidFill>
                <a:latin typeface="Zen Kaku Gothic Antique"/>
                <a:ea typeface="Zen Kaku Gothic Antique"/>
                <a:cs typeface="Zen Kaku Gothic Antique"/>
              </a:rPr>
              <a:t>5</a:t>
            </a:r>
          </a:p>
        </p:txBody>
      </p:sp>
      <p:sp>
        <p:nvSpPr>
          <p:cNvPr id="30" name="TextBox 29"/>
          <p:cNvSpPr txBox="1"/>
          <p:nvPr/>
        </p:nvSpPr>
        <p:spPr>
          <a:xfrm>
            <a:off x="1426464" y="4706588"/>
            <a:ext cx="4983480" cy="420624"/>
          </a:xfrm>
          <a:prstGeom prst="rect">
            <a:avLst/>
          </a:prstGeom>
          <a:noFill/>
        </p:spPr>
        <p:txBody>
          <a:bodyPr wrap="square" anchor="t" lIns="0" rIns="0" tIns="0" bIns="0">
            <a:spAutoFit/>
          </a:bodyPr>
          <a:lstStyle/>
          <a:p>
            <a:pPr algn="l">
              <a:lnSpc>
                <a:spcPct val="125000"/>
              </a:lnSpc>
            </a:pPr>
            <a:r>
              <a:rPr sz="1950" b="0">
                <a:solidFill>
                  <a:srgbClr val="1E293B"/>
                </a:solidFill>
                <a:latin typeface="Zen Kaku Gothic Antique"/>
                <a:ea typeface="Zen Kaku Gothic Antique"/>
                <a:cs typeface="Zen Kaku Gothic Antique"/>
              </a:rPr>
              <a:t>無理なく続けられる運用か</a:t>
            </a:r>
          </a:p>
        </p:txBody>
      </p:sp>
      <p:sp>
        <p:nvSpPr>
          <p:cNvPr id="31" name="Rectangle 30"/>
          <p:cNvSpPr/>
          <p:nvPr/>
        </p:nvSpPr>
        <p:spPr>
          <a:xfrm>
            <a:off x="7434072" y="1938528"/>
            <a:ext cx="3913632" cy="3657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671816" y="1975675"/>
            <a:ext cx="3438144" cy="365760"/>
          </a:xfrm>
          <a:prstGeom prst="rect">
            <a:avLst/>
          </a:prstGeom>
          <a:noFill/>
        </p:spPr>
        <p:txBody>
          <a:bodyPr wrap="square" anchor="t" lIns="0" rIns="0" tIns="0" bIns="0">
            <a:spAutoFit/>
          </a:bodyPr>
          <a:lstStyle/>
          <a:p>
            <a:pPr algn="l">
              <a:lnSpc>
                <a:spcPct val="125000"/>
              </a:lnSpc>
            </a:pPr>
            <a:r>
              <a:rPr sz="1700" b="1">
                <a:solidFill>
                  <a:srgbClr val="FFFFFF"/>
                </a:solidFill>
                <a:latin typeface="Zen Kaku Gothic Antique"/>
                <a:ea typeface="Zen Kaku Gothic Antique"/>
                <a:cs typeface="Zen Kaku Gothic Antique"/>
              </a:rPr>
              <a:t>経営・人事へのご報告</a:t>
            </a:r>
          </a:p>
        </p:txBody>
      </p:sp>
      <p:sp>
        <p:nvSpPr>
          <p:cNvPr id="33" name="TextBox 32"/>
          <p:cNvSpPr txBox="1"/>
          <p:nvPr/>
        </p:nvSpPr>
        <p:spPr>
          <a:xfrm>
            <a:off x="7452360" y="2542032"/>
            <a:ext cx="3895344" cy="310896"/>
          </a:xfrm>
          <a:prstGeom prst="rect">
            <a:avLst/>
          </a:prstGeom>
          <a:noFill/>
        </p:spPr>
        <p:txBody>
          <a:bodyPr wrap="square" anchor="t" lIns="0" rIns="0" tIns="0" bIns="0">
            <a:spAutoFit/>
          </a:bodyPr>
          <a:lstStyle/>
          <a:p>
            <a:pPr algn="l">
              <a:lnSpc>
                <a:spcPct val="125000"/>
              </a:lnSpc>
            </a:pPr>
            <a:r>
              <a:rPr sz="1950" b="1">
                <a:solidFill>
                  <a:srgbClr val="F96167"/>
                </a:solidFill>
                <a:latin typeface="Zen Kaku Gothic Antique"/>
                <a:ea typeface="Zen Kaku Gothic Antique"/>
                <a:cs typeface="Zen Kaku Gothic Antique"/>
              </a:rPr>
              <a:t>✓実施前後の変化</a:t>
            </a:r>
          </a:p>
        </p:txBody>
      </p:sp>
      <p:sp>
        <p:nvSpPr>
          <p:cNvPr id="34" name="TextBox 33"/>
          <p:cNvSpPr txBox="1"/>
          <p:nvPr/>
        </p:nvSpPr>
        <p:spPr>
          <a:xfrm>
            <a:off x="7452360" y="3163824"/>
            <a:ext cx="3895344" cy="310896"/>
          </a:xfrm>
          <a:prstGeom prst="rect">
            <a:avLst/>
          </a:prstGeom>
          <a:noFill/>
        </p:spPr>
        <p:txBody>
          <a:bodyPr wrap="square" anchor="t" lIns="0" rIns="0" tIns="0" bIns="0">
            <a:spAutoFit/>
          </a:bodyPr>
          <a:lstStyle/>
          <a:p>
            <a:pPr algn="l">
              <a:lnSpc>
                <a:spcPct val="125000"/>
              </a:lnSpc>
            </a:pPr>
            <a:r>
              <a:rPr sz="1950" b="1">
                <a:solidFill>
                  <a:srgbClr val="F96167"/>
                </a:solidFill>
                <a:latin typeface="Zen Kaku Gothic Antique"/>
                <a:ea typeface="Zen Kaku Gothic Antique"/>
                <a:cs typeface="Zen Kaku Gothic Antique"/>
              </a:rPr>
              <a:t>✓若手の実践行動</a:t>
            </a:r>
          </a:p>
        </p:txBody>
      </p:sp>
      <p:sp>
        <p:nvSpPr>
          <p:cNvPr id="35" name="TextBox 34"/>
          <p:cNvSpPr txBox="1"/>
          <p:nvPr/>
        </p:nvSpPr>
        <p:spPr>
          <a:xfrm>
            <a:off x="7452360" y="3785615"/>
            <a:ext cx="3895344" cy="310896"/>
          </a:xfrm>
          <a:prstGeom prst="rect">
            <a:avLst/>
          </a:prstGeom>
          <a:noFill/>
        </p:spPr>
        <p:txBody>
          <a:bodyPr wrap="square" anchor="t" lIns="0" rIns="0" tIns="0" bIns="0">
            <a:spAutoFit/>
          </a:bodyPr>
          <a:lstStyle/>
          <a:p>
            <a:pPr algn="l">
              <a:lnSpc>
                <a:spcPct val="125000"/>
              </a:lnSpc>
            </a:pPr>
            <a:r>
              <a:rPr sz="1950" b="1">
                <a:solidFill>
                  <a:srgbClr val="F96167"/>
                </a:solidFill>
                <a:latin typeface="Zen Kaku Gothic Antique"/>
                <a:ea typeface="Zen Kaku Gothic Antique"/>
                <a:cs typeface="Zen Kaku Gothic Antique"/>
              </a:rPr>
              <a:t>✓若手・管理職の声</a:t>
            </a:r>
          </a:p>
        </p:txBody>
      </p:sp>
      <p:sp>
        <p:nvSpPr>
          <p:cNvPr id="36" name="TextBox 35"/>
          <p:cNvSpPr txBox="1"/>
          <p:nvPr/>
        </p:nvSpPr>
        <p:spPr>
          <a:xfrm>
            <a:off x="7452360" y="4407408"/>
            <a:ext cx="3895344" cy="310896"/>
          </a:xfrm>
          <a:prstGeom prst="rect">
            <a:avLst/>
          </a:prstGeom>
          <a:noFill/>
        </p:spPr>
        <p:txBody>
          <a:bodyPr wrap="square" anchor="t" lIns="0" rIns="0" tIns="0" bIns="0">
            <a:spAutoFit/>
          </a:bodyPr>
          <a:lstStyle/>
          <a:p>
            <a:pPr algn="l">
              <a:lnSpc>
                <a:spcPct val="125000"/>
              </a:lnSpc>
            </a:pPr>
            <a:r>
              <a:rPr sz="1950" b="1">
                <a:solidFill>
                  <a:srgbClr val="F96167"/>
                </a:solidFill>
                <a:latin typeface="Zen Kaku Gothic Antique"/>
                <a:ea typeface="Zen Kaku Gothic Antique"/>
                <a:cs typeface="Zen Kaku Gothic Antique"/>
              </a:rPr>
              <a:t>✓全社展開への示唆</a:t>
            </a:r>
          </a:p>
        </p:txBody>
      </p:sp>
      <p:sp>
        <p:nvSpPr>
          <p:cNvPr id="37" name="TextBox 36"/>
          <p:cNvSpPr txBox="1"/>
          <p:nvPr/>
        </p:nvSpPr>
        <p:spPr>
          <a:xfrm>
            <a:off x="804672" y="5623560"/>
            <a:ext cx="10817352" cy="548640"/>
          </a:xfrm>
          <a:prstGeom prst="rect">
            <a:avLst/>
          </a:prstGeom>
          <a:noFill/>
        </p:spPr>
        <p:txBody>
          <a:bodyPr wrap="square" anchor="t" lIns="0" rIns="0" tIns="0" bIns="0">
            <a:spAutoFit/>
          </a:bodyPr>
          <a:lstStyle/>
          <a:p>
            <a:pPr algn="l">
              <a:lnSpc>
                <a:spcPct val="125000"/>
              </a:lnSpc>
            </a:pPr>
            <a:r>
              <a:rPr sz="2400" b="1">
                <a:solidFill>
                  <a:srgbClr val="144B7F"/>
                </a:solidFill>
                <a:latin typeface="Zen Kaku Gothic Antique"/>
                <a:ea typeface="Zen Kaku Gothic Antique"/>
                <a:cs typeface="Zen Kaku Gothic Antique"/>
              </a:rPr>
              <a:t>何が変わり、どこで止まったかを、数値と現場の声の両方で整理します。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886053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Zen Kaku Gothic Antique"/>
                <a:ea typeface="Zen Kaku Gothic Antique"/>
                <a:cs typeface="Zen Kaku Gothic Antique"/>
              </a:rPr>
              <a:t>SCOPE｜本日、トライアルの範囲を仮決めします</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Zen Kaku Gothic Antique"/>
                <a:ea typeface="Zen Kaku Gothic Antique"/>
                <a:cs typeface="Zen Kaku Gothic Antique"/>
              </a:rPr>
              <a:t>© Givin' Back Inc. All Rights Reserved.  |  Confidential</a:t>
            </a:r>
          </a:p>
        </p:txBody>
      </p:sp>
      <p:sp>
        <p:nvSpPr>
          <p:cNvPr id="7" name="TextBox 6"/>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Zen Kaku Gothic Antique"/>
                <a:ea typeface="Zen Kaku Gothic Antique"/>
                <a:cs typeface="Zen Kaku Gothic Antique"/>
              </a:rPr>
              <a:t>11</a:t>
            </a:r>
          </a:p>
        </p:txBody>
      </p:sp>
      <p:sp>
        <p:nvSpPr>
          <p:cNvPr id="8" name="TextBox 7"/>
          <p:cNvSpPr txBox="1"/>
          <p:nvPr/>
        </p:nvSpPr>
        <p:spPr>
          <a:xfrm>
            <a:off x="749808" y="1069848"/>
            <a:ext cx="10872216" cy="457200"/>
          </a:xfrm>
          <a:prstGeom prst="rect">
            <a:avLst/>
          </a:prstGeom>
          <a:noFill/>
        </p:spPr>
        <p:txBody>
          <a:bodyPr wrap="square" anchor="t" lIns="0" rIns="0" tIns="0" bIns="0">
            <a:spAutoFit/>
          </a:bodyPr>
          <a:lstStyle/>
          <a:p>
            <a:pPr algn="l">
              <a:lnSpc>
                <a:spcPct val="125000"/>
              </a:lnSpc>
            </a:pPr>
            <a:r>
              <a:rPr sz="2400" b="1">
                <a:solidFill>
                  <a:srgbClr val="144B7F"/>
                </a:solidFill>
                <a:latin typeface="Zen Kaku Gothic Antique"/>
                <a:ea typeface="Zen Kaku Gothic Antique"/>
                <a:cs typeface="Zen Kaku Gothic Antique"/>
              </a:rPr>
              <a:t>全社一斉ではなく、「小さく確実な一歩」から始めます</a:t>
            </a:r>
          </a:p>
        </p:txBody>
      </p:sp>
      <p:sp>
        <p:nvSpPr>
          <p:cNvPr id="9" name="Rounded Rectangle 8"/>
          <p:cNvSpPr/>
          <p:nvPr/>
        </p:nvSpPr>
        <p:spPr>
          <a:xfrm>
            <a:off x="566928"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1847088"/>
            <a:ext cx="2475738"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1521333" y="2212848"/>
            <a:ext cx="566928" cy="566928"/>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521333"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1</a:t>
            </a:r>
          </a:p>
        </p:txBody>
      </p:sp>
      <p:sp>
        <p:nvSpPr>
          <p:cNvPr id="13" name="TextBox 12"/>
          <p:cNvSpPr txBox="1"/>
          <p:nvPr/>
        </p:nvSpPr>
        <p:spPr>
          <a:xfrm>
            <a:off x="731520"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対象拠点</a:t>
            </a:r>
          </a:p>
        </p:txBody>
      </p:sp>
      <p:sp>
        <p:nvSpPr>
          <p:cNvPr id="14" name="Rectangle 13"/>
          <p:cNvSpPr/>
          <p:nvPr/>
        </p:nvSpPr>
        <p:spPr>
          <a:xfrm>
            <a:off x="1301877"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育成に前向きな拠点</a:t>
            </a:r>
          </a:p>
          <a:p>
            <a:pPr algn="ctr">
              <a:lnSpc>
                <a:spcPct val="145000"/>
              </a:lnSpc>
            </a:pPr>
            <a:r>
              <a:rPr sz="1400" b="0">
                <a:solidFill>
                  <a:srgbClr val="1E293B"/>
                </a:solidFill>
                <a:latin typeface="Zen Kaku Gothic Antique"/>
                <a:ea typeface="Zen Kaku Gothic Antique"/>
                <a:cs typeface="Zen Kaku Gothic Antique"/>
              </a:rPr>
              <a:t>例：浦安事業所</a:t>
            </a:r>
          </a:p>
        </p:txBody>
      </p:sp>
      <p:sp>
        <p:nvSpPr>
          <p:cNvPr id="16" name="Rounded Rectangle 15"/>
          <p:cNvSpPr/>
          <p:nvPr/>
        </p:nvSpPr>
        <p:spPr>
          <a:xfrm>
            <a:off x="3426714"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426714" y="1847088"/>
            <a:ext cx="2475738"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4381119" y="2212848"/>
            <a:ext cx="566928" cy="566928"/>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381119"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2</a:t>
            </a:r>
          </a:p>
        </p:txBody>
      </p:sp>
      <p:sp>
        <p:nvSpPr>
          <p:cNvPr id="20" name="TextBox 19"/>
          <p:cNvSpPr txBox="1"/>
          <p:nvPr/>
        </p:nvSpPr>
        <p:spPr>
          <a:xfrm>
            <a:off x="3591306"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対象者</a:t>
            </a:r>
          </a:p>
        </p:txBody>
      </p:sp>
      <p:sp>
        <p:nvSpPr>
          <p:cNvPr id="21" name="Rectangle 20"/>
          <p:cNvSpPr/>
          <p:nvPr/>
        </p:nvSpPr>
        <p:spPr>
          <a:xfrm>
            <a:off x="4161663"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91306"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入社1〜3年目の若手と</a:t>
            </a:r>
          </a:p>
          <a:p>
            <a:pPr algn="ctr">
              <a:lnSpc>
                <a:spcPct val="145000"/>
              </a:lnSpc>
            </a:pPr>
            <a:r>
              <a:rPr sz="1400" b="0">
                <a:solidFill>
                  <a:srgbClr val="1E293B"/>
                </a:solidFill>
                <a:latin typeface="Zen Kaku Gothic Antique"/>
                <a:ea typeface="Zen Kaku Gothic Antique"/>
                <a:cs typeface="Zen Kaku Gothic Antique"/>
              </a:rPr>
              <a:t>上司・キーパーソン</a:t>
            </a:r>
          </a:p>
        </p:txBody>
      </p:sp>
      <p:sp>
        <p:nvSpPr>
          <p:cNvPr id="23" name="Rounded Rectangle 22"/>
          <p:cNvSpPr/>
          <p:nvPr/>
        </p:nvSpPr>
        <p:spPr>
          <a:xfrm>
            <a:off x="6286500"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86500" y="1847088"/>
            <a:ext cx="2475738"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40905" y="2212848"/>
            <a:ext cx="566928" cy="566928"/>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240905"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3</a:t>
            </a:r>
          </a:p>
        </p:txBody>
      </p:sp>
      <p:sp>
        <p:nvSpPr>
          <p:cNvPr id="27" name="TextBox 26"/>
          <p:cNvSpPr txBox="1"/>
          <p:nvPr/>
        </p:nvSpPr>
        <p:spPr>
          <a:xfrm>
            <a:off x="6451092"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頻度</a:t>
            </a:r>
          </a:p>
        </p:txBody>
      </p:sp>
      <p:sp>
        <p:nvSpPr>
          <p:cNvPr id="28" name="Rectangle 27"/>
          <p:cNvSpPr/>
          <p:nvPr/>
        </p:nvSpPr>
        <p:spPr>
          <a:xfrm>
            <a:off x="7021449"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51092"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まずは3カ月に1回</a:t>
            </a:r>
          </a:p>
          <a:p>
            <a:pPr algn="ctr">
              <a:lnSpc>
                <a:spcPct val="145000"/>
              </a:lnSpc>
            </a:pPr>
            <a:r>
              <a:rPr sz="1400" b="0">
                <a:solidFill>
                  <a:srgbClr val="1E293B"/>
                </a:solidFill>
                <a:latin typeface="Zen Kaku Gothic Antique"/>
                <a:ea typeface="Zen Kaku Gothic Antique"/>
                <a:cs typeface="Zen Kaku Gothic Antique"/>
              </a:rPr>
              <a:t>現場負荷を抑えて検証</a:t>
            </a:r>
          </a:p>
        </p:txBody>
      </p:sp>
      <p:sp>
        <p:nvSpPr>
          <p:cNvPr id="30" name="Rounded Rectangle 29"/>
          <p:cNvSpPr/>
          <p:nvPr/>
        </p:nvSpPr>
        <p:spPr>
          <a:xfrm>
            <a:off x="9146286" y="1847088"/>
            <a:ext cx="2475738" cy="30175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146286" y="1847088"/>
            <a:ext cx="2475738"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10100691" y="2212848"/>
            <a:ext cx="566928" cy="566928"/>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100691" y="2282952"/>
            <a:ext cx="566928" cy="566928"/>
          </a:xfrm>
          <a:prstGeom prst="rect">
            <a:avLst/>
          </a:prstGeom>
          <a:noFill/>
        </p:spPr>
        <p:txBody>
          <a:bodyPr wrap="square" anchor="t" lIns="0" rIns="0" tIns="0" bIns="0">
            <a:spAutoFit/>
          </a:bodyPr>
          <a:lstStyle/>
          <a:p>
            <a:pPr algn="ctr">
              <a:lnSpc>
                <a:spcPct val="125000"/>
              </a:lnSpc>
            </a:pPr>
            <a:r>
              <a:rPr sz="2400" b="1">
                <a:solidFill>
                  <a:srgbClr val="FFFFFF"/>
                </a:solidFill>
                <a:latin typeface="Zen Kaku Gothic Antique"/>
                <a:ea typeface="Zen Kaku Gothic Antique"/>
                <a:cs typeface="Zen Kaku Gothic Antique"/>
              </a:rPr>
              <a:t>4</a:t>
            </a:r>
          </a:p>
        </p:txBody>
      </p:sp>
      <p:sp>
        <p:nvSpPr>
          <p:cNvPr id="34" name="TextBox 33"/>
          <p:cNvSpPr txBox="1"/>
          <p:nvPr/>
        </p:nvSpPr>
        <p:spPr>
          <a:xfrm>
            <a:off x="9310878" y="2962656"/>
            <a:ext cx="2146554" cy="365760"/>
          </a:xfrm>
          <a:prstGeom prst="rect">
            <a:avLst/>
          </a:prstGeom>
          <a:noFill/>
        </p:spPr>
        <p:txBody>
          <a:bodyPr wrap="square" anchor="t" lIns="0" rIns="0" tIns="0" bIns="0">
            <a:spAutoFit/>
          </a:bodyPr>
          <a:lstStyle/>
          <a:p>
            <a:pPr algn="ctr">
              <a:lnSpc>
                <a:spcPct val="125000"/>
              </a:lnSpc>
            </a:pPr>
            <a:r>
              <a:rPr sz="1700" b="1">
                <a:solidFill>
                  <a:srgbClr val="144B7F"/>
                </a:solidFill>
                <a:latin typeface="Zen Kaku Gothic Antique"/>
                <a:ea typeface="Zen Kaku Gothic Antique"/>
                <a:cs typeface="Zen Kaku Gothic Antique"/>
              </a:rPr>
              <a:t>実施内容</a:t>
            </a:r>
          </a:p>
        </p:txBody>
      </p:sp>
      <p:sp>
        <p:nvSpPr>
          <p:cNvPr id="35" name="Rectangle 34"/>
          <p:cNvSpPr/>
          <p:nvPr/>
        </p:nvSpPr>
        <p:spPr>
          <a:xfrm>
            <a:off x="9881235" y="3438144"/>
            <a:ext cx="1005840"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310878" y="3639312"/>
            <a:ext cx="2146554" cy="1005840"/>
          </a:xfrm>
          <a:prstGeom prst="rect">
            <a:avLst/>
          </a:prstGeom>
          <a:noFill/>
        </p:spPr>
        <p:txBody>
          <a:bodyPr wrap="square" anchor="t" lIns="0" rIns="0" tIns="0" bIns="0">
            <a:spAutoFit/>
          </a:bodyPr>
          <a:lstStyle/>
          <a:p>
            <a:pPr algn="ctr">
              <a:lnSpc>
                <a:spcPct val="145000"/>
              </a:lnSpc>
            </a:pPr>
            <a:r>
              <a:rPr sz="1400" b="0">
                <a:solidFill>
                  <a:srgbClr val="1E293B"/>
                </a:solidFill>
                <a:latin typeface="Zen Kaku Gothic Antique"/>
                <a:ea typeface="Zen Kaku Gothic Antique"/>
                <a:cs typeface="Zen Kaku Gothic Antique"/>
              </a:rPr>
              <a:t>若手のキャリア開発＋</a:t>
            </a:r>
          </a:p>
          <a:p>
            <a:pPr algn="ctr">
              <a:lnSpc>
                <a:spcPct val="145000"/>
              </a:lnSpc>
            </a:pPr>
            <a:r>
              <a:rPr sz="1400" b="0">
                <a:solidFill>
                  <a:srgbClr val="1E293B"/>
                </a:solidFill>
                <a:latin typeface="Zen Kaku Gothic Antique"/>
                <a:ea typeface="Zen Kaku Gothic Antique"/>
                <a:cs typeface="Zen Kaku Gothic Antique"/>
              </a:rPr>
              <a:t>管理職の対話サポート</a:t>
            </a:r>
          </a:p>
        </p:txBody>
      </p:sp>
      <p:sp>
        <p:nvSpPr>
          <p:cNvPr id="37" name="TextBox 36"/>
          <p:cNvSpPr txBox="1"/>
          <p:nvPr/>
        </p:nvSpPr>
        <p:spPr>
          <a:xfrm>
            <a:off x="804672" y="5230368"/>
            <a:ext cx="10817352" cy="548640"/>
          </a:xfrm>
          <a:prstGeom prst="rect">
            <a:avLst/>
          </a:prstGeom>
          <a:noFill/>
        </p:spPr>
        <p:txBody>
          <a:bodyPr wrap="square" anchor="t" lIns="0" rIns="0" tIns="0" bIns="0">
            <a:spAutoFit/>
          </a:bodyPr>
          <a:lstStyle/>
          <a:p>
            <a:pPr algn="l">
              <a:lnSpc>
                <a:spcPct val="125000"/>
              </a:lnSpc>
            </a:pPr>
            <a:r>
              <a:rPr sz="2400" b="1">
                <a:solidFill>
                  <a:srgbClr val="E0454B"/>
                </a:solidFill>
                <a:latin typeface="Zen Kaku Gothic Antique"/>
                <a:ea typeface="Zen Kaku Gothic Antique"/>
                <a:cs typeface="Zen Kaku Gothic Antique"/>
              </a:rPr>
              <a:t>仮決めした範囲をもとに、次回、具体設計とお見積りをご提示します。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E355C"/>
              </a:gs>
              <a:gs pos="100000">
                <a:srgbClr val="F96167"/>
              </a:gs>
            </a:gsLst>
            <a:lin scaled="0" ang="201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860536" cy="384048"/>
          </a:xfrm>
          <a:prstGeom prst="rect">
            <a:avLst/>
          </a:prstGeom>
          <a:noFill/>
        </p:spPr>
        <p:txBody>
          <a:bodyPr wrap="square" anchor="t" lIns="0" rIns="0" tIns="0" bIns="0">
            <a:spAutoFit/>
          </a:bodyPr>
          <a:lstStyle/>
          <a:p>
            <a:pPr algn="l">
              <a:lnSpc>
                <a:spcPct val="125000"/>
              </a:lnSpc>
            </a:pPr>
            <a:r>
              <a:rPr sz="2100" b="1">
                <a:solidFill>
                  <a:srgbClr val="FFFFFF"/>
                </a:solidFill>
                <a:latin typeface="Zen Kaku Gothic Antique"/>
                <a:ea typeface="Zen Kaku Gothic Antique"/>
                <a:cs typeface="Zen Kaku Gothic Antique"/>
              </a:rPr>
              <a:t>NEXT ACTION｜本日、合意したいこと</a:t>
            </a:r>
          </a:p>
        </p:txBody>
      </p:sp>
      <p:pic>
        <p:nvPicPr>
          <p:cNvPr id="4" name="Picture 3" descr="lockw.png"/>
          <p:cNvPicPr>
            <a:picLocks noChangeAspect="1"/>
          </p:cNvPicPr>
          <p:nvPr/>
        </p:nvPicPr>
        <p:blipFill>
          <a:blip r:embed="rId2"/>
          <a:stretch>
            <a:fillRect/>
          </a:stretch>
        </p:blipFill>
        <p:spPr>
          <a:xfrm>
            <a:off x="9893808" y="365760"/>
            <a:ext cx="1814627" cy="384048"/>
          </a:xfrm>
          <a:prstGeom prst="rect">
            <a:avLst/>
          </a:prstGeom>
        </p:spPr>
      </p:pic>
      <p:sp>
        <p:nvSpPr>
          <p:cNvPr id="5" name="TextBox 4"/>
          <p:cNvSpPr txBox="1"/>
          <p:nvPr/>
        </p:nvSpPr>
        <p:spPr>
          <a:xfrm>
            <a:off x="749808" y="1069848"/>
            <a:ext cx="10872216" cy="457200"/>
          </a:xfrm>
          <a:prstGeom prst="rect">
            <a:avLst/>
          </a:prstGeom>
          <a:noFill/>
        </p:spPr>
        <p:txBody>
          <a:bodyPr wrap="square" anchor="t" lIns="0" rIns="0" tIns="0" bIns="0">
            <a:spAutoFit/>
          </a:bodyPr>
          <a:lstStyle/>
          <a:p>
            <a:pPr algn="l">
              <a:lnSpc>
                <a:spcPct val="125000"/>
              </a:lnSpc>
            </a:pPr>
            <a:r>
              <a:rPr sz="2400" b="1">
                <a:solidFill>
                  <a:srgbClr val="FFFFFF"/>
                </a:solidFill>
                <a:latin typeface="Zen Kaku Gothic Antique"/>
                <a:ea typeface="Zen Kaku Gothic Antique"/>
                <a:cs typeface="Zen Kaku Gothic Antique"/>
              </a:rPr>
              <a:t>今ある良い状態を、無理なく次の世代へ。</a:t>
            </a:r>
          </a:p>
        </p:txBody>
      </p:sp>
      <p:sp>
        <p:nvSpPr>
          <p:cNvPr id="6" name="Rounded Rectangle 5"/>
          <p:cNvSpPr/>
          <p:nvPr/>
        </p:nvSpPr>
        <p:spPr>
          <a:xfrm>
            <a:off x="566928" y="1810512"/>
            <a:ext cx="3410712" cy="2157984"/>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810512"/>
            <a:ext cx="91440" cy="2157984"/>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87552" y="2048256"/>
            <a:ext cx="2752344" cy="365760"/>
          </a:xfrm>
          <a:prstGeom prst="rect">
            <a:avLst/>
          </a:prstGeom>
          <a:noFill/>
        </p:spPr>
        <p:txBody>
          <a:bodyPr wrap="square" anchor="t" lIns="0" rIns="0" tIns="0" bIns="0">
            <a:spAutoFit/>
          </a:bodyPr>
          <a:lstStyle/>
          <a:p>
            <a:pPr algn="l">
              <a:lnSpc>
                <a:spcPct val="125000"/>
              </a:lnSpc>
            </a:pPr>
            <a:r>
              <a:rPr sz="2000" b="1">
                <a:solidFill>
                  <a:srgbClr val="144B7F"/>
                </a:solidFill>
                <a:latin typeface="Zen Kaku Gothic Antique"/>
                <a:ea typeface="Zen Kaku Gothic Antique"/>
                <a:cs typeface="Zen Kaku Gothic Antique"/>
              </a:rPr>
              <a:t>対象範囲の仮決め</a:t>
            </a:r>
          </a:p>
        </p:txBody>
      </p:sp>
      <p:sp>
        <p:nvSpPr>
          <p:cNvPr id="9" name="TextBox 8"/>
          <p:cNvSpPr txBox="1"/>
          <p:nvPr/>
        </p:nvSpPr>
        <p:spPr>
          <a:xfrm>
            <a:off x="987552" y="2615184"/>
            <a:ext cx="2752344" cy="1005840"/>
          </a:xfrm>
          <a:prstGeom prst="rect">
            <a:avLst/>
          </a:prstGeom>
          <a:noFill/>
        </p:spPr>
        <p:txBody>
          <a:bodyPr wrap="square" anchor="t" lIns="0" rIns="0" tIns="0" bIns="0">
            <a:spAutoFit/>
          </a:bodyPr>
          <a:lstStyle/>
          <a:p>
            <a:pPr algn="l">
              <a:lnSpc>
                <a:spcPct val="145000"/>
              </a:lnSpc>
            </a:pPr>
            <a:r>
              <a:rPr sz="1300" b="0">
                <a:solidFill>
                  <a:srgbClr val="1E293B"/>
                </a:solidFill>
                <a:latin typeface="Zen Kaku Gothic Antique"/>
                <a:ea typeface="Zen Kaku Gothic Antique"/>
                <a:cs typeface="Zen Kaku Gothic Antique"/>
              </a:rPr>
              <a:t>対象拠点・対象年次・頻度を</a:t>
            </a:r>
          </a:p>
          <a:p>
            <a:pPr algn="l">
              <a:lnSpc>
                <a:spcPct val="145000"/>
              </a:lnSpc>
            </a:pPr>
            <a:r>
              <a:rPr sz="1300" b="0">
                <a:solidFill>
                  <a:srgbClr val="1E293B"/>
                </a:solidFill>
                <a:latin typeface="Zen Kaku Gothic Antique"/>
                <a:ea typeface="Zen Kaku Gothic Antique"/>
                <a:cs typeface="Zen Kaku Gothic Antique"/>
              </a:rPr>
              <a:t>この場で仮決めする</a:t>
            </a:r>
          </a:p>
        </p:txBody>
      </p:sp>
      <p:sp>
        <p:nvSpPr>
          <p:cNvPr id="10" name="Rounded Rectangle 9"/>
          <p:cNvSpPr/>
          <p:nvPr/>
        </p:nvSpPr>
        <p:spPr>
          <a:xfrm>
            <a:off x="4389120" y="1810512"/>
            <a:ext cx="3410712" cy="2157984"/>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89120" y="1810512"/>
            <a:ext cx="91440" cy="2157984"/>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809744" y="2048256"/>
            <a:ext cx="2752344" cy="365760"/>
          </a:xfrm>
          <a:prstGeom prst="rect">
            <a:avLst/>
          </a:prstGeom>
          <a:noFill/>
        </p:spPr>
        <p:txBody>
          <a:bodyPr wrap="square" anchor="t" lIns="0" rIns="0" tIns="0" bIns="0">
            <a:spAutoFit/>
          </a:bodyPr>
          <a:lstStyle/>
          <a:p>
            <a:pPr algn="l">
              <a:lnSpc>
                <a:spcPct val="125000"/>
              </a:lnSpc>
            </a:pPr>
            <a:r>
              <a:rPr sz="2000" b="1">
                <a:solidFill>
                  <a:srgbClr val="F96167"/>
                </a:solidFill>
                <a:latin typeface="Zen Kaku Gothic Antique"/>
                <a:ea typeface="Zen Kaku Gothic Antique"/>
                <a:cs typeface="Zen Kaku Gothic Antique"/>
              </a:rPr>
              <a:t>次回のご提示</a:t>
            </a:r>
          </a:p>
        </p:txBody>
      </p:sp>
      <p:sp>
        <p:nvSpPr>
          <p:cNvPr id="13" name="TextBox 12"/>
          <p:cNvSpPr txBox="1"/>
          <p:nvPr/>
        </p:nvSpPr>
        <p:spPr>
          <a:xfrm>
            <a:off x="4809744" y="2615184"/>
            <a:ext cx="2752344" cy="1005840"/>
          </a:xfrm>
          <a:prstGeom prst="rect">
            <a:avLst/>
          </a:prstGeom>
          <a:noFill/>
        </p:spPr>
        <p:txBody>
          <a:bodyPr wrap="square" anchor="t" lIns="0" rIns="0" tIns="0" bIns="0">
            <a:spAutoFit/>
          </a:bodyPr>
          <a:lstStyle/>
          <a:p>
            <a:pPr algn="l">
              <a:lnSpc>
                <a:spcPct val="145000"/>
              </a:lnSpc>
            </a:pPr>
            <a:r>
              <a:rPr sz="1300" b="0">
                <a:solidFill>
                  <a:srgbClr val="1E293B"/>
                </a:solidFill>
                <a:latin typeface="Zen Kaku Gothic Antique"/>
                <a:ea typeface="Zen Kaku Gothic Antique"/>
                <a:cs typeface="Zen Kaku Gothic Antique"/>
              </a:rPr>
              <a:t>具体設計とお見積りを</a:t>
            </a:r>
          </a:p>
          <a:p>
            <a:pPr algn="l">
              <a:lnSpc>
                <a:spcPct val="145000"/>
              </a:lnSpc>
            </a:pPr>
            <a:r>
              <a:rPr sz="1300" b="0">
                <a:solidFill>
                  <a:srgbClr val="1E293B"/>
                </a:solidFill>
                <a:latin typeface="Zen Kaku Gothic Antique"/>
                <a:ea typeface="Zen Kaku Gothic Antique"/>
                <a:cs typeface="Zen Kaku Gothic Antique"/>
              </a:rPr>
              <a:t>次回ご確認いただく</a:t>
            </a:r>
          </a:p>
        </p:txBody>
      </p:sp>
      <p:sp>
        <p:nvSpPr>
          <p:cNvPr id="14" name="Rounded Rectangle 13"/>
          <p:cNvSpPr/>
          <p:nvPr/>
        </p:nvSpPr>
        <p:spPr>
          <a:xfrm>
            <a:off x="8211311" y="1810512"/>
            <a:ext cx="3410712" cy="2157984"/>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211311" y="1810512"/>
            <a:ext cx="91440" cy="2157984"/>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31936" y="2048256"/>
            <a:ext cx="2752344" cy="365760"/>
          </a:xfrm>
          <a:prstGeom prst="rect">
            <a:avLst/>
          </a:prstGeom>
          <a:noFill/>
        </p:spPr>
        <p:txBody>
          <a:bodyPr wrap="square" anchor="t" lIns="0" rIns="0" tIns="0" bIns="0">
            <a:spAutoFit/>
          </a:bodyPr>
          <a:lstStyle/>
          <a:p>
            <a:pPr algn="l">
              <a:lnSpc>
                <a:spcPct val="125000"/>
              </a:lnSpc>
            </a:pPr>
            <a:r>
              <a:rPr sz="2000" b="1">
                <a:solidFill>
                  <a:srgbClr val="144B7F"/>
                </a:solidFill>
                <a:latin typeface="Zen Kaku Gothic Antique"/>
                <a:ea typeface="Zen Kaku Gothic Antique"/>
                <a:cs typeface="Zen Kaku Gothic Antique"/>
              </a:rPr>
              <a:t>現場見学の段取り</a:t>
            </a:r>
          </a:p>
        </p:txBody>
      </p:sp>
      <p:sp>
        <p:nvSpPr>
          <p:cNvPr id="17" name="TextBox 16"/>
          <p:cNvSpPr txBox="1"/>
          <p:nvPr/>
        </p:nvSpPr>
        <p:spPr>
          <a:xfrm>
            <a:off x="8631936" y="2615184"/>
            <a:ext cx="2752344" cy="1005840"/>
          </a:xfrm>
          <a:prstGeom prst="rect">
            <a:avLst/>
          </a:prstGeom>
          <a:noFill/>
        </p:spPr>
        <p:txBody>
          <a:bodyPr wrap="square" anchor="t" lIns="0" rIns="0" tIns="0" bIns="0">
            <a:spAutoFit/>
          </a:bodyPr>
          <a:lstStyle/>
          <a:p>
            <a:pPr algn="l">
              <a:lnSpc>
                <a:spcPct val="145000"/>
              </a:lnSpc>
            </a:pPr>
            <a:r>
              <a:rPr sz="1300" b="0">
                <a:solidFill>
                  <a:srgbClr val="1E293B"/>
                </a:solidFill>
                <a:latin typeface="Zen Kaku Gothic Antique"/>
                <a:ea typeface="Zen Kaku Gothic Antique"/>
                <a:cs typeface="Zen Kaku Gothic Antique"/>
              </a:rPr>
              <a:t>可能であれば、現場見学の</a:t>
            </a:r>
          </a:p>
          <a:p>
            <a:pPr algn="l">
              <a:lnSpc>
                <a:spcPct val="145000"/>
              </a:lnSpc>
            </a:pPr>
            <a:r>
              <a:rPr sz="1300" b="0">
                <a:solidFill>
                  <a:srgbClr val="1E293B"/>
                </a:solidFill>
                <a:latin typeface="Zen Kaku Gothic Antique"/>
                <a:ea typeface="Zen Kaku Gothic Antique"/>
                <a:cs typeface="Zen Kaku Gothic Antique"/>
              </a:rPr>
              <a:t>日程をご相談する</a:t>
            </a:r>
          </a:p>
        </p:txBody>
      </p:sp>
      <p:sp>
        <p:nvSpPr>
          <p:cNvPr id="18" name="Rectangle 17"/>
          <p:cNvSpPr/>
          <p:nvPr/>
        </p:nvSpPr>
        <p:spPr>
          <a:xfrm>
            <a:off x="566928" y="4443984"/>
            <a:ext cx="11055096" cy="96926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41247" y="4626864"/>
            <a:ext cx="10506456" cy="694944"/>
          </a:xfrm>
          <a:prstGeom prst="rect">
            <a:avLst/>
          </a:prstGeom>
          <a:noFill/>
        </p:spPr>
        <p:txBody>
          <a:bodyPr wrap="square" anchor="t" lIns="0" rIns="0" tIns="0" bIns="0">
            <a:spAutoFit/>
          </a:bodyPr>
          <a:lstStyle/>
          <a:p>
            <a:pPr algn="l">
              <a:lnSpc>
                <a:spcPct val="145000"/>
              </a:lnSpc>
            </a:pPr>
            <a:r>
              <a:rPr sz="1800" b="1">
                <a:solidFill>
                  <a:srgbClr val="144B7F"/>
                </a:solidFill>
                <a:latin typeface="Zen Kaku Gothic Antique"/>
                <a:ea typeface="Zen Kaku Gothic Antique"/>
                <a:cs typeface="Zen Kaku Gothic Antique"/>
              </a:rPr>
              <a:t>若手のキャリア開発と、管理職の対話を支える小さなトライアルから始めませんか。</a:t>
            </a:r>
          </a:p>
          <a:p>
            <a:pPr algn="l">
              <a:lnSpc>
                <a:spcPct val="145000"/>
              </a:lnSpc>
            </a:pPr>
            <a:r>
              <a:rPr sz="1500" b="0">
                <a:solidFill>
                  <a:srgbClr val="6B7787"/>
                </a:solidFill>
                <a:latin typeface="Zen Kaku Gothic Antique"/>
                <a:ea typeface="Zen Kaku Gothic Antique"/>
                <a:cs typeface="Zen Kaku Gothic Antique"/>
              </a:rPr>
              <a:t>今ある良い状態を、同じ形のまま次の世代へ引き継ぐための土台づくりです。</a:t>
            </a:r>
          </a:p>
        </p:txBody>
      </p:sp>
      <p:sp>
        <p:nvSpPr>
          <p:cNvPr id="20" name="TextBox 19"/>
          <p:cNvSpPr txBox="1"/>
          <p:nvPr/>
        </p:nvSpPr>
        <p:spPr>
          <a:xfrm>
            <a:off x="566928" y="5797296"/>
            <a:ext cx="11055096" cy="548640"/>
          </a:xfrm>
          <a:prstGeom prst="rect">
            <a:avLst/>
          </a:prstGeom>
          <a:noFill/>
        </p:spPr>
        <p:txBody>
          <a:bodyPr wrap="square" anchor="t" lIns="0" rIns="0" tIns="0" bIns="0">
            <a:spAutoFit/>
          </a:bodyPr>
          <a:lstStyle/>
          <a:p>
            <a:pPr algn="l">
              <a:lnSpc>
                <a:spcPct val="150000"/>
              </a:lnSpc>
            </a:pPr>
            <a:r>
              <a:rPr sz="1500" b="1">
                <a:solidFill>
                  <a:srgbClr val="EFF4FA"/>
                </a:solidFill>
                <a:latin typeface="Zen Kaku Gothic Antique"/>
                <a:ea typeface="Zen Kaku Gothic Antique"/>
                <a:cs typeface="Zen Kaku Gothic Antique"/>
              </a:rPr>
              <a:t>Givin' Back株式会社</a:t>
            </a:r>
          </a:p>
          <a:p>
            <a:pPr algn="l">
              <a:lnSpc>
                <a:spcPct val="150000"/>
              </a:lnSpc>
            </a:pPr>
            <a:r>
              <a:rPr sz="1300" b="0">
                <a:solidFill>
                  <a:srgbClr val="EFF4FA"/>
                </a:solidFill>
                <a:latin typeface="Zen Kaku Gothic Antique"/>
                <a:ea typeface="Zen Kaku Gothic Antique"/>
                <a:cs typeface="Zen Kaku Gothic Antique"/>
              </a:rPr>
              <a:t>info@givinback.co.jp　|　https://givinback.co.jp/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